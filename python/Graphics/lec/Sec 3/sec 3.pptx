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 id="269" r:id="rId15"/>
    <p:sldId id="270" r:id="rId16"/>
    <p:sldId id="271" r:id="rId17"/>
    <p:sldId id="273" r:id="rId18"/>
    <p:sldId id="274" r:id="rId19"/>
    <p:sldId id="275" r:id="rId20"/>
    <p:sldId id="276" r:id="rId21"/>
    <p:sldId id="277" r:id="rId22"/>
    <p:sldId id="278" r:id="rId23"/>
    <p:sldId id="27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272B4C-58E5-4462-A9E4-E0FAD47E930C}" v="97" dt="2025-03-02T20:49:03.5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78030"/>
            <a:ext cx="9288096" cy="2956718"/>
          </a:xfrm>
        </p:spPr>
        <p:txBody>
          <a:bodyPr anchor="t">
            <a:noAutofit/>
          </a:bodyPr>
          <a:lstStyle>
            <a:lvl1pPr algn="l">
              <a:defRPr sz="6600" cap="all" baseline="0"/>
            </a:lvl1pPr>
          </a:lstStyle>
          <a:p>
            <a:r>
              <a:rPr lang="en-US" dirty="0"/>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4455621"/>
            <a:ext cx="9288096" cy="1435331"/>
          </a:xfrm>
        </p:spPr>
        <p:txBody>
          <a:bodyPr>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A1E45834-53BD-4C8F-B791-CD5378F4150E}" type="datetimeFigureOut">
              <a:rPr lang="en-US" smtClean="0"/>
              <a:t>3/2/2025</a:t>
            </a:fld>
            <a:endParaRPr lang="en-US"/>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7253514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A1E45834-53BD-4C8F-B791-CD5378F4150E}" type="datetimeFigureOut">
              <a:rPr lang="en-US" smtClean="0"/>
              <a:t>3/2/2025</a:t>
            </a:fld>
            <a:endParaRPr lang="en-US"/>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10655164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8007D-9B1D-4E2C-B38F-29C6820996DF}"/>
              </a:ext>
            </a:extLst>
          </p:cNvPr>
          <p:cNvSpPr>
            <a:spLocks noGrp="1"/>
          </p:cNvSpPr>
          <p:nvPr>
            <p:ph type="title"/>
          </p:nvPr>
        </p:nvSpPr>
        <p:spPr>
          <a:xfrm>
            <a:off x="1090940" y="1099127"/>
            <a:ext cx="9272260" cy="3472874"/>
          </a:xfrm>
        </p:spPr>
        <p:txBody>
          <a:bodyPr anchor="t">
            <a:normAutofit/>
          </a:bodyPr>
          <a:lstStyle>
            <a:lvl1pPr>
              <a:defRPr sz="40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960C51B-B525-4032-9D08-2978D7367BFF}"/>
              </a:ext>
            </a:extLst>
          </p:cNvPr>
          <p:cNvSpPr>
            <a:spLocks noGrp="1"/>
          </p:cNvSpPr>
          <p:nvPr>
            <p:ph type="body" idx="1"/>
          </p:nvPr>
        </p:nvSpPr>
        <p:spPr>
          <a:xfrm>
            <a:off x="1090939" y="4572000"/>
            <a:ext cx="9272262" cy="1320801"/>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p>
            <a:fld id="{A1E45834-53BD-4C8F-B791-CD5378F4150E}" type="datetimeFigureOut">
              <a:rPr lang="en-US" smtClean="0"/>
              <a:t>3/2/2025</a:t>
            </a:fld>
            <a:endParaRPr lang="en-US"/>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5411901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088136"/>
            <a:ext cx="9890066" cy="1294228"/>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A1E45834-53BD-4C8F-B791-CD5378F4150E}" type="datetimeFigureOut">
              <a:rPr lang="en-US" smtClean="0"/>
              <a:t>3/2/2025</a:t>
            </a:fld>
            <a:endParaRPr lang="en-US"/>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786193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084333"/>
            <a:ext cx="9949455" cy="838856"/>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A1E45834-53BD-4C8F-B791-CD5378F4150E}" type="datetimeFigureOut">
              <a:rPr lang="en-US" smtClean="0"/>
              <a:t>3/2/2025</a:t>
            </a:fld>
            <a:endParaRPr lang="en-US"/>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3805745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p:txBody>
          <a:bodyPr/>
          <a:lstStyle>
            <a:lvl1pPr>
              <a:defRPr cap="all" baseline="0"/>
            </a:lvl1pPr>
          </a:lstStyle>
          <a:p>
            <a:r>
              <a:rPr lang="en-US" dirty="0"/>
              <a:t>Click to edit Master title style</a:t>
            </a:r>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A1E45834-53BD-4C8F-B791-CD5378F4150E}" type="datetimeFigureOut">
              <a:rPr lang="en-US" smtClean="0"/>
              <a:t>3/2/2025</a:t>
            </a:fld>
            <a:endParaRPr lang="en-US"/>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966496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8B02B-A32A-4383-BBC7-0C383390A96F}"/>
              </a:ext>
            </a:extLst>
          </p:cNvPr>
          <p:cNvSpPr>
            <a:spLocks noGrp="1"/>
          </p:cNvSpPr>
          <p:nvPr>
            <p:ph type="dt" sz="half" idx="10"/>
          </p:nvPr>
        </p:nvSpPr>
        <p:spPr/>
        <p:txBody>
          <a:bodyPr/>
          <a:lstStyle/>
          <a:p>
            <a:fld id="{A1E45834-53BD-4C8F-B791-CD5378F4150E}" type="datetimeFigureOut">
              <a:rPr lang="en-US" smtClean="0"/>
              <a:t>3/2/2025</a:t>
            </a:fld>
            <a:endParaRPr lang="en-US"/>
          </a:p>
        </p:txBody>
      </p:sp>
      <p:sp>
        <p:nvSpPr>
          <p:cNvPr id="3" name="Footer Placeholder 2">
            <a:extLst>
              <a:ext uri="{FF2B5EF4-FFF2-40B4-BE49-F238E27FC236}">
                <a16:creationId xmlns:a16="http://schemas.microsoft.com/office/drawing/2014/main" id="{FCFF7E77-47E0-4F9E-9148-8D0C59C0CFC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8005A2-ECF0-4759-A17B-FDECE80683F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3736487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1DD4B-5676-477E-8C52-4C1CF160FCDE}"/>
              </a:ext>
            </a:extLst>
          </p:cNvPr>
          <p:cNvSpPr>
            <a:spLocks noGrp="1"/>
          </p:cNvSpPr>
          <p:nvPr>
            <p:ph type="title"/>
          </p:nvPr>
        </p:nvSpPr>
        <p:spPr>
          <a:xfrm>
            <a:off x="1090940" y="1094448"/>
            <a:ext cx="3785860" cy="1554362"/>
          </a:xfrm>
        </p:spPr>
        <p:txBody>
          <a:bodyPr anchor="t">
            <a:normAutofit/>
          </a:bodyPr>
          <a:lstStyle>
            <a:lvl1pPr>
              <a:defRPr sz="2800" cap="all" baseline="0"/>
            </a:lvl1pPr>
          </a:lstStyle>
          <a:p>
            <a:r>
              <a:rPr lang="en-US" dirty="0"/>
              <a:t>Click to edit Master title style</a:t>
            </a:r>
          </a:p>
        </p:txBody>
      </p:sp>
      <p:sp>
        <p:nvSpPr>
          <p:cNvPr id="3" name="Content Placeholder 2">
            <a:extLst>
              <a:ext uri="{FF2B5EF4-FFF2-40B4-BE49-F238E27FC236}">
                <a16:creationId xmlns:a16="http://schemas.microsoft.com/office/drawing/2014/main" id="{4B5A3E63-EB15-4D82-BF2B-36BB030C430D}"/>
              </a:ext>
            </a:extLst>
          </p:cNvPr>
          <p:cNvSpPr>
            <a:spLocks noGrp="1"/>
          </p:cNvSpPr>
          <p:nvPr>
            <p:ph idx="1"/>
          </p:nvPr>
        </p:nvSpPr>
        <p:spPr>
          <a:xfrm>
            <a:off x="5524500" y="922689"/>
            <a:ext cx="548600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CBE994E-BAB7-43DC-A0E4-C779CF2A33D5}"/>
              </a:ext>
            </a:extLst>
          </p:cNvPr>
          <p:cNvSpPr>
            <a:spLocks noGrp="1"/>
          </p:cNvSpPr>
          <p:nvPr>
            <p:ph type="body" sz="half" idx="2"/>
          </p:nvPr>
        </p:nvSpPr>
        <p:spPr>
          <a:xfrm>
            <a:off x="1090940" y="2701254"/>
            <a:ext cx="3785860" cy="316773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EFAAA-1B70-42AA-ADCC-F49B58132654}"/>
              </a:ext>
            </a:extLst>
          </p:cNvPr>
          <p:cNvSpPr>
            <a:spLocks noGrp="1"/>
          </p:cNvSpPr>
          <p:nvPr>
            <p:ph type="dt" sz="half" idx="10"/>
          </p:nvPr>
        </p:nvSpPr>
        <p:spPr/>
        <p:txBody>
          <a:bodyPr/>
          <a:lstStyle/>
          <a:p>
            <a:fld id="{A1E45834-53BD-4C8F-B791-CD5378F4150E}" type="datetimeFigureOut">
              <a:rPr lang="en-US" smtClean="0"/>
              <a:t>3/2/2025</a:t>
            </a:fld>
            <a:endParaRPr lang="en-US"/>
          </a:p>
        </p:txBody>
      </p:sp>
      <p:sp>
        <p:nvSpPr>
          <p:cNvPr id="6" name="Footer Placeholder 5">
            <a:extLst>
              <a:ext uri="{FF2B5EF4-FFF2-40B4-BE49-F238E27FC236}">
                <a16:creationId xmlns:a16="http://schemas.microsoft.com/office/drawing/2014/main" id="{E4C7B6CC-1C13-4F34-AC86-CCD442C8C3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9F1B638-9061-41AD-AF47-73A4AF8B781A}"/>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489115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F3C43-1676-4A29-83F9-D788ED2E71E9}"/>
              </a:ext>
            </a:extLst>
          </p:cNvPr>
          <p:cNvSpPr>
            <a:spLocks noGrp="1"/>
          </p:cNvSpPr>
          <p:nvPr>
            <p:ph type="title"/>
          </p:nvPr>
        </p:nvSpPr>
        <p:spPr>
          <a:xfrm>
            <a:off x="1090940" y="1097280"/>
            <a:ext cx="3785860" cy="1559740"/>
          </a:xfrm>
        </p:spPr>
        <p:txBody>
          <a:bodyPr anchor="t">
            <a:normAutofit/>
          </a:bodyPr>
          <a:lstStyle>
            <a:lvl1pPr>
              <a:defRPr sz="2800" cap="all" baseline="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5214A903-97C7-4349-B8CE-1BBED1942E3B}"/>
              </a:ext>
            </a:extLst>
          </p:cNvPr>
          <p:cNvSpPr>
            <a:spLocks noGrp="1"/>
          </p:cNvSpPr>
          <p:nvPr>
            <p:ph type="pic" idx="1"/>
          </p:nvPr>
        </p:nvSpPr>
        <p:spPr>
          <a:xfrm>
            <a:off x="5524500" y="1143000"/>
            <a:ext cx="5486400" cy="457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BF0A9F58-4AEB-4286-98F7-3C77AA913BE8}"/>
              </a:ext>
            </a:extLst>
          </p:cNvPr>
          <p:cNvSpPr>
            <a:spLocks noGrp="1"/>
          </p:cNvSpPr>
          <p:nvPr>
            <p:ph type="body" sz="half" idx="2"/>
          </p:nvPr>
        </p:nvSpPr>
        <p:spPr>
          <a:xfrm>
            <a:off x="1090940" y="2697480"/>
            <a:ext cx="3785860" cy="30934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F55A58-F085-4500-AF61-045B12C8F41E}"/>
              </a:ext>
            </a:extLst>
          </p:cNvPr>
          <p:cNvSpPr>
            <a:spLocks noGrp="1"/>
          </p:cNvSpPr>
          <p:nvPr>
            <p:ph type="dt" sz="half" idx="10"/>
          </p:nvPr>
        </p:nvSpPr>
        <p:spPr/>
        <p:txBody>
          <a:bodyPr/>
          <a:lstStyle/>
          <a:p>
            <a:fld id="{A1E45834-53BD-4C8F-B791-CD5378F4150E}" type="datetimeFigureOut">
              <a:rPr lang="en-US" smtClean="0"/>
              <a:t>3/2/2025</a:t>
            </a:fld>
            <a:endParaRPr lang="en-US"/>
          </a:p>
        </p:txBody>
      </p:sp>
      <p:sp>
        <p:nvSpPr>
          <p:cNvPr id="6" name="Footer Placeholder 5">
            <a:extLst>
              <a:ext uri="{FF2B5EF4-FFF2-40B4-BE49-F238E27FC236}">
                <a16:creationId xmlns:a16="http://schemas.microsoft.com/office/drawing/2014/main" id="{E9936470-561D-49AE-AC84-B79D483FDA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EF2BE2-DF21-4683-9D5F-849A525FD5C4}"/>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409173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6C900-05BC-4021-B69F-2DAF974B7EF6}"/>
              </a:ext>
            </a:extLst>
          </p:cNvPr>
          <p:cNvSpPr>
            <a:spLocks noGrp="1"/>
          </p:cNvSpPr>
          <p:nvPr>
            <p:ph type="title"/>
          </p:nvPr>
        </p:nvSpPr>
        <p:spPr/>
        <p:txBody>
          <a:bodyPr/>
          <a:lstStyle/>
          <a:p>
            <a:r>
              <a:rPr lang="en-US" dirty="0"/>
              <a:t>Click to edit Master title style</a:t>
            </a:r>
          </a:p>
        </p:txBody>
      </p:sp>
      <p:sp>
        <p:nvSpPr>
          <p:cNvPr id="3" name="Vertical Text Placeholder 2">
            <a:extLst>
              <a:ext uri="{FF2B5EF4-FFF2-40B4-BE49-F238E27FC236}">
                <a16:creationId xmlns:a16="http://schemas.microsoft.com/office/drawing/2014/main" id="{3F26E227-253A-44A0-9404-1CFD8CE41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A1E45834-53BD-4C8F-B791-CD5378F4150E}" type="datetimeFigureOut">
              <a:rPr lang="en-US" smtClean="0"/>
              <a:t>3/2/2025</a:t>
            </a:fld>
            <a:endParaRPr lang="en-US"/>
          </a:p>
        </p:txBody>
      </p:sp>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19D7796-F675-488F-AC46-C88938C80352}" type="slidenum">
              <a:rPr lang="en-US" smtClean="0"/>
              <a:t>‹#›</a:t>
            </a:fld>
            <a:endParaRPr lang="en-US"/>
          </a:p>
        </p:txBody>
      </p:sp>
    </p:spTree>
    <p:extLst>
      <p:ext uri="{BB962C8B-B14F-4D97-AF65-F5344CB8AC3E}">
        <p14:creationId xmlns:p14="http://schemas.microsoft.com/office/powerpoint/2010/main" val="22120054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2CF945-D70F-49C1-8CE5-5758C1166014}"/>
              </a:ext>
            </a:extLst>
          </p:cNvPr>
          <p:cNvSpPr>
            <a:spLocks noGrp="1"/>
          </p:cNvSpPr>
          <p:nvPr>
            <p:ph type="title" orient="vert"/>
          </p:nvPr>
        </p:nvSpPr>
        <p:spPr>
          <a:xfrm>
            <a:off x="9182100" y="1091381"/>
            <a:ext cx="2171700" cy="4953369"/>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C2FDB721-04AA-4330-8045-3F2D9BB4BC66}"/>
              </a:ext>
            </a:extLst>
          </p:cNvPr>
          <p:cNvSpPr>
            <a:spLocks noGrp="1"/>
          </p:cNvSpPr>
          <p:nvPr>
            <p:ph type="body" orient="vert" idx="1"/>
          </p:nvPr>
        </p:nvSpPr>
        <p:spPr>
          <a:xfrm>
            <a:off x="838200" y="1091381"/>
            <a:ext cx="8265340" cy="4953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0F418C15-991C-4C71-8DCD-DB3B3888831F}"/>
              </a:ext>
            </a:extLst>
          </p:cNvPr>
          <p:cNvSpPr>
            <a:spLocks noGrp="1"/>
          </p:cNvSpPr>
          <p:nvPr>
            <p:ph type="dt" sz="half" idx="10"/>
          </p:nvPr>
        </p:nvSpPr>
        <p:spPr/>
        <p:txBody>
          <a:bodyPr/>
          <a:lstStyle/>
          <a:p>
            <a:fld id="{A1E45834-53BD-4C8F-B791-CD5378F4150E}" type="datetimeFigureOut">
              <a:rPr lang="en-US" smtClean="0"/>
              <a:t>3/2/2025</a:t>
            </a:fld>
            <a:endParaRPr lang="en-US"/>
          </a:p>
        </p:txBody>
      </p:sp>
      <p:sp>
        <p:nvSpPr>
          <p:cNvPr id="5" name="Footer Placeholder 4">
            <a:extLst>
              <a:ext uri="{FF2B5EF4-FFF2-40B4-BE49-F238E27FC236}">
                <a16:creationId xmlns:a16="http://schemas.microsoft.com/office/drawing/2014/main" id="{F7728CC3-5830-4EFA-B28E-1648904DE1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DA91B6-E419-4483-9B66-3C758788BC48}"/>
              </a:ext>
            </a:extLst>
          </p:cNvPr>
          <p:cNvSpPr>
            <a:spLocks noGrp="1"/>
          </p:cNvSpPr>
          <p:nvPr>
            <p:ph type="sldNum" sz="quarter" idx="12"/>
          </p:nvPr>
        </p:nvSpPr>
        <p:spPr/>
        <p:txBody>
          <a:bodyPr/>
          <a:lstStyle/>
          <a:p>
            <a:fld id="{719D7796-F675-488F-AC46-C88938C80352}" type="slidenum">
              <a:rPr lang="en-US" smtClean="0"/>
              <a:t>‹#›</a:t>
            </a:fld>
            <a:endParaRPr lang="en-US"/>
          </a:p>
        </p:txBody>
      </p:sp>
      <p:cxnSp>
        <p:nvCxnSpPr>
          <p:cNvPr id="7" name="Straight Connector 6">
            <a:extLst>
              <a:ext uri="{FF2B5EF4-FFF2-40B4-BE49-F238E27FC236}">
                <a16:creationId xmlns:a16="http://schemas.microsoft.com/office/drawing/2014/main" id="{DE447C6A-78C3-4687-9A71-A05DBF6700DE}"/>
              </a:ext>
            </a:extLst>
          </p:cNvPr>
          <p:cNvCxnSpPr>
            <a:cxnSpLocks/>
          </p:cNvCxnSpPr>
          <p:nvPr/>
        </p:nvCxnSpPr>
        <p:spPr>
          <a:xfrm>
            <a:off x="11387805"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3871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1294228"/>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447778"/>
            <a:ext cx="9922764" cy="383872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315200" y="6389688"/>
            <a:ext cx="3695302" cy="365125"/>
          </a:xfrm>
          <a:prstGeom prst="rect">
            <a:avLst/>
          </a:prstGeom>
        </p:spPr>
        <p:txBody>
          <a:bodyPr vert="horz" lIns="91440" tIns="45720" rIns="91440" bIns="45720" rtlCol="0" anchor="ctr"/>
          <a:lstStyle>
            <a:lvl1pPr algn="l">
              <a:defRPr sz="900">
                <a:solidFill>
                  <a:schemeClr val="tx1"/>
                </a:solidFill>
              </a:defRPr>
            </a:lvl1pPr>
          </a:lstStyle>
          <a:p>
            <a:fld id="{A1E45834-53BD-4C8F-B791-CD5378F4150E}" type="datetimeFigureOut">
              <a:rPr lang="en-US" smtClean="0"/>
              <a:t>3/2/2025</a:t>
            </a:fld>
            <a:endParaRPr lang="en-US"/>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90940" y="6389688"/>
            <a:ext cx="4433560" cy="365125"/>
          </a:xfrm>
          <a:prstGeom prst="rect">
            <a:avLst/>
          </a:prstGeom>
        </p:spPr>
        <p:txBody>
          <a:bodyPr vert="horz" lIns="91440" tIns="45720" rIns="91440" bIns="45720" rtlCol="0" anchor="ctr"/>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983190" y="6389688"/>
            <a:ext cx="940296" cy="365125"/>
          </a:xfrm>
          <a:prstGeom prst="rect">
            <a:avLst/>
          </a:prstGeom>
        </p:spPr>
        <p:txBody>
          <a:bodyPr vert="horz" lIns="91440" tIns="45720" rIns="91440" bIns="45720" rtlCol="0" anchor="ctr"/>
          <a:lstStyle>
            <a:lvl1pPr algn="r">
              <a:defRPr sz="900">
                <a:solidFill>
                  <a:schemeClr val="tx1"/>
                </a:solidFill>
              </a:defRPr>
            </a:lvl1pPr>
          </a:lstStyle>
          <a:p>
            <a:fld id="{719D7796-F675-488F-AC46-C88938C80352}" type="slidenum">
              <a:rPr lang="en-US" smtClean="0"/>
              <a:t>‹#›</a:t>
            </a:fld>
            <a:endParaRPr lang="en-US"/>
          </a:p>
        </p:txBody>
      </p:sp>
      <p:cxnSp>
        <p:nvCxnSpPr>
          <p:cNvPr id="28" name="Straight Connector 27">
            <a:extLst>
              <a:ext uri="{FF2B5EF4-FFF2-40B4-BE49-F238E27FC236}">
                <a16:creationId xmlns:a16="http://schemas.microsoft.com/office/drawing/2014/main" id="{D8689CE0-64D2-447C-9C1F-872D111D8AC3}"/>
              </a:ext>
            </a:extLst>
          </p:cNvPr>
          <p:cNvCxnSpPr>
            <a:cxnSpLocks/>
          </p:cNvCxnSpPr>
          <p:nvPr/>
        </p:nvCxnSpPr>
        <p:spPr>
          <a:xfrm>
            <a:off x="0" y="1185205"/>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4614859"/>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60" r:id="rId5"/>
    <p:sldLayoutId id="2147483754" r:id="rId6"/>
    <p:sldLayoutId id="2147483750" r:id="rId7"/>
    <p:sldLayoutId id="2147483751" r:id="rId8"/>
    <p:sldLayoutId id="2147483752" r:id="rId9"/>
    <p:sldLayoutId id="2147483753" r:id="rId10"/>
    <p:sldLayoutId id="2147483755" r:id="rId11"/>
  </p:sldLayoutIdLst>
  <p:txStyles>
    <p:titleStyle>
      <a:lvl1pPr algn="l" defTabSz="914400" rtl="0" eaLnBrk="1" latinLnBrk="0" hangingPunct="1">
        <a:lnSpc>
          <a:spcPct val="85000"/>
        </a:lnSpc>
        <a:spcBef>
          <a:spcPct val="0"/>
        </a:spcBef>
        <a:buNone/>
        <a:defRPr sz="4400" b="1" kern="1200" cap="none" baseline="0">
          <a:solidFill>
            <a:schemeClr val="tx1"/>
          </a:solidFill>
          <a:latin typeface="+mj-lt"/>
          <a:ea typeface="+mj-ea"/>
          <a:cs typeface="+mj-cs"/>
        </a:defRPr>
      </a:lvl1pPr>
    </p:titleStyle>
    <p:bodyStyle>
      <a:lvl1pPr marL="228600" indent="-228600" algn="l" defTabSz="914400" rtl="0" eaLnBrk="1" latinLnBrk="0" hangingPunct="1">
        <a:lnSpc>
          <a:spcPct val="130000"/>
        </a:lnSpc>
        <a:spcBef>
          <a:spcPts val="1000"/>
        </a:spcBef>
        <a:buFont typeface="Neue Haas Grotesk Text Pro" panose="020B0504020202020204" pitchFamily="34" charset="0"/>
        <a:buChar char="-"/>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429514C-EB66-47DF-87D6-ED909BA420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1090940" y="2228634"/>
            <a:ext cx="7443460" cy="2269619"/>
          </a:xfrm>
        </p:spPr>
        <p:txBody>
          <a:bodyPr anchor="t">
            <a:normAutofit/>
          </a:bodyPr>
          <a:lstStyle/>
          <a:p>
            <a:r>
              <a:rPr lang="en-US" sz="4000" dirty="0"/>
              <a:t>Computer graphics section 3</a:t>
            </a:r>
          </a:p>
        </p:txBody>
      </p:sp>
      <p:sp>
        <p:nvSpPr>
          <p:cNvPr id="3" name="Subtitle 2"/>
          <p:cNvSpPr>
            <a:spLocks noGrp="1"/>
          </p:cNvSpPr>
          <p:nvPr>
            <p:ph type="subTitle" idx="1"/>
          </p:nvPr>
        </p:nvSpPr>
        <p:spPr>
          <a:xfrm>
            <a:off x="1105689" y="4498256"/>
            <a:ext cx="7428711" cy="1318988"/>
          </a:xfrm>
        </p:spPr>
        <p:txBody>
          <a:bodyPr anchor="b">
            <a:normAutofit/>
          </a:bodyPr>
          <a:lstStyle/>
          <a:p>
            <a:r>
              <a:rPr lang="en-US" dirty="0"/>
              <a:t>Dr : </a:t>
            </a:r>
            <a:r>
              <a:rPr lang="en-US" err="1"/>
              <a:t>heba</a:t>
            </a:r>
            <a:r>
              <a:rPr lang="en-US" dirty="0"/>
              <a:t> </a:t>
            </a:r>
            <a:r>
              <a:rPr lang="en-US" err="1"/>
              <a:t>elhadidy</a:t>
            </a:r>
            <a:endParaRPr lang="en-US" dirty="0" err="1"/>
          </a:p>
          <a:p>
            <a:r>
              <a:rPr lang="en-US" dirty="0"/>
              <a:t>Eng : </a:t>
            </a:r>
            <a:r>
              <a:rPr lang="en-US" dirty="0" err="1"/>
              <a:t>mariyam</a:t>
            </a:r>
            <a:r>
              <a:rPr lang="en-US" dirty="0"/>
              <a:t> </a:t>
            </a:r>
            <a:r>
              <a:rPr lang="en-US" dirty="0" err="1"/>
              <a:t>khashapa</a:t>
            </a:r>
          </a:p>
        </p:txBody>
      </p:sp>
      <p:cxnSp>
        <p:nvCxnSpPr>
          <p:cNvPr id="10" name="Straight Connector 9">
            <a:extLst>
              <a:ext uri="{FF2B5EF4-FFF2-40B4-BE49-F238E27FC236}">
                <a16:creationId xmlns:a16="http://schemas.microsoft.com/office/drawing/2014/main" id="{B0AA360F-DECB-4836-8FB6-22C4BC3FB02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495" y="2337622"/>
            <a:ext cx="804195" cy="0"/>
          </a:xfrm>
          <a:prstGeom prst="line">
            <a:avLst/>
          </a:prstGeom>
          <a:ln w="857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F822D-E45A-C97B-5AA0-065811929661}"/>
              </a:ext>
            </a:extLst>
          </p:cNvPr>
          <p:cNvSpPr>
            <a:spLocks noGrp="1"/>
          </p:cNvSpPr>
          <p:nvPr>
            <p:ph type="title"/>
          </p:nvPr>
        </p:nvSpPr>
        <p:spPr>
          <a:xfrm>
            <a:off x="1088136" y="621322"/>
            <a:ext cx="9922764" cy="1294228"/>
          </a:xfrm>
        </p:spPr>
        <p:txBody>
          <a:bodyPr/>
          <a:lstStyle/>
          <a:p>
            <a:r>
              <a:rPr lang="en-US" dirty="0"/>
              <a:t>Turtle methods</a:t>
            </a:r>
          </a:p>
        </p:txBody>
      </p:sp>
      <p:sp>
        <p:nvSpPr>
          <p:cNvPr id="3" name="Content Placeholder 2">
            <a:extLst>
              <a:ext uri="{FF2B5EF4-FFF2-40B4-BE49-F238E27FC236}">
                <a16:creationId xmlns:a16="http://schemas.microsoft.com/office/drawing/2014/main" id="{365788B7-1C16-839F-BFBE-CBB637B626F2}"/>
              </a:ext>
            </a:extLst>
          </p:cNvPr>
          <p:cNvSpPr>
            <a:spLocks noGrp="1"/>
          </p:cNvSpPr>
          <p:nvPr>
            <p:ph idx="1"/>
          </p:nvPr>
        </p:nvSpPr>
        <p:spPr>
          <a:xfrm>
            <a:off x="1088136" y="1439594"/>
            <a:ext cx="9922764" cy="4846906"/>
          </a:xfrm>
        </p:spPr>
        <p:txBody>
          <a:bodyPr vert="horz" lIns="91440" tIns="45720" rIns="91440" bIns="45720" rtlCol="0" anchor="t">
            <a:normAutofit/>
          </a:bodyPr>
          <a:lstStyle/>
          <a:p>
            <a:pPr>
              <a:lnSpc>
                <a:spcPct val="90000"/>
              </a:lnSpc>
              <a:buFont typeface="Arial,Sans-Serif" panose="020B0504020202020204" pitchFamily="34" charset="0"/>
              <a:buChar char="•"/>
            </a:pPr>
            <a:r>
              <a:rPr lang="en-US" sz="2000" b="1" err="1">
                <a:latin typeface="Calibri"/>
                <a:ea typeface="Calibri"/>
                <a:cs typeface="Calibri"/>
              </a:rPr>
              <a:t>colorMode</a:t>
            </a:r>
            <a:r>
              <a:rPr lang="en-US" sz="2000" b="1">
                <a:latin typeface="Calibri"/>
                <a:ea typeface="Calibri"/>
                <a:cs typeface="Calibri"/>
              </a:rPr>
              <a:t> ( ) : </a:t>
            </a:r>
            <a:r>
              <a:rPr lang="en-US" sz="2000">
                <a:latin typeface="Calibri"/>
                <a:ea typeface="Calibri"/>
                <a:cs typeface="Calibri"/>
              </a:rPr>
              <a:t>Return the </a:t>
            </a:r>
            <a:r>
              <a:rPr lang="en-US" sz="2000" err="1">
                <a:latin typeface="Calibri"/>
                <a:ea typeface="Calibri"/>
                <a:cs typeface="Calibri"/>
              </a:rPr>
              <a:t>colormode</a:t>
            </a:r>
            <a:r>
              <a:rPr lang="en-US" sz="2000">
                <a:latin typeface="Calibri"/>
                <a:ea typeface="Calibri"/>
                <a:cs typeface="Calibri"/>
              </a:rPr>
              <a:t> or set it to 1.0 or 255. Subsequently r, g, b values of color triples have to be in the range 0..cmode, 1 means using string color and 255 means using </a:t>
            </a:r>
            <a:r>
              <a:rPr lang="en-US" sz="2000" err="1">
                <a:latin typeface="Calibri"/>
                <a:ea typeface="Calibri"/>
                <a:cs typeface="Calibri"/>
              </a:rPr>
              <a:t>rgb</a:t>
            </a:r>
            <a:r>
              <a:rPr lang="en-US" sz="2000">
                <a:latin typeface="Calibri"/>
                <a:ea typeface="Calibri"/>
                <a:cs typeface="Calibri"/>
              </a:rPr>
              <a:t> color</a:t>
            </a:r>
            <a:endParaRPr lang="en-US" sz="2000" dirty="0">
              <a:latin typeface="Calibri"/>
              <a:ea typeface="Calibri"/>
              <a:cs typeface="Calibri"/>
            </a:endParaRPr>
          </a:p>
          <a:p>
            <a:pPr marL="0">
              <a:lnSpc>
                <a:spcPct val="90000"/>
              </a:lnSpc>
              <a:buFont typeface="Arial,Sans-Serif" panose="020B0504020202020204" pitchFamily="34" charset="0"/>
              <a:buChar char="•"/>
            </a:pPr>
            <a:r>
              <a:rPr lang="en-US" sz="2000" b="1" dirty="0">
                <a:latin typeface="Calibri"/>
                <a:ea typeface="Calibri"/>
                <a:cs typeface="Calibri"/>
              </a:rPr>
              <a:t>Example : </a:t>
            </a:r>
            <a:r>
              <a:rPr lang="en-US" sz="2000" dirty="0" err="1">
                <a:latin typeface="Calibri"/>
                <a:ea typeface="Calibri"/>
                <a:cs typeface="Calibri"/>
              </a:rPr>
              <a:t>tu.colorMode</a:t>
            </a:r>
            <a:r>
              <a:rPr lang="en-US" sz="2000" dirty="0">
                <a:latin typeface="Calibri"/>
                <a:ea typeface="Calibri"/>
                <a:cs typeface="Calibri"/>
              </a:rPr>
              <a:t>(255)  </a:t>
            </a:r>
            <a:r>
              <a:rPr lang="en-US" sz="2000" dirty="0" err="1">
                <a:latin typeface="Calibri"/>
                <a:ea typeface="Calibri"/>
                <a:cs typeface="Calibri"/>
              </a:rPr>
              <a:t>tu.color</a:t>
            </a:r>
            <a:r>
              <a:rPr lang="en-US" sz="2000" dirty="0">
                <a:latin typeface="Calibri"/>
                <a:ea typeface="Calibri"/>
                <a:cs typeface="Calibri"/>
              </a:rPr>
              <a:t>(255,0,0)</a:t>
            </a:r>
          </a:p>
          <a:p>
            <a:pPr>
              <a:lnSpc>
                <a:spcPct val="90000"/>
              </a:lnSpc>
              <a:buFont typeface="Arial,Sans-Serif" panose="020B0504020202020204" pitchFamily="34" charset="0"/>
              <a:buChar char="•"/>
            </a:pPr>
            <a:r>
              <a:rPr lang="en-US" sz="2000" b="1" dirty="0" err="1">
                <a:latin typeface="Calibri"/>
                <a:ea typeface="Calibri"/>
                <a:cs typeface="Calibri"/>
              </a:rPr>
              <a:t>setx</a:t>
            </a:r>
            <a:r>
              <a:rPr lang="en-US" sz="2000" b="1" dirty="0">
                <a:latin typeface="Calibri"/>
                <a:ea typeface="Calibri"/>
                <a:cs typeface="Calibri"/>
              </a:rPr>
              <a:t> ( ) , </a:t>
            </a:r>
            <a:r>
              <a:rPr lang="en-US" sz="2000" b="1" dirty="0" err="1">
                <a:latin typeface="Calibri"/>
                <a:ea typeface="Calibri"/>
                <a:cs typeface="Calibri"/>
              </a:rPr>
              <a:t>sety</a:t>
            </a:r>
            <a:r>
              <a:rPr lang="en-US" sz="2000" b="1" dirty="0">
                <a:latin typeface="Calibri"/>
                <a:ea typeface="Calibri"/>
                <a:cs typeface="Calibri"/>
              </a:rPr>
              <a:t> ( ) : </a:t>
            </a:r>
            <a:r>
              <a:rPr lang="en-US" sz="2000" dirty="0">
                <a:latin typeface="Calibri"/>
                <a:ea typeface="Calibri"/>
                <a:cs typeface="Calibri"/>
              </a:rPr>
              <a:t>set the turtle coordinates without changing the other value </a:t>
            </a:r>
          </a:p>
          <a:p>
            <a:pPr marL="0">
              <a:lnSpc>
                <a:spcPct val="90000"/>
              </a:lnSpc>
              <a:buFont typeface="Arial,Sans-Serif" panose="020B0504020202020204" pitchFamily="34" charset="0"/>
              <a:buChar char="•"/>
            </a:pPr>
            <a:r>
              <a:rPr lang="en-US" sz="2000" b="1" dirty="0">
                <a:latin typeface="Calibri"/>
                <a:ea typeface="Calibri"/>
                <a:cs typeface="Calibri"/>
              </a:rPr>
              <a:t>Example :</a:t>
            </a:r>
            <a:r>
              <a:rPr lang="en-US" sz="2000" dirty="0">
                <a:latin typeface="Calibri"/>
                <a:ea typeface="Calibri"/>
                <a:cs typeface="Calibri"/>
              </a:rPr>
              <a:t> </a:t>
            </a:r>
            <a:r>
              <a:rPr lang="en-US" sz="2000" dirty="0" err="1">
                <a:latin typeface="Calibri"/>
                <a:ea typeface="Calibri"/>
                <a:cs typeface="Calibri"/>
              </a:rPr>
              <a:t>tu.setx</a:t>
            </a:r>
            <a:r>
              <a:rPr lang="en-US" sz="2000" dirty="0">
                <a:latin typeface="Calibri"/>
                <a:ea typeface="Calibri"/>
                <a:cs typeface="Calibri"/>
              </a:rPr>
              <a:t>(30) </a:t>
            </a:r>
          </a:p>
          <a:p>
            <a:pPr>
              <a:lnSpc>
                <a:spcPct val="90000"/>
              </a:lnSpc>
              <a:buFont typeface="Arial,Sans-Serif" panose="020B0504020202020204" pitchFamily="34" charset="0"/>
              <a:buChar char="•"/>
            </a:pPr>
            <a:r>
              <a:rPr lang="en-US" sz="2000" b="1" dirty="0" err="1">
                <a:latin typeface="Calibri"/>
                <a:ea typeface="Calibri"/>
                <a:cs typeface="Calibri"/>
              </a:rPr>
              <a:t>setheading</a:t>
            </a:r>
            <a:r>
              <a:rPr lang="en-US" sz="2000" b="1" dirty="0">
                <a:latin typeface="Calibri"/>
                <a:ea typeface="Calibri"/>
                <a:cs typeface="Calibri"/>
              </a:rPr>
              <a:t>\</a:t>
            </a:r>
            <a:r>
              <a:rPr lang="en-US" sz="2000" b="1" dirty="0" err="1">
                <a:latin typeface="Calibri"/>
                <a:ea typeface="Calibri"/>
                <a:cs typeface="Calibri"/>
              </a:rPr>
              <a:t>seth</a:t>
            </a:r>
            <a:r>
              <a:rPr lang="en-US" sz="2000" b="1" dirty="0">
                <a:latin typeface="Calibri"/>
                <a:ea typeface="Calibri"/>
                <a:cs typeface="Calibri"/>
              </a:rPr>
              <a:t> (angel) : </a:t>
            </a:r>
            <a:r>
              <a:rPr lang="en-US" sz="2000" dirty="0">
                <a:latin typeface="Calibri"/>
                <a:ea typeface="Calibri"/>
                <a:cs typeface="Calibri"/>
              </a:rPr>
              <a:t>Set the orientation of the turtle to angle</a:t>
            </a:r>
          </a:p>
          <a:p>
            <a:pPr marL="0">
              <a:lnSpc>
                <a:spcPct val="90000"/>
              </a:lnSpc>
              <a:buFont typeface="Arial,Sans-Serif" panose="020B0504020202020204" pitchFamily="34" charset="0"/>
              <a:buChar char="•"/>
            </a:pPr>
            <a:r>
              <a:rPr lang="en-US" sz="2000" b="1" dirty="0">
                <a:latin typeface="Calibri"/>
                <a:ea typeface="Calibri"/>
                <a:cs typeface="Calibri"/>
              </a:rPr>
              <a:t>Example : </a:t>
            </a:r>
            <a:r>
              <a:rPr lang="en-US" sz="2000" dirty="0" err="1">
                <a:latin typeface="Calibri"/>
                <a:ea typeface="Calibri"/>
                <a:cs typeface="Calibri"/>
              </a:rPr>
              <a:t>tu.setheading</a:t>
            </a:r>
            <a:r>
              <a:rPr lang="en-US" sz="2000" dirty="0">
                <a:latin typeface="Calibri"/>
                <a:ea typeface="Calibri"/>
                <a:cs typeface="Calibri"/>
              </a:rPr>
              <a:t> (90)</a:t>
            </a:r>
          </a:p>
          <a:p>
            <a:pPr>
              <a:lnSpc>
                <a:spcPct val="90000"/>
              </a:lnSpc>
              <a:buFont typeface="Arial,Sans-Serif" panose="020B0504020202020204" pitchFamily="34" charset="0"/>
              <a:buChar char="•"/>
            </a:pPr>
            <a:r>
              <a:rPr lang="en-US" sz="2000" b="1" dirty="0">
                <a:latin typeface="Calibri"/>
                <a:ea typeface="Calibri"/>
                <a:cs typeface="Calibri"/>
              </a:rPr>
              <a:t>Reset ( ) : </a:t>
            </a:r>
            <a:r>
              <a:rPr lang="en-US" sz="2000" dirty="0">
                <a:latin typeface="Calibri"/>
                <a:ea typeface="Calibri"/>
                <a:cs typeface="Calibri"/>
              </a:rPr>
              <a:t>Delete the turtle’s drawings from the screen, re-center the turtle and set variables to the default values.</a:t>
            </a:r>
          </a:p>
          <a:p>
            <a:pPr marL="342900">
              <a:lnSpc>
                <a:spcPct val="90000"/>
              </a:lnSpc>
              <a:buFont typeface="Arial,Sans-Serif" panose="020B0504020202020204" pitchFamily="34" charset="0"/>
              <a:buChar char="•"/>
            </a:pPr>
            <a:r>
              <a:rPr lang="en-US" sz="2000" b="1" dirty="0">
                <a:latin typeface="Calibri"/>
                <a:ea typeface="Calibri"/>
                <a:cs typeface="Calibri"/>
              </a:rPr>
              <a:t>Clear ( ) : </a:t>
            </a:r>
            <a:r>
              <a:rPr lang="en-US" sz="2000" dirty="0">
                <a:latin typeface="Calibri"/>
                <a:ea typeface="Calibri"/>
                <a:cs typeface="Calibri"/>
              </a:rPr>
              <a:t>Delete the turtle’s drawings from the screen. Do not move turtle. State and position of the turtle as well as drawings of other turtles are not affected.</a:t>
            </a:r>
          </a:p>
          <a:p>
            <a:endParaRPr lang="en-US" dirty="0"/>
          </a:p>
        </p:txBody>
      </p:sp>
    </p:spTree>
    <p:extLst>
      <p:ext uri="{BB962C8B-B14F-4D97-AF65-F5344CB8AC3E}">
        <p14:creationId xmlns:p14="http://schemas.microsoft.com/office/powerpoint/2010/main" val="20123881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02975F-4F10-5D72-3E41-BC89B925C778}"/>
              </a:ext>
            </a:extLst>
          </p:cNvPr>
          <p:cNvSpPr>
            <a:spLocks noGrp="1"/>
          </p:cNvSpPr>
          <p:nvPr>
            <p:ph idx="1"/>
          </p:nvPr>
        </p:nvSpPr>
        <p:spPr>
          <a:xfrm>
            <a:off x="1088136" y="717833"/>
            <a:ext cx="9922764" cy="5568667"/>
          </a:xfrm>
        </p:spPr>
        <p:txBody>
          <a:bodyPr vert="horz" lIns="91440" tIns="45720" rIns="91440" bIns="45720" rtlCol="0" anchor="t">
            <a:normAutofit/>
          </a:bodyPr>
          <a:lstStyle/>
          <a:p>
            <a:pPr>
              <a:lnSpc>
                <a:spcPct val="90000"/>
              </a:lnSpc>
              <a:buFont typeface="Arial,Sans-Serif" panose="020B0504020202020204" pitchFamily="34" charset="0"/>
              <a:buChar char="•"/>
            </a:pPr>
            <a:r>
              <a:rPr lang="en-US" sz="2200" b="1" dirty="0">
                <a:latin typeface="Calibri"/>
                <a:ea typeface="Calibri"/>
                <a:cs typeface="Calibri"/>
              </a:rPr>
              <a:t>stamp( ) : </a:t>
            </a:r>
            <a:r>
              <a:rPr lang="en-US" sz="2200" dirty="0">
                <a:latin typeface="Calibri"/>
                <a:ea typeface="Calibri"/>
                <a:cs typeface="Calibri"/>
              </a:rPr>
              <a:t>Stamp a copy of the turtle shape onto the canvas at the current turtle position. Return a </a:t>
            </a:r>
            <a:r>
              <a:rPr lang="en-US" sz="2200" dirty="0" err="1">
                <a:latin typeface="Calibri"/>
                <a:ea typeface="Calibri"/>
                <a:cs typeface="Calibri"/>
              </a:rPr>
              <a:t>stamp_id</a:t>
            </a:r>
            <a:r>
              <a:rPr lang="en-US" sz="2200" dirty="0">
                <a:latin typeface="Calibri"/>
                <a:ea typeface="Calibri"/>
                <a:cs typeface="Calibri"/>
              </a:rPr>
              <a:t> for that stamp, which can be used to delete it </a:t>
            </a:r>
          </a:p>
          <a:p>
            <a:pPr>
              <a:lnSpc>
                <a:spcPct val="90000"/>
              </a:lnSpc>
              <a:buFont typeface="Arial,Sans-Serif" panose="020B0504020202020204" pitchFamily="34" charset="0"/>
              <a:buChar char="•"/>
            </a:pPr>
            <a:r>
              <a:rPr lang="en-US" sz="2200" b="1" dirty="0" err="1">
                <a:latin typeface="Calibri"/>
                <a:ea typeface="Calibri"/>
                <a:cs typeface="Calibri"/>
              </a:rPr>
              <a:t>clearstamp</a:t>
            </a:r>
            <a:r>
              <a:rPr lang="en-US" sz="2200" b="1" dirty="0">
                <a:latin typeface="Calibri"/>
                <a:ea typeface="Calibri"/>
                <a:cs typeface="Calibri"/>
              </a:rPr>
              <a:t> (</a:t>
            </a:r>
            <a:r>
              <a:rPr lang="en-US" sz="2200" b="1" dirty="0" err="1">
                <a:latin typeface="Calibri"/>
                <a:ea typeface="Calibri"/>
                <a:cs typeface="Calibri"/>
              </a:rPr>
              <a:t>stamp_id</a:t>
            </a:r>
            <a:r>
              <a:rPr lang="en-US" sz="2200" b="1" dirty="0">
                <a:latin typeface="Calibri"/>
                <a:ea typeface="Calibri"/>
                <a:cs typeface="Calibri"/>
              </a:rPr>
              <a:t>) : </a:t>
            </a:r>
            <a:r>
              <a:rPr lang="en-US" sz="2200" dirty="0">
                <a:latin typeface="Calibri"/>
                <a:ea typeface="Calibri"/>
                <a:cs typeface="Calibri"/>
              </a:rPr>
              <a:t>Delete stamp with given </a:t>
            </a:r>
            <a:r>
              <a:rPr lang="en-US" sz="2200" i="1" dirty="0" err="1">
                <a:latin typeface="Calibri"/>
                <a:ea typeface="Calibri"/>
                <a:cs typeface="Calibri"/>
              </a:rPr>
              <a:t>stamp_id</a:t>
            </a:r>
            <a:r>
              <a:rPr lang="en-US" sz="2200" dirty="0">
                <a:latin typeface="Calibri"/>
                <a:ea typeface="Calibri"/>
                <a:cs typeface="Calibri"/>
              </a:rPr>
              <a:t>.</a:t>
            </a:r>
          </a:p>
          <a:p>
            <a:pPr>
              <a:lnSpc>
                <a:spcPct val="90000"/>
              </a:lnSpc>
              <a:buFont typeface="Arial,Sans-Serif" panose="020B0504020202020204" pitchFamily="34" charset="0"/>
              <a:buChar char="•"/>
            </a:pPr>
            <a:r>
              <a:rPr lang="en-US" sz="2200" b="1" dirty="0" err="1">
                <a:latin typeface="Calibri"/>
                <a:ea typeface="Calibri"/>
                <a:cs typeface="Calibri"/>
              </a:rPr>
              <a:t>clearstamps</a:t>
            </a:r>
            <a:r>
              <a:rPr lang="en-US" sz="2200" b="1" dirty="0">
                <a:latin typeface="Calibri"/>
                <a:ea typeface="Calibri"/>
                <a:cs typeface="Calibri"/>
              </a:rPr>
              <a:t> (</a:t>
            </a:r>
            <a:r>
              <a:rPr lang="en-US" sz="2200" b="1" dirty="0" err="1">
                <a:latin typeface="Calibri"/>
                <a:ea typeface="Calibri"/>
                <a:cs typeface="Calibri"/>
              </a:rPr>
              <a:t>stamp_id</a:t>
            </a:r>
            <a:r>
              <a:rPr lang="en-US" sz="2200" b="1" dirty="0">
                <a:latin typeface="Calibri"/>
                <a:ea typeface="Calibri"/>
                <a:cs typeface="Calibri"/>
              </a:rPr>
              <a:t>) : </a:t>
            </a:r>
            <a:r>
              <a:rPr lang="en-US" sz="2200" dirty="0">
                <a:latin typeface="Calibri"/>
                <a:ea typeface="Calibri"/>
                <a:cs typeface="Calibri"/>
              </a:rPr>
              <a:t>Delete all or first/last n of turtle’s stamps. If n is None, delete all stamps, if n &gt; 0 delete first n stamps, else if n &lt; 0 delete last n stamps.</a:t>
            </a:r>
            <a:endParaRPr lang="en-US" dirty="0"/>
          </a:p>
        </p:txBody>
      </p:sp>
      <p:pic>
        <p:nvPicPr>
          <p:cNvPr id="4" name="Picture 3" descr="A screen shot of a computer code&#10;&#10;AI-generated content may be incorrect.">
            <a:extLst>
              <a:ext uri="{FF2B5EF4-FFF2-40B4-BE49-F238E27FC236}">
                <a16:creationId xmlns:a16="http://schemas.microsoft.com/office/drawing/2014/main" id="{DB45C4F6-B4BE-2F23-A342-08CD30A4F720}"/>
              </a:ext>
            </a:extLst>
          </p:cNvPr>
          <p:cNvPicPr>
            <a:picLocks noChangeAspect="1"/>
          </p:cNvPicPr>
          <p:nvPr/>
        </p:nvPicPr>
        <p:blipFill>
          <a:blip r:embed="rId2"/>
          <a:stretch>
            <a:fillRect/>
          </a:stretch>
        </p:blipFill>
        <p:spPr>
          <a:xfrm>
            <a:off x="866775" y="3004494"/>
            <a:ext cx="5629017" cy="2815796"/>
          </a:xfrm>
          <a:prstGeom prst="rect">
            <a:avLst/>
          </a:prstGeom>
        </p:spPr>
      </p:pic>
      <p:pic>
        <p:nvPicPr>
          <p:cNvPr id="5" name="Picture 4">
            <a:extLst>
              <a:ext uri="{FF2B5EF4-FFF2-40B4-BE49-F238E27FC236}">
                <a16:creationId xmlns:a16="http://schemas.microsoft.com/office/drawing/2014/main" id="{F871BA13-1707-9947-3386-70B323956821}"/>
              </a:ext>
            </a:extLst>
          </p:cNvPr>
          <p:cNvPicPr>
            <a:picLocks noChangeAspect="1"/>
          </p:cNvPicPr>
          <p:nvPr/>
        </p:nvPicPr>
        <p:blipFill>
          <a:blip r:embed="rId3"/>
          <a:stretch>
            <a:fillRect/>
          </a:stretch>
        </p:blipFill>
        <p:spPr>
          <a:xfrm>
            <a:off x="7988386" y="3384078"/>
            <a:ext cx="2228850" cy="2066925"/>
          </a:xfrm>
          <a:prstGeom prst="rect">
            <a:avLst/>
          </a:prstGeom>
        </p:spPr>
      </p:pic>
    </p:spTree>
    <p:extLst>
      <p:ext uri="{BB962C8B-B14F-4D97-AF65-F5344CB8AC3E}">
        <p14:creationId xmlns:p14="http://schemas.microsoft.com/office/powerpoint/2010/main" val="23562046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898671-4D28-E705-5C94-C773AF057599}"/>
              </a:ext>
            </a:extLst>
          </p:cNvPr>
          <p:cNvSpPr>
            <a:spLocks noGrp="1"/>
          </p:cNvSpPr>
          <p:nvPr>
            <p:ph idx="1"/>
          </p:nvPr>
        </p:nvSpPr>
        <p:spPr>
          <a:xfrm>
            <a:off x="1088136" y="279009"/>
            <a:ext cx="9922764" cy="6007491"/>
          </a:xfrm>
        </p:spPr>
        <p:txBody>
          <a:bodyPr vert="horz" lIns="91440" tIns="45720" rIns="91440" bIns="45720" rtlCol="0" anchor="t">
            <a:normAutofit/>
          </a:bodyPr>
          <a:lstStyle/>
          <a:p>
            <a:pPr>
              <a:lnSpc>
                <a:spcPct val="90000"/>
              </a:lnSpc>
              <a:buFont typeface="Arial,Sans-Serif" panose="020B0504020202020204" pitchFamily="34" charset="0"/>
              <a:buChar char="•"/>
            </a:pPr>
            <a:r>
              <a:rPr lang="en-US" sz="2200" b="1" dirty="0">
                <a:latin typeface="Calibri"/>
                <a:ea typeface="Calibri"/>
                <a:cs typeface="Calibri"/>
              </a:rPr>
              <a:t>towards (x, y) : x</a:t>
            </a:r>
            <a:r>
              <a:rPr lang="en-US" sz="2200" dirty="0">
                <a:latin typeface="Calibri"/>
                <a:ea typeface="Calibri"/>
                <a:cs typeface="Calibri"/>
              </a:rPr>
              <a:t> – a number or a pair/vector of numbers or a turtle instance</a:t>
            </a:r>
            <a:r>
              <a:rPr lang="en-US" sz="2200" b="1" dirty="0">
                <a:latin typeface="Calibri"/>
                <a:ea typeface="Calibri"/>
                <a:cs typeface="Calibri"/>
              </a:rPr>
              <a:t>, </a:t>
            </a:r>
            <a:r>
              <a:rPr lang="en-US" sz="2200" dirty="0">
                <a:latin typeface="Calibri"/>
                <a:ea typeface="Calibri"/>
                <a:cs typeface="Calibri"/>
              </a:rPr>
              <a:t>y – a number if x is a number, else None  Return the angle between the line from turtle position to position specified by (</a:t>
            </a:r>
            <a:r>
              <a:rPr lang="en-US" sz="2200" dirty="0" err="1">
                <a:latin typeface="Calibri"/>
                <a:ea typeface="Calibri"/>
                <a:cs typeface="Calibri"/>
              </a:rPr>
              <a:t>x,y</a:t>
            </a:r>
            <a:r>
              <a:rPr lang="en-US" sz="2200" dirty="0">
                <a:latin typeface="Calibri"/>
                <a:ea typeface="Calibri"/>
                <a:cs typeface="Calibri"/>
              </a:rPr>
              <a:t>), the vector or the other turtle. This depends on the turtle’s start orientation</a:t>
            </a:r>
          </a:p>
          <a:p>
            <a:pPr>
              <a:lnSpc>
                <a:spcPct val="90000"/>
              </a:lnSpc>
              <a:buFont typeface="Arial,Sans-Serif" panose="020B0504020202020204" pitchFamily="34" charset="0"/>
              <a:buChar char="•"/>
            </a:pPr>
            <a:r>
              <a:rPr lang="en-US" sz="2200" b="1" dirty="0">
                <a:latin typeface="Calibri"/>
                <a:ea typeface="Calibri"/>
                <a:cs typeface="Calibri"/>
              </a:rPr>
              <a:t>Xcor, </a:t>
            </a:r>
            <a:r>
              <a:rPr lang="en-US" sz="2200" b="1" dirty="0" err="1">
                <a:latin typeface="Calibri"/>
                <a:ea typeface="Calibri"/>
                <a:cs typeface="Calibri"/>
              </a:rPr>
              <a:t>ycor</a:t>
            </a:r>
            <a:r>
              <a:rPr lang="en-US" sz="2200" b="1" dirty="0">
                <a:latin typeface="Calibri"/>
                <a:ea typeface="Calibri"/>
                <a:cs typeface="Calibri"/>
              </a:rPr>
              <a:t> ( ) : </a:t>
            </a:r>
            <a:r>
              <a:rPr lang="en-US" sz="2200" dirty="0">
                <a:latin typeface="Calibri"/>
                <a:ea typeface="Calibri"/>
                <a:cs typeface="Calibri"/>
              </a:rPr>
              <a:t>return turtle’s x or y coordinate</a:t>
            </a:r>
          </a:p>
          <a:p>
            <a:pPr>
              <a:lnSpc>
                <a:spcPct val="90000"/>
              </a:lnSpc>
              <a:buFont typeface="Arial,Sans-Serif" panose="020B0504020202020204" pitchFamily="34" charset="0"/>
              <a:buChar char="•"/>
            </a:pPr>
            <a:endParaRPr lang="en-US" sz="2200" dirty="0">
              <a:latin typeface="Calibri"/>
              <a:ea typeface="Calibri"/>
              <a:cs typeface="Calibri"/>
            </a:endParaRPr>
          </a:p>
          <a:p>
            <a:pPr>
              <a:lnSpc>
                <a:spcPct val="100000"/>
              </a:lnSpc>
              <a:spcBef>
                <a:spcPts val="0"/>
              </a:spcBef>
              <a:buFont typeface="Wingdings,Sans-Serif" panose="020B0504020202020204" pitchFamily="34" charset="0"/>
              <a:buChar char="q"/>
            </a:pPr>
            <a:r>
              <a:rPr lang="en-US" sz="2400" b="1" dirty="0" err="1">
                <a:latin typeface="Calibri"/>
                <a:ea typeface="Calibri"/>
                <a:cs typeface="Calibri"/>
              </a:rPr>
              <a:t>hideturtle</a:t>
            </a:r>
            <a:r>
              <a:rPr lang="en-US" sz="2400" b="1" dirty="0">
                <a:latin typeface="Calibri"/>
                <a:ea typeface="Calibri"/>
                <a:cs typeface="Calibri"/>
              </a:rPr>
              <a:t> \ </a:t>
            </a:r>
            <a:r>
              <a:rPr lang="en-US" sz="2400" b="1" dirty="0" err="1">
                <a:latin typeface="Calibri"/>
                <a:ea typeface="Calibri"/>
                <a:cs typeface="Calibri"/>
              </a:rPr>
              <a:t>ht</a:t>
            </a:r>
            <a:r>
              <a:rPr lang="en-US" sz="2400" b="1" dirty="0">
                <a:latin typeface="Calibri"/>
                <a:ea typeface="Calibri"/>
                <a:cs typeface="Calibri"/>
              </a:rPr>
              <a:t> ( ) : </a:t>
            </a:r>
            <a:r>
              <a:rPr lang="en-US" sz="2400" dirty="0">
                <a:solidFill>
                  <a:srgbClr val="222222"/>
                </a:solidFill>
                <a:latin typeface="Calibri"/>
                <a:ea typeface="Calibri"/>
                <a:cs typeface="Calibri"/>
              </a:rPr>
              <a:t>Make the turtle invisible. It’s a good idea to do this while you’re in the middle of doing some complex drawing, because hiding the turtle speeds up the drawing observably.</a:t>
            </a:r>
            <a:endParaRPr lang="en-US" sz="2400" dirty="0">
              <a:latin typeface="Calibri"/>
              <a:ea typeface="Calibri"/>
              <a:cs typeface="Calibri"/>
            </a:endParaRPr>
          </a:p>
          <a:p>
            <a:pPr>
              <a:lnSpc>
                <a:spcPct val="100000"/>
              </a:lnSpc>
              <a:spcBef>
                <a:spcPts val="0"/>
              </a:spcBef>
              <a:buFont typeface="Wingdings,Sans-Serif" panose="020B0504020202020204" pitchFamily="34" charset="0"/>
              <a:buChar char="q"/>
            </a:pPr>
            <a:r>
              <a:rPr lang="en-US" sz="2400" b="1" dirty="0" err="1">
                <a:solidFill>
                  <a:srgbClr val="222222"/>
                </a:solidFill>
                <a:latin typeface="Calibri"/>
                <a:ea typeface="Calibri"/>
                <a:cs typeface="Calibri"/>
              </a:rPr>
              <a:t>showturtle</a:t>
            </a:r>
            <a:r>
              <a:rPr lang="en-US" sz="2400" b="1" dirty="0">
                <a:solidFill>
                  <a:srgbClr val="222222"/>
                </a:solidFill>
                <a:latin typeface="Calibri"/>
                <a:ea typeface="Calibri"/>
                <a:cs typeface="Calibri"/>
              </a:rPr>
              <a:t> \ </a:t>
            </a:r>
            <a:r>
              <a:rPr lang="en-US" sz="2400" b="1" dirty="0" err="1">
                <a:solidFill>
                  <a:srgbClr val="222222"/>
                </a:solidFill>
                <a:latin typeface="Calibri"/>
                <a:ea typeface="Calibri"/>
                <a:cs typeface="Calibri"/>
              </a:rPr>
              <a:t>st</a:t>
            </a:r>
            <a:r>
              <a:rPr lang="en-US" sz="2400" b="1" dirty="0">
                <a:solidFill>
                  <a:srgbClr val="222222"/>
                </a:solidFill>
                <a:latin typeface="Calibri"/>
                <a:ea typeface="Calibri"/>
                <a:cs typeface="Calibri"/>
              </a:rPr>
              <a:t> ( ) : </a:t>
            </a:r>
            <a:r>
              <a:rPr lang="en-US" sz="2400" dirty="0">
                <a:solidFill>
                  <a:srgbClr val="222222"/>
                </a:solidFill>
                <a:latin typeface="Calibri"/>
                <a:ea typeface="Calibri"/>
                <a:cs typeface="Calibri"/>
              </a:rPr>
              <a:t>Make the turtle visible</a:t>
            </a:r>
            <a:endParaRPr lang="en-US" sz="2400" dirty="0">
              <a:latin typeface="Calibri"/>
              <a:ea typeface="Calibri"/>
              <a:cs typeface="Calibri"/>
            </a:endParaRPr>
          </a:p>
          <a:p>
            <a:pPr>
              <a:lnSpc>
                <a:spcPct val="100000"/>
              </a:lnSpc>
              <a:spcBef>
                <a:spcPts val="0"/>
              </a:spcBef>
              <a:buFont typeface="Wingdings,Sans-Serif" panose="020B0504020202020204" pitchFamily="34" charset="0"/>
              <a:buChar char="q"/>
            </a:pPr>
            <a:r>
              <a:rPr lang="en-US" sz="2400" b="1" dirty="0" err="1">
                <a:solidFill>
                  <a:srgbClr val="222222"/>
                </a:solidFill>
                <a:latin typeface="Calibri"/>
                <a:ea typeface="Calibri"/>
                <a:cs typeface="Calibri"/>
              </a:rPr>
              <a:t>isvisable</a:t>
            </a:r>
            <a:r>
              <a:rPr lang="en-US" sz="2400" b="1" dirty="0">
                <a:solidFill>
                  <a:srgbClr val="222222"/>
                </a:solidFill>
                <a:latin typeface="Calibri"/>
                <a:ea typeface="Calibri"/>
                <a:cs typeface="Calibri"/>
              </a:rPr>
              <a:t> ( ) : </a:t>
            </a:r>
            <a:r>
              <a:rPr lang="en-US" sz="2400" dirty="0">
                <a:solidFill>
                  <a:srgbClr val="222222"/>
                </a:solidFill>
                <a:latin typeface="Calibri"/>
                <a:ea typeface="Calibri"/>
                <a:cs typeface="Calibri"/>
              </a:rPr>
              <a:t>Return True if the Turtle is shown, False if it’s hidden</a:t>
            </a:r>
            <a:endParaRPr lang="en-US" sz="2400" dirty="0">
              <a:latin typeface="Calibri"/>
              <a:ea typeface="Calibri"/>
              <a:cs typeface="Calibri"/>
            </a:endParaRPr>
          </a:p>
          <a:p>
            <a:pPr>
              <a:lnSpc>
                <a:spcPct val="100000"/>
              </a:lnSpc>
              <a:spcBef>
                <a:spcPts val="0"/>
              </a:spcBef>
              <a:buFont typeface="Wingdings,Sans-Serif" panose="020B0504020202020204" pitchFamily="34" charset="0"/>
              <a:buChar char="q"/>
            </a:pPr>
            <a:r>
              <a:rPr lang="en-US" sz="2400" b="1" dirty="0" err="1">
                <a:solidFill>
                  <a:srgbClr val="222222"/>
                </a:solidFill>
                <a:latin typeface="Calibri"/>
                <a:ea typeface="Calibri"/>
                <a:cs typeface="Calibri"/>
              </a:rPr>
              <a:t>resizemode</a:t>
            </a:r>
            <a:r>
              <a:rPr lang="en-US" sz="2400" b="1" dirty="0">
                <a:solidFill>
                  <a:srgbClr val="222222"/>
                </a:solidFill>
                <a:latin typeface="Calibri"/>
                <a:ea typeface="Calibri"/>
                <a:cs typeface="Calibri"/>
              </a:rPr>
              <a:t> (mode) : </a:t>
            </a:r>
            <a:r>
              <a:rPr lang="en-US" sz="2400" dirty="0">
                <a:solidFill>
                  <a:srgbClr val="222222"/>
                </a:solidFill>
                <a:latin typeface="Calibri"/>
                <a:ea typeface="Calibri"/>
                <a:cs typeface="Calibri"/>
              </a:rPr>
              <a:t>Set </a:t>
            </a:r>
            <a:r>
              <a:rPr lang="en-US" sz="2400" dirty="0" err="1">
                <a:solidFill>
                  <a:srgbClr val="222222"/>
                </a:solidFill>
                <a:latin typeface="Calibri"/>
                <a:ea typeface="Calibri"/>
                <a:cs typeface="Calibri"/>
              </a:rPr>
              <a:t>resizemode</a:t>
            </a:r>
            <a:r>
              <a:rPr lang="en-US" sz="2400" dirty="0">
                <a:solidFill>
                  <a:srgbClr val="222222"/>
                </a:solidFill>
                <a:latin typeface="Calibri"/>
                <a:ea typeface="Calibri"/>
                <a:cs typeface="Calibri"/>
              </a:rPr>
              <a:t> to one of the values: “auto”  </a:t>
            </a:r>
            <a:r>
              <a:rPr lang="en-US" sz="2400" dirty="0">
                <a:solidFill>
                  <a:srgbClr val="222222"/>
                </a:solidFill>
                <a:latin typeface="Arial"/>
                <a:cs typeface="Arial"/>
              </a:rPr>
              <a:t>value of </a:t>
            </a:r>
            <a:r>
              <a:rPr lang="en-US" sz="2400" dirty="0" err="1">
                <a:solidFill>
                  <a:srgbClr val="222222"/>
                </a:solidFill>
                <a:latin typeface="Arial"/>
                <a:cs typeface="Arial"/>
              </a:rPr>
              <a:t>pensize</a:t>
            </a:r>
            <a:r>
              <a:rPr lang="en-US" sz="2400" dirty="0">
                <a:solidFill>
                  <a:srgbClr val="222222"/>
                </a:solidFill>
                <a:latin typeface="Calibri"/>
                <a:ea typeface="Calibri"/>
                <a:cs typeface="Calibri"/>
              </a:rPr>
              <a:t>, “user”  </a:t>
            </a:r>
            <a:r>
              <a:rPr lang="en-US" sz="2400" dirty="0">
                <a:solidFill>
                  <a:srgbClr val="222222"/>
                </a:solidFill>
                <a:latin typeface="Arial"/>
                <a:cs typeface="Arial"/>
              </a:rPr>
              <a:t>values of </a:t>
            </a:r>
            <a:r>
              <a:rPr lang="en-US" sz="2400" dirty="0" err="1">
                <a:solidFill>
                  <a:srgbClr val="222222"/>
                </a:solidFill>
                <a:latin typeface="Arial"/>
                <a:cs typeface="Arial"/>
              </a:rPr>
              <a:t>stretchfactor</a:t>
            </a:r>
            <a:r>
              <a:rPr lang="en-US" sz="2400" dirty="0">
                <a:solidFill>
                  <a:srgbClr val="222222"/>
                </a:solidFill>
                <a:latin typeface="Arial"/>
                <a:cs typeface="Arial"/>
              </a:rPr>
              <a:t> and </a:t>
            </a:r>
            <a:r>
              <a:rPr lang="en-US" sz="2400" dirty="0" err="1">
                <a:solidFill>
                  <a:srgbClr val="222222"/>
                </a:solidFill>
                <a:latin typeface="Arial"/>
                <a:cs typeface="Arial"/>
              </a:rPr>
              <a:t>outlinewidth</a:t>
            </a:r>
            <a:r>
              <a:rPr lang="en-US" sz="2400" dirty="0">
                <a:solidFill>
                  <a:srgbClr val="222222"/>
                </a:solidFill>
                <a:latin typeface="Arial"/>
                <a:cs typeface="Arial"/>
              </a:rPr>
              <a:t> from pen function</a:t>
            </a:r>
            <a:r>
              <a:rPr lang="en-US" sz="2400" dirty="0">
                <a:solidFill>
                  <a:srgbClr val="222222"/>
                </a:solidFill>
                <a:latin typeface="Calibri"/>
                <a:ea typeface="Calibri"/>
                <a:cs typeface="Calibri"/>
              </a:rPr>
              <a:t>, “</a:t>
            </a:r>
            <a:r>
              <a:rPr lang="en-US" sz="2400" dirty="0" err="1">
                <a:solidFill>
                  <a:srgbClr val="222222"/>
                </a:solidFill>
                <a:latin typeface="Calibri"/>
                <a:ea typeface="Calibri"/>
                <a:cs typeface="Calibri"/>
              </a:rPr>
              <a:t>noresize</a:t>
            </a:r>
            <a:r>
              <a:rPr lang="en-US" sz="2400" dirty="0">
                <a:solidFill>
                  <a:srgbClr val="222222"/>
                </a:solidFill>
                <a:latin typeface="Calibri"/>
                <a:ea typeface="Calibri"/>
                <a:cs typeface="Calibri"/>
              </a:rPr>
              <a:t>”  </a:t>
            </a:r>
            <a:r>
              <a:rPr lang="en-US" sz="2400" dirty="0">
                <a:solidFill>
                  <a:srgbClr val="222222"/>
                </a:solidFill>
                <a:latin typeface="Arial"/>
                <a:cs typeface="Arial"/>
              </a:rPr>
              <a:t>no adaption of the turtle’s appearance takes place.</a:t>
            </a:r>
            <a:r>
              <a:rPr lang="en-US" sz="2400" dirty="0">
                <a:solidFill>
                  <a:srgbClr val="222222"/>
                </a:solidFill>
                <a:latin typeface="Calibri"/>
                <a:ea typeface="Calibri"/>
                <a:cs typeface="Calibri"/>
              </a:rPr>
              <a:t>. If mode is not given, return current </a:t>
            </a:r>
            <a:r>
              <a:rPr lang="en-US" sz="2400" dirty="0" err="1">
                <a:solidFill>
                  <a:srgbClr val="222222"/>
                </a:solidFill>
                <a:latin typeface="Calibri"/>
                <a:ea typeface="Calibri"/>
                <a:cs typeface="Calibri"/>
              </a:rPr>
              <a:t>resizemode</a:t>
            </a:r>
            <a:endParaRPr lang="en-US" dirty="0" err="1"/>
          </a:p>
        </p:txBody>
      </p:sp>
    </p:spTree>
    <p:extLst>
      <p:ext uri="{BB962C8B-B14F-4D97-AF65-F5344CB8AC3E}">
        <p14:creationId xmlns:p14="http://schemas.microsoft.com/office/powerpoint/2010/main" val="1268886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EC9FC-871D-F10A-8A55-9E30B781C19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EE7A8C-57AE-5D68-A936-54FF657CE729}"/>
              </a:ext>
            </a:extLst>
          </p:cNvPr>
          <p:cNvSpPr>
            <a:spLocks noGrp="1"/>
          </p:cNvSpPr>
          <p:nvPr>
            <p:ph idx="1"/>
          </p:nvPr>
        </p:nvSpPr>
        <p:spPr>
          <a:xfrm>
            <a:off x="1088136" y="279009"/>
            <a:ext cx="9922764" cy="6007491"/>
          </a:xfrm>
        </p:spPr>
        <p:txBody>
          <a:bodyPr vert="horz" lIns="91440" tIns="45720" rIns="91440" bIns="45720" rtlCol="0" anchor="t">
            <a:normAutofit/>
          </a:bodyPr>
          <a:lstStyle/>
          <a:p>
            <a:r>
              <a:rPr lang="en-US" sz="2400" b="1" dirty="0" err="1">
                <a:latin typeface="Calibri"/>
                <a:ea typeface="Calibri"/>
                <a:cs typeface="Calibri"/>
              </a:rPr>
              <a:t>shapesize</a:t>
            </a:r>
            <a:r>
              <a:rPr lang="en-US" sz="2400" b="1" dirty="0">
                <a:latin typeface="Calibri"/>
                <a:ea typeface="Calibri"/>
                <a:cs typeface="Calibri"/>
              </a:rPr>
              <a:t> (</a:t>
            </a:r>
            <a:r>
              <a:rPr lang="en-US" sz="2400" b="1" dirty="0" err="1">
                <a:latin typeface="Calibri"/>
                <a:ea typeface="Calibri"/>
                <a:cs typeface="Calibri"/>
              </a:rPr>
              <a:t>stretch_wid</a:t>
            </a:r>
            <a:r>
              <a:rPr lang="en-US" sz="2400" b="1" dirty="0">
                <a:latin typeface="Calibri"/>
                <a:ea typeface="Calibri"/>
                <a:cs typeface="Calibri"/>
              </a:rPr>
              <a:t>, </a:t>
            </a:r>
            <a:r>
              <a:rPr lang="en-US" sz="2400" b="1" dirty="0" err="1">
                <a:latin typeface="Calibri"/>
                <a:ea typeface="Calibri"/>
                <a:cs typeface="Calibri"/>
              </a:rPr>
              <a:t>stretch_len</a:t>
            </a:r>
            <a:r>
              <a:rPr lang="en-US" sz="2400" b="1" dirty="0">
                <a:latin typeface="Calibri"/>
                <a:ea typeface="Calibri"/>
                <a:cs typeface="Calibri"/>
              </a:rPr>
              <a:t>, outline=None) \ </a:t>
            </a:r>
            <a:r>
              <a:rPr lang="en-US" sz="2400" b="1" dirty="0" err="1">
                <a:latin typeface="Calibri"/>
                <a:ea typeface="Calibri"/>
                <a:cs typeface="Calibri"/>
              </a:rPr>
              <a:t>turtlesize</a:t>
            </a:r>
            <a:r>
              <a:rPr lang="en-US" sz="2400" b="1" dirty="0">
                <a:latin typeface="Calibri"/>
                <a:ea typeface="Calibri"/>
                <a:cs typeface="Calibri"/>
              </a:rPr>
              <a:t> : </a:t>
            </a:r>
            <a:r>
              <a:rPr lang="en-US" sz="2400" dirty="0">
                <a:latin typeface="Calibri"/>
                <a:ea typeface="Calibri"/>
                <a:cs typeface="Calibri"/>
              </a:rPr>
              <a:t>Return or set the pen’s attributes x/y- </a:t>
            </a:r>
            <a:r>
              <a:rPr lang="en-US" sz="2400" dirty="0" err="1">
                <a:latin typeface="Calibri"/>
                <a:ea typeface="Calibri"/>
                <a:cs typeface="Calibri"/>
              </a:rPr>
              <a:t>stretchfactors</a:t>
            </a:r>
            <a:r>
              <a:rPr lang="en-US" sz="2400" dirty="0">
                <a:latin typeface="Calibri"/>
                <a:ea typeface="Calibri"/>
                <a:cs typeface="Calibri"/>
              </a:rPr>
              <a:t> and/or outline. Set </a:t>
            </a:r>
            <a:r>
              <a:rPr lang="en-US" sz="2400" dirty="0" err="1">
                <a:latin typeface="Calibri"/>
                <a:ea typeface="Calibri"/>
                <a:cs typeface="Calibri"/>
              </a:rPr>
              <a:t>resizemode</a:t>
            </a:r>
            <a:r>
              <a:rPr lang="en-US" sz="2400" dirty="0">
                <a:latin typeface="Calibri"/>
                <a:ea typeface="Calibri"/>
                <a:cs typeface="Calibri"/>
              </a:rPr>
              <a:t> to “user”. If and only if </a:t>
            </a:r>
            <a:r>
              <a:rPr lang="en-US" sz="2400" dirty="0" err="1">
                <a:latin typeface="Calibri"/>
                <a:ea typeface="Calibri"/>
                <a:cs typeface="Calibri"/>
              </a:rPr>
              <a:t>resizemode</a:t>
            </a:r>
            <a:r>
              <a:rPr lang="en-US" sz="2400" dirty="0">
                <a:latin typeface="Calibri"/>
                <a:ea typeface="Calibri"/>
                <a:cs typeface="Calibri"/>
              </a:rPr>
              <a:t> is set to “user”, the turtle will be displayed stretched according to its </a:t>
            </a:r>
            <a:r>
              <a:rPr lang="en-US" sz="2400" dirty="0" err="1">
                <a:latin typeface="Calibri"/>
                <a:ea typeface="Calibri"/>
                <a:cs typeface="Calibri"/>
              </a:rPr>
              <a:t>stretchfactors</a:t>
            </a:r>
            <a:r>
              <a:rPr lang="en-US" sz="2400" dirty="0">
                <a:latin typeface="Calibri"/>
                <a:ea typeface="Calibri"/>
                <a:cs typeface="Calibri"/>
              </a:rPr>
              <a:t>: </a:t>
            </a:r>
            <a:r>
              <a:rPr lang="en-US" sz="2400" dirty="0" err="1">
                <a:latin typeface="Calibri"/>
                <a:ea typeface="Calibri"/>
                <a:cs typeface="Calibri"/>
              </a:rPr>
              <a:t>stretch_wid</a:t>
            </a:r>
            <a:r>
              <a:rPr lang="en-US" sz="2400" dirty="0">
                <a:latin typeface="Calibri"/>
                <a:ea typeface="Calibri"/>
                <a:cs typeface="Calibri"/>
              </a:rPr>
              <a:t> is </a:t>
            </a:r>
            <a:r>
              <a:rPr lang="en-US" sz="2400" dirty="0" err="1">
                <a:latin typeface="Calibri"/>
                <a:ea typeface="Calibri"/>
                <a:cs typeface="Calibri"/>
              </a:rPr>
              <a:t>stretchfactor</a:t>
            </a:r>
            <a:r>
              <a:rPr lang="en-US" sz="2400" dirty="0">
                <a:latin typeface="Calibri"/>
                <a:ea typeface="Calibri"/>
                <a:cs typeface="Calibri"/>
              </a:rPr>
              <a:t> perpendicular to its orientation, </a:t>
            </a:r>
            <a:r>
              <a:rPr lang="en-US" sz="2400" dirty="0" err="1">
                <a:latin typeface="Calibri"/>
                <a:ea typeface="Calibri"/>
                <a:cs typeface="Calibri"/>
              </a:rPr>
              <a:t>stretch_len</a:t>
            </a:r>
            <a:r>
              <a:rPr lang="en-US" sz="2400" dirty="0">
                <a:latin typeface="Calibri"/>
                <a:ea typeface="Calibri"/>
                <a:cs typeface="Calibri"/>
              </a:rPr>
              <a:t> is </a:t>
            </a:r>
            <a:r>
              <a:rPr lang="en-US" sz="2400" dirty="0" err="1">
                <a:latin typeface="Calibri"/>
                <a:ea typeface="Calibri"/>
                <a:cs typeface="Calibri"/>
              </a:rPr>
              <a:t>stretchfactor</a:t>
            </a:r>
            <a:r>
              <a:rPr lang="en-US" sz="2400" dirty="0">
                <a:latin typeface="Calibri"/>
                <a:ea typeface="Calibri"/>
                <a:cs typeface="Calibri"/>
              </a:rPr>
              <a:t> in direction of its orientation, outline determines the width of the shapes' outline.</a:t>
            </a:r>
            <a:endParaRPr lang="en-US" dirty="0"/>
          </a:p>
        </p:txBody>
      </p:sp>
    </p:spTree>
    <p:extLst>
      <p:ext uri="{BB962C8B-B14F-4D97-AF65-F5344CB8AC3E}">
        <p14:creationId xmlns:p14="http://schemas.microsoft.com/office/powerpoint/2010/main" val="2991111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78C77-DE4A-1547-8283-2E6F0B5FF86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69CE50-DBAD-C75E-F475-DACC6BC3C83F}"/>
              </a:ext>
            </a:extLst>
          </p:cNvPr>
          <p:cNvSpPr>
            <a:spLocks noGrp="1"/>
          </p:cNvSpPr>
          <p:nvPr>
            <p:ph idx="1"/>
          </p:nvPr>
        </p:nvSpPr>
        <p:spPr>
          <a:xfrm>
            <a:off x="1088136" y="279009"/>
            <a:ext cx="9922764" cy="6007491"/>
          </a:xfrm>
        </p:spPr>
        <p:txBody>
          <a:bodyPr vert="horz" lIns="91440" tIns="45720" rIns="91440" bIns="45720" rtlCol="0" anchor="t">
            <a:normAutofit/>
          </a:bodyPr>
          <a:lstStyle/>
          <a:p>
            <a:pPr>
              <a:lnSpc>
                <a:spcPct val="90000"/>
              </a:lnSpc>
            </a:pPr>
            <a:r>
              <a:rPr lang="en-US" sz="1700" b="1">
                <a:latin typeface="Calibri"/>
                <a:ea typeface="Calibri"/>
                <a:cs typeface="Calibri"/>
              </a:rPr>
              <a:t>Pen(pen, </a:t>
            </a:r>
            <a:r>
              <a:rPr lang="en-US" sz="1700" b="1" err="1">
                <a:latin typeface="Calibri"/>
                <a:ea typeface="Calibri"/>
                <a:cs typeface="Calibri"/>
              </a:rPr>
              <a:t>pendict</a:t>
            </a:r>
            <a:r>
              <a:rPr lang="en-US" sz="1700" b="1">
                <a:latin typeface="Calibri"/>
                <a:ea typeface="Calibri"/>
                <a:cs typeface="Calibri"/>
              </a:rPr>
              <a:t>) : </a:t>
            </a:r>
            <a:endParaRPr lang="en-US" sz="1700">
              <a:latin typeface="Calibri"/>
              <a:ea typeface="Calibri"/>
              <a:cs typeface="Calibri"/>
            </a:endParaRPr>
          </a:p>
          <a:p>
            <a:pPr marL="0">
              <a:lnSpc>
                <a:spcPct val="90000"/>
              </a:lnSpc>
              <a:buFont typeface="Arial,Sans-Serif" panose="020B0504020202020204" pitchFamily="34" charset="0"/>
              <a:buChar char="•"/>
            </a:pPr>
            <a:r>
              <a:rPr lang="en-US" sz="1700">
                <a:latin typeface="Calibri"/>
                <a:ea typeface="Calibri"/>
                <a:cs typeface="Calibri"/>
              </a:rPr>
              <a:t>pen – a dictionary with some or all of the below listed keys</a:t>
            </a:r>
          </a:p>
          <a:p>
            <a:pPr marL="0">
              <a:lnSpc>
                <a:spcPct val="90000"/>
              </a:lnSpc>
              <a:buFont typeface="Arial,Sans-Serif" panose="020B0504020202020204" pitchFamily="34" charset="0"/>
              <a:buChar char="•"/>
            </a:pPr>
            <a:r>
              <a:rPr lang="en-US" sz="1700" dirty="0" err="1">
                <a:latin typeface="Calibri"/>
                <a:ea typeface="Calibri"/>
                <a:cs typeface="Calibri"/>
              </a:rPr>
              <a:t>pendict</a:t>
            </a:r>
            <a:r>
              <a:rPr lang="en-US" sz="1700" dirty="0">
                <a:latin typeface="Calibri"/>
                <a:ea typeface="Calibri"/>
                <a:cs typeface="Calibri"/>
              </a:rPr>
              <a:t> – one or more keyword-arguments with the below listed keys as keywords</a:t>
            </a:r>
          </a:p>
          <a:p>
            <a:pPr>
              <a:lnSpc>
                <a:spcPct val="90000"/>
              </a:lnSpc>
              <a:buFont typeface="Arial,Sans-Serif" panose="020B0504020202020204" pitchFamily="34" charset="0"/>
              <a:buChar char="•"/>
            </a:pPr>
            <a:r>
              <a:rPr lang="en-US" sz="1700" b="1" dirty="0">
                <a:latin typeface="Calibri"/>
                <a:ea typeface="Calibri"/>
                <a:cs typeface="Calibri"/>
              </a:rPr>
              <a:t>“shown”:</a:t>
            </a:r>
            <a:r>
              <a:rPr lang="en-US" sz="1700" dirty="0">
                <a:latin typeface="Calibri"/>
                <a:ea typeface="Calibri"/>
                <a:cs typeface="Calibri"/>
              </a:rPr>
              <a:t> True/False</a:t>
            </a:r>
          </a:p>
          <a:p>
            <a:pPr>
              <a:lnSpc>
                <a:spcPct val="90000"/>
              </a:lnSpc>
              <a:buFont typeface="Arial,Sans-Serif" panose="020B0504020202020204" pitchFamily="34" charset="0"/>
              <a:buChar char="•"/>
            </a:pPr>
            <a:r>
              <a:rPr lang="en-US" sz="1700" b="1" dirty="0">
                <a:latin typeface="Calibri"/>
                <a:ea typeface="Calibri"/>
                <a:cs typeface="Calibri"/>
              </a:rPr>
              <a:t>“</a:t>
            </a:r>
            <a:r>
              <a:rPr lang="en-US" sz="1700" b="1" dirty="0" err="1">
                <a:latin typeface="Calibri"/>
                <a:ea typeface="Calibri"/>
                <a:cs typeface="Calibri"/>
              </a:rPr>
              <a:t>pendown</a:t>
            </a:r>
            <a:r>
              <a:rPr lang="en-US" sz="1700" b="1" dirty="0">
                <a:latin typeface="Calibri"/>
                <a:ea typeface="Calibri"/>
                <a:cs typeface="Calibri"/>
              </a:rPr>
              <a:t>”: </a:t>
            </a:r>
            <a:r>
              <a:rPr lang="en-US" sz="1700" dirty="0">
                <a:latin typeface="Calibri"/>
                <a:ea typeface="Calibri"/>
                <a:cs typeface="Calibri"/>
              </a:rPr>
              <a:t>True/False</a:t>
            </a:r>
          </a:p>
          <a:p>
            <a:pPr>
              <a:lnSpc>
                <a:spcPct val="90000"/>
              </a:lnSpc>
              <a:buFont typeface="Arial,Sans-Serif" panose="020B0504020202020204" pitchFamily="34" charset="0"/>
              <a:buChar char="•"/>
            </a:pPr>
            <a:r>
              <a:rPr lang="en-US" sz="1700" b="1" dirty="0">
                <a:latin typeface="Calibri"/>
                <a:ea typeface="Calibri"/>
                <a:cs typeface="Calibri"/>
              </a:rPr>
              <a:t>“</a:t>
            </a:r>
            <a:r>
              <a:rPr lang="en-US" sz="1700" b="1" dirty="0" err="1">
                <a:latin typeface="Calibri"/>
                <a:ea typeface="Calibri"/>
                <a:cs typeface="Calibri"/>
              </a:rPr>
              <a:t>pencolor</a:t>
            </a:r>
            <a:r>
              <a:rPr lang="en-US" sz="1700" b="1" dirty="0">
                <a:latin typeface="Calibri"/>
                <a:ea typeface="Calibri"/>
                <a:cs typeface="Calibri"/>
              </a:rPr>
              <a:t>”: </a:t>
            </a:r>
            <a:r>
              <a:rPr lang="en-US" sz="1700" dirty="0">
                <a:latin typeface="Calibri"/>
                <a:ea typeface="Calibri"/>
                <a:cs typeface="Calibri"/>
              </a:rPr>
              <a:t>color-string or color-tuple</a:t>
            </a:r>
          </a:p>
          <a:p>
            <a:pPr>
              <a:lnSpc>
                <a:spcPct val="90000"/>
              </a:lnSpc>
              <a:buFont typeface="Arial,Sans-Serif" panose="020B0504020202020204" pitchFamily="34" charset="0"/>
              <a:buChar char="•"/>
            </a:pPr>
            <a:r>
              <a:rPr lang="en-US" sz="1700" b="1" dirty="0">
                <a:latin typeface="Calibri"/>
                <a:ea typeface="Calibri"/>
                <a:cs typeface="Calibri"/>
              </a:rPr>
              <a:t>“</a:t>
            </a:r>
            <a:r>
              <a:rPr lang="en-US" sz="1700" b="1" dirty="0" err="1">
                <a:latin typeface="Calibri"/>
                <a:ea typeface="Calibri"/>
                <a:cs typeface="Calibri"/>
              </a:rPr>
              <a:t>fillcolor</a:t>
            </a:r>
            <a:r>
              <a:rPr lang="en-US" sz="1700" b="1" dirty="0">
                <a:latin typeface="Calibri"/>
                <a:ea typeface="Calibri"/>
                <a:cs typeface="Calibri"/>
              </a:rPr>
              <a:t>”: </a:t>
            </a:r>
            <a:r>
              <a:rPr lang="en-US" sz="1700" dirty="0">
                <a:latin typeface="Calibri"/>
                <a:ea typeface="Calibri"/>
                <a:cs typeface="Calibri"/>
              </a:rPr>
              <a:t>color-string or color-tuple</a:t>
            </a:r>
          </a:p>
          <a:p>
            <a:pPr>
              <a:lnSpc>
                <a:spcPct val="90000"/>
              </a:lnSpc>
              <a:buFont typeface="Arial,Sans-Serif" panose="020B0504020202020204" pitchFamily="34" charset="0"/>
              <a:buChar char="•"/>
            </a:pPr>
            <a:r>
              <a:rPr lang="en-US" sz="1700" b="1" dirty="0">
                <a:latin typeface="Calibri"/>
                <a:ea typeface="Calibri"/>
                <a:cs typeface="Calibri"/>
              </a:rPr>
              <a:t>“</a:t>
            </a:r>
            <a:r>
              <a:rPr lang="en-US" sz="1700" b="1" dirty="0" err="1">
                <a:latin typeface="Calibri"/>
                <a:ea typeface="Calibri"/>
                <a:cs typeface="Calibri"/>
              </a:rPr>
              <a:t>pensize</a:t>
            </a:r>
            <a:r>
              <a:rPr lang="en-US" sz="1700" b="1" dirty="0">
                <a:latin typeface="Calibri"/>
                <a:ea typeface="Calibri"/>
                <a:cs typeface="Calibri"/>
              </a:rPr>
              <a:t>”: </a:t>
            </a:r>
            <a:r>
              <a:rPr lang="en-US" sz="1700" dirty="0">
                <a:latin typeface="Calibri"/>
                <a:ea typeface="Calibri"/>
                <a:cs typeface="Calibri"/>
              </a:rPr>
              <a:t>positive number</a:t>
            </a:r>
          </a:p>
          <a:p>
            <a:pPr>
              <a:lnSpc>
                <a:spcPct val="90000"/>
              </a:lnSpc>
              <a:buFont typeface="Arial,Sans-Serif" panose="020B0504020202020204" pitchFamily="34" charset="0"/>
              <a:buChar char="•"/>
            </a:pPr>
            <a:r>
              <a:rPr lang="en-US" sz="1700" b="1" dirty="0">
                <a:latin typeface="Calibri"/>
                <a:ea typeface="Calibri"/>
                <a:cs typeface="Calibri"/>
              </a:rPr>
              <a:t>“speed”: </a:t>
            </a:r>
            <a:r>
              <a:rPr lang="en-US" sz="1700" dirty="0">
                <a:latin typeface="Calibri"/>
                <a:ea typeface="Calibri"/>
                <a:cs typeface="Calibri"/>
              </a:rPr>
              <a:t>number in range 0..10</a:t>
            </a:r>
          </a:p>
          <a:p>
            <a:pPr>
              <a:lnSpc>
                <a:spcPct val="90000"/>
              </a:lnSpc>
              <a:buFont typeface="Arial,Sans-Serif" panose="020B0504020202020204" pitchFamily="34" charset="0"/>
              <a:buChar char="•"/>
            </a:pPr>
            <a:r>
              <a:rPr lang="en-US" sz="1700" b="1" dirty="0">
                <a:latin typeface="Calibri"/>
                <a:ea typeface="Calibri"/>
                <a:cs typeface="Calibri"/>
              </a:rPr>
              <a:t>“</a:t>
            </a:r>
            <a:r>
              <a:rPr lang="en-US" sz="1700" b="1" dirty="0" err="1">
                <a:latin typeface="Calibri"/>
                <a:ea typeface="Calibri"/>
                <a:cs typeface="Calibri"/>
              </a:rPr>
              <a:t>resizemode</a:t>
            </a:r>
            <a:r>
              <a:rPr lang="en-US" sz="1700" b="1" dirty="0">
                <a:latin typeface="Calibri"/>
                <a:ea typeface="Calibri"/>
                <a:cs typeface="Calibri"/>
              </a:rPr>
              <a:t>”: </a:t>
            </a:r>
            <a:r>
              <a:rPr lang="en-US" sz="1700" dirty="0">
                <a:latin typeface="Calibri"/>
                <a:ea typeface="Calibri"/>
                <a:cs typeface="Calibri"/>
              </a:rPr>
              <a:t>“auto” or “user” or “</a:t>
            </a:r>
            <a:r>
              <a:rPr lang="en-US" sz="1700" dirty="0" err="1">
                <a:latin typeface="Calibri"/>
                <a:ea typeface="Calibri"/>
                <a:cs typeface="Calibri"/>
              </a:rPr>
              <a:t>noresize</a:t>
            </a:r>
            <a:r>
              <a:rPr lang="en-US" sz="1700" dirty="0">
                <a:latin typeface="Calibri"/>
                <a:ea typeface="Calibri"/>
                <a:cs typeface="Calibri"/>
              </a:rPr>
              <a:t>”</a:t>
            </a:r>
          </a:p>
          <a:p>
            <a:pPr>
              <a:lnSpc>
                <a:spcPct val="90000"/>
              </a:lnSpc>
              <a:buFont typeface="Arial,Sans-Serif" panose="020B0504020202020204" pitchFamily="34" charset="0"/>
              <a:buChar char="•"/>
            </a:pPr>
            <a:r>
              <a:rPr lang="en-US" sz="1700" b="1" dirty="0">
                <a:latin typeface="Calibri"/>
                <a:ea typeface="Calibri"/>
                <a:cs typeface="Calibri"/>
              </a:rPr>
              <a:t>“</a:t>
            </a:r>
            <a:r>
              <a:rPr lang="en-US" sz="1700" b="1" dirty="0" err="1">
                <a:latin typeface="Calibri"/>
                <a:ea typeface="Calibri"/>
                <a:cs typeface="Calibri"/>
              </a:rPr>
              <a:t>stretchfactor</a:t>
            </a:r>
            <a:r>
              <a:rPr lang="en-US" sz="1700" b="1" dirty="0">
                <a:latin typeface="Calibri"/>
                <a:ea typeface="Calibri"/>
                <a:cs typeface="Calibri"/>
              </a:rPr>
              <a:t>”: </a:t>
            </a:r>
            <a:r>
              <a:rPr lang="en-US" sz="1700" dirty="0">
                <a:latin typeface="Calibri"/>
                <a:ea typeface="Calibri"/>
                <a:cs typeface="Calibri"/>
              </a:rPr>
              <a:t>(positive number, positive number)</a:t>
            </a:r>
          </a:p>
          <a:p>
            <a:pPr>
              <a:lnSpc>
                <a:spcPct val="90000"/>
              </a:lnSpc>
              <a:buFont typeface="Arial,Sans-Serif" panose="020B0504020202020204" pitchFamily="34" charset="0"/>
              <a:buChar char="•"/>
            </a:pPr>
            <a:r>
              <a:rPr lang="en-US" sz="1700" b="1" dirty="0">
                <a:latin typeface="Calibri"/>
                <a:ea typeface="Calibri"/>
                <a:cs typeface="Calibri"/>
              </a:rPr>
              <a:t>“outline”: </a:t>
            </a:r>
            <a:r>
              <a:rPr lang="en-US" sz="1700" dirty="0">
                <a:latin typeface="Calibri"/>
                <a:ea typeface="Calibri"/>
                <a:cs typeface="Calibri"/>
              </a:rPr>
              <a:t>positive number</a:t>
            </a:r>
          </a:p>
          <a:p>
            <a:pPr>
              <a:lnSpc>
                <a:spcPct val="90000"/>
              </a:lnSpc>
              <a:buFont typeface="Arial,Sans-Serif" panose="020B0504020202020204" pitchFamily="34" charset="0"/>
              <a:buChar char="•"/>
            </a:pPr>
            <a:r>
              <a:rPr lang="en-US" sz="1700" b="1" dirty="0">
                <a:latin typeface="Calibri"/>
                <a:ea typeface="Calibri"/>
                <a:cs typeface="Calibri"/>
              </a:rPr>
              <a:t>“tilt”: </a:t>
            </a:r>
            <a:r>
              <a:rPr lang="en-US" sz="1700" dirty="0">
                <a:latin typeface="Calibri"/>
                <a:ea typeface="Calibri"/>
                <a:cs typeface="Calibri"/>
              </a:rPr>
              <a:t>number</a:t>
            </a:r>
          </a:p>
          <a:p>
            <a:pPr>
              <a:lnSpc>
                <a:spcPct val="90000"/>
              </a:lnSpc>
              <a:buFont typeface="Arial,Sans-Serif" panose="020B0504020202020204" pitchFamily="34" charset="0"/>
              <a:buChar char="•"/>
            </a:pPr>
            <a:r>
              <a:rPr lang="en-US" sz="1700" b="1" dirty="0" err="1">
                <a:latin typeface="Calibri"/>
                <a:ea typeface="Calibri"/>
                <a:cs typeface="Calibri"/>
              </a:rPr>
              <a:t>isdown</a:t>
            </a:r>
            <a:r>
              <a:rPr lang="en-US" sz="1700" b="1" dirty="0">
                <a:latin typeface="Calibri"/>
                <a:ea typeface="Calibri"/>
                <a:cs typeface="Calibri"/>
              </a:rPr>
              <a:t> ( ) : </a:t>
            </a:r>
            <a:r>
              <a:rPr lang="en-US" sz="1700" dirty="0">
                <a:latin typeface="Calibri"/>
                <a:ea typeface="Calibri"/>
                <a:cs typeface="Calibri"/>
              </a:rPr>
              <a:t>Return True if pen is down, False if it’s up.</a:t>
            </a:r>
          </a:p>
        </p:txBody>
      </p:sp>
    </p:spTree>
    <p:extLst>
      <p:ext uri="{BB962C8B-B14F-4D97-AF65-F5344CB8AC3E}">
        <p14:creationId xmlns:p14="http://schemas.microsoft.com/office/powerpoint/2010/main" val="900003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B314B-7F3E-05B6-188B-21041B8470B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CC872B-16E2-BF34-619F-11CED21E3E7A}"/>
              </a:ext>
            </a:extLst>
          </p:cNvPr>
          <p:cNvSpPr>
            <a:spLocks noGrp="1"/>
          </p:cNvSpPr>
          <p:nvPr>
            <p:ph idx="1"/>
          </p:nvPr>
        </p:nvSpPr>
        <p:spPr>
          <a:xfrm>
            <a:off x="1088136" y="279009"/>
            <a:ext cx="9922764" cy="6007491"/>
          </a:xfrm>
        </p:spPr>
        <p:txBody>
          <a:bodyPr vert="horz" lIns="91440" tIns="45720" rIns="91440" bIns="45720" rtlCol="0" anchor="t">
            <a:normAutofit/>
          </a:bodyPr>
          <a:lstStyle/>
          <a:p>
            <a:pPr>
              <a:lnSpc>
                <a:spcPct val="90000"/>
              </a:lnSpc>
              <a:buFont typeface="Arial,Sans-Serif" panose="020B0504020202020204" pitchFamily="34" charset="0"/>
              <a:buChar char="•"/>
            </a:pPr>
            <a:r>
              <a:rPr lang="en-US" sz="2400" b="1" err="1">
                <a:latin typeface="Calibri"/>
                <a:ea typeface="Calibri"/>
                <a:cs typeface="Calibri"/>
              </a:rPr>
              <a:t>screensize</a:t>
            </a:r>
            <a:r>
              <a:rPr lang="en-US" sz="2400" b="1">
                <a:latin typeface="Calibri"/>
                <a:ea typeface="Calibri"/>
                <a:cs typeface="Calibri"/>
              </a:rPr>
              <a:t> (width, high, color) : </a:t>
            </a:r>
            <a:r>
              <a:rPr lang="en-US" sz="2400">
                <a:latin typeface="Calibri"/>
                <a:ea typeface="Calibri"/>
                <a:cs typeface="Calibri"/>
              </a:rPr>
              <a:t>If no arguments are given, return current  width and high else resize the screen</a:t>
            </a:r>
            <a:endParaRPr lang="en-US" sz="2400" dirty="0">
              <a:latin typeface="Calibri"/>
              <a:ea typeface="Calibri"/>
              <a:cs typeface="Calibri"/>
            </a:endParaRPr>
          </a:p>
          <a:p>
            <a:pPr marL="0">
              <a:lnSpc>
                <a:spcPct val="90000"/>
              </a:lnSpc>
              <a:buFont typeface="Arial,Sans-Serif" panose="020B0504020202020204" pitchFamily="34" charset="0"/>
              <a:buChar char="•"/>
            </a:pPr>
            <a:r>
              <a:rPr lang="en-US" sz="2400" b="1" dirty="0">
                <a:latin typeface="Calibri"/>
                <a:ea typeface="Calibri"/>
                <a:cs typeface="Calibri"/>
              </a:rPr>
              <a:t>Example : </a:t>
            </a:r>
            <a:r>
              <a:rPr lang="en-US" sz="2400" dirty="0" err="1">
                <a:latin typeface="Calibri"/>
                <a:ea typeface="Calibri"/>
                <a:cs typeface="Calibri"/>
              </a:rPr>
              <a:t>turtle.screensize</a:t>
            </a:r>
            <a:r>
              <a:rPr lang="en-US" sz="2400" dirty="0">
                <a:latin typeface="Calibri"/>
                <a:ea typeface="Calibri"/>
                <a:cs typeface="Calibri"/>
              </a:rPr>
              <a:t> (500,500,”red”)</a:t>
            </a:r>
          </a:p>
          <a:p>
            <a:pPr>
              <a:lnSpc>
                <a:spcPct val="90000"/>
              </a:lnSpc>
              <a:buFont typeface="Arial,Sans-Serif" panose="020B0504020202020204" pitchFamily="34" charset="0"/>
              <a:buChar char="•"/>
            </a:pPr>
            <a:r>
              <a:rPr lang="en-US" sz="2400" b="1" err="1">
                <a:latin typeface="Calibri"/>
                <a:ea typeface="Calibri"/>
                <a:cs typeface="Calibri"/>
              </a:rPr>
              <a:t>setworldcoordinates</a:t>
            </a:r>
            <a:r>
              <a:rPr lang="en-US" sz="2400" b="1">
                <a:latin typeface="Calibri"/>
                <a:ea typeface="Calibri"/>
                <a:cs typeface="Calibri"/>
              </a:rPr>
              <a:t> (x1,y1,x2,y2) : </a:t>
            </a:r>
            <a:r>
              <a:rPr lang="en-US" sz="2400">
                <a:latin typeface="Calibri"/>
                <a:ea typeface="Calibri"/>
                <a:cs typeface="Calibri"/>
              </a:rPr>
              <a:t>Set up user-defined coordinate system and switch to mode “world” if necessary. This performs a </a:t>
            </a:r>
            <a:r>
              <a:rPr lang="en-US" sz="2400" err="1">
                <a:latin typeface="Calibri"/>
                <a:ea typeface="Calibri"/>
                <a:cs typeface="Calibri"/>
              </a:rPr>
              <a:t>screenreset</a:t>
            </a:r>
            <a:r>
              <a:rPr lang="en-US" sz="2400">
                <a:latin typeface="Calibri"/>
                <a:ea typeface="Calibri"/>
                <a:cs typeface="Calibri"/>
              </a:rPr>
              <a:t>( ). If mode “world” is already active, all drawings are redrawn according to the new coordinates</a:t>
            </a:r>
            <a:endParaRPr lang="en-US" sz="2400" dirty="0">
              <a:latin typeface="Calibri"/>
              <a:ea typeface="Calibri"/>
              <a:cs typeface="Calibri"/>
            </a:endParaRPr>
          </a:p>
          <a:p>
            <a:pPr marL="0">
              <a:lnSpc>
                <a:spcPct val="90000"/>
              </a:lnSpc>
              <a:buFont typeface="Arial,Sans-Serif" panose="020B0504020202020204" pitchFamily="34" charset="0"/>
              <a:buChar char="•"/>
            </a:pPr>
            <a:r>
              <a:rPr lang="en-US" sz="2400" b="1" dirty="0">
                <a:latin typeface="Calibri"/>
                <a:ea typeface="Calibri"/>
                <a:cs typeface="Calibri"/>
              </a:rPr>
              <a:t>Example : </a:t>
            </a:r>
            <a:r>
              <a:rPr lang="en-US" sz="2400" err="1">
                <a:latin typeface="Calibri"/>
                <a:ea typeface="Calibri"/>
                <a:cs typeface="Calibri"/>
              </a:rPr>
              <a:t>turtle.setwoldcoords</a:t>
            </a:r>
            <a:r>
              <a:rPr lang="en-US" sz="2400" dirty="0">
                <a:latin typeface="Calibri"/>
                <a:ea typeface="Calibri"/>
                <a:cs typeface="Calibri"/>
              </a:rPr>
              <a:t> ( -50,-7.5,50,7.5)</a:t>
            </a:r>
          </a:p>
          <a:p>
            <a:pPr marL="0">
              <a:lnSpc>
                <a:spcPct val="90000"/>
              </a:lnSpc>
              <a:buFont typeface="Arial,Sans-Serif" panose="020B0504020202020204" pitchFamily="34" charset="0"/>
              <a:buChar char="•"/>
            </a:pPr>
            <a:endParaRPr lang="en-US" sz="2400" dirty="0">
              <a:latin typeface="Calibri"/>
              <a:ea typeface="Calibri"/>
              <a:cs typeface="Calibri"/>
            </a:endParaRPr>
          </a:p>
        </p:txBody>
      </p:sp>
    </p:spTree>
    <p:extLst>
      <p:ext uri="{BB962C8B-B14F-4D97-AF65-F5344CB8AC3E}">
        <p14:creationId xmlns:p14="http://schemas.microsoft.com/office/powerpoint/2010/main" val="667172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CA09F-9EBF-A7D7-6AB4-0613DE6C2B8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12CB9B-92C3-A7C2-91AA-10D04DE03EA8}"/>
              </a:ext>
            </a:extLst>
          </p:cNvPr>
          <p:cNvSpPr>
            <a:spLocks noGrp="1"/>
          </p:cNvSpPr>
          <p:nvPr>
            <p:ph idx="1"/>
          </p:nvPr>
        </p:nvSpPr>
        <p:spPr>
          <a:xfrm>
            <a:off x="1088136" y="279009"/>
            <a:ext cx="9922764" cy="6007491"/>
          </a:xfrm>
        </p:spPr>
        <p:txBody>
          <a:bodyPr vert="horz" lIns="91440" tIns="45720" rIns="91440" bIns="45720" rtlCol="0" anchor="t">
            <a:normAutofit/>
          </a:bodyPr>
          <a:lstStyle/>
          <a:p>
            <a:pPr>
              <a:lnSpc>
                <a:spcPct val="90000"/>
              </a:lnSpc>
              <a:buFont typeface="Arial,Sans-Serif" panose="020B0504020202020204" pitchFamily="34" charset="0"/>
              <a:buChar char="•"/>
            </a:pPr>
            <a:r>
              <a:rPr lang="en-US" sz="2200" b="1" err="1">
                <a:latin typeface="Calibri"/>
                <a:ea typeface="Calibri"/>
                <a:cs typeface="Calibri"/>
              </a:rPr>
              <a:t>shearfactor</a:t>
            </a:r>
            <a:r>
              <a:rPr lang="en-US" sz="2200" b="1">
                <a:latin typeface="Calibri"/>
                <a:ea typeface="Calibri"/>
                <a:cs typeface="Calibri"/>
              </a:rPr>
              <a:t> (number) </a:t>
            </a:r>
            <a:r>
              <a:rPr lang="en-US" sz="2200" b="1" err="1">
                <a:latin typeface="Calibri"/>
                <a:ea typeface="Calibri"/>
                <a:cs typeface="Calibri"/>
              </a:rPr>
              <a:t>عامل</a:t>
            </a:r>
            <a:r>
              <a:rPr lang="en-US" sz="2200" b="1">
                <a:latin typeface="Calibri"/>
                <a:ea typeface="Calibri"/>
                <a:cs typeface="Calibri"/>
              </a:rPr>
              <a:t> </a:t>
            </a:r>
            <a:r>
              <a:rPr lang="en-US" sz="2200" b="1" err="1">
                <a:latin typeface="Calibri"/>
                <a:ea typeface="Calibri"/>
                <a:cs typeface="Calibri"/>
              </a:rPr>
              <a:t>القص</a:t>
            </a:r>
            <a:r>
              <a:rPr lang="en-US" sz="2200" b="1">
                <a:latin typeface="Calibri"/>
                <a:ea typeface="Calibri"/>
                <a:cs typeface="Calibri"/>
              </a:rPr>
              <a:t>: </a:t>
            </a:r>
            <a:r>
              <a:rPr lang="en-US" sz="2200">
                <a:latin typeface="Calibri"/>
                <a:ea typeface="Calibri"/>
                <a:cs typeface="Calibri"/>
              </a:rPr>
              <a:t>Set or return the current </a:t>
            </a:r>
            <a:r>
              <a:rPr lang="en-US" sz="2200" err="1">
                <a:latin typeface="Calibri"/>
                <a:ea typeface="Calibri"/>
                <a:cs typeface="Calibri"/>
              </a:rPr>
              <a:t>shearfactor</a:t>
            </a:r>
            <a:r>
              <a:rPr lang="en-US" sz="2200">
                <a:latin typeface="Calibri"/>
                <a:ea typeface="Calibri"/>
                <a:cs typeface="Calibri"/>
              </a:rPr>
              <a:t>. Shear the </a:t>
            </a:r>
            <a:r>
              <a:rPr lang="en-US" sz="2200" err="1">
                <a:latin typeface="Calibri"/>
                <a:ea typeface="Calibri"/>
                <a:cs typeface="Calibri"/>
              </a:rPr>
              <a:t>turtleshape</a:t>
            </a:r>
            <a:r>
              <a:rPr lang="en-US" sz="2200">
                <a:latin typeface="Calibri"/>
                <a:ea typeface="Calibri"/>
                <a:cs typeface="Calibri"/>
              </a:rPr>
              <a:t> according to the given </a:t>
            </a:r>
            <a:r>
              <a:rPr lang="en-US" sz="2200" err="1">
                <a:latin typeface="Calibri"/>
                <a:ea typeface="Calibri"/>
                <a:cs typeface="Calibri"/>
              </a:rPr>
              <a:t>shearfactor</a:t>
            </a:r>
            <a:r>
              <a:rPr lang="en-US" sz="2200">
                <a:latin typeface="Calibri"/>
                <a:ea typeface="Calibri"/>
                <a:cs typeface="Calibri"/>
              </a:rPr>
              <a:t> shear, which is the tangent of the shear angle. Do </a:t>
            </a:r>
            <a:r>
              <a:rPr lang="en-US" sz="2200" i="1">
                <a:latin typeface="Calibri"/>
                <a:ea typeface="Calibri"/>
                <a:cs typeface="Calibri"/>
              </a:rPr>
              <a:t>not</a:t>
            </a:r>
            <a:r>
              <a:rPr lang="en-US" sz="2200">
                <a:latin typeface="Calibri"/>
                <a:ea typeface="Calibri"/>
                <a:cs typeface="Calibri"/>
              </a:rPr>
              <a:t> change the turtle’s heading (direction of movement). If shear is not given: return the current </a:t>
            </a:r>
            <a:r>
              <a:rPr lang="en-US" sz="2200" err="1">
                <a:latin typeface="Calibri"/>
                <a:ea typeface="Calibri"/>
                <a:cs typeface="Calibri"/>
              </a:rPr>
              <a:t>shearfactor</a:t>
            </a:r>
            <a:r>
              <a:rPr lang="en-US" sz="2200">
                <a:latin typeface="Calibri"/>
                <a:ea typeface="Calibri"/>
                <a:cs typeface="Calibri"/>
              </a:rPr>
              <a:t>, I. e. the tangent of the shear angle, by which lines parallel to the heading of the turtle are sheared.</a:t>
            </a:r>
          </a:p>
          <a:p>
            <a:pPr marL="0">
              <a:lnSpc>
                <a:spcPct val="90000"/>
              </a:lnSpc>
              <a:buFont typeface="Arial,Sans-Serif" panose="020B0504020202020204" pitchFamily="34" charset="0"/>
              <a:buChar char="•"/>
            </a:pPr>
            <a:r>
              <a:rPr lang="en-US" sz="2200" b="1">
                <a:latin typeface="Calibri"/>
                <a:ea typeface="Calibri"/>
                <a:cs typeface="Calibri"/>
              </a:rPr>
              <a:t>Example : </a:t>
            </a:r>
            <a:r>
              <a:rPr lang="en-US" sz="2200" err="1">
                <a:latin typeface="Calibri"/>
                <a:ea typeface="Calibri"/>
                <a:cs typeface="Calibri"/>
              </a:rPr>
              <a:t>turtle.shearfactor</a:t>
            </a:r>
            <a:r>
              <a:rPr lang="en-US" sz="2200">
                <a:latin typeface="Calibri"/>
                <a:ea typeface="Calibri"/>
                <a:cs typeface="Calibri"/>
              </a:rPr>
              <a:t> (0.5)</a:t>
            </a:r>
          </a:p>
          <a:p>
            <a:pPr>
              <a:lnSpc>
                <a:spcPct val="90000"/>
              </a:lnSpc>
              <a:buFont typeface="Arial,Sans-Serif" panose="020B0504020202020204" pitchFamily="34" charset="0"/>
              <a:buChar char="•"/>
            </a:pPr>
            <a:r>
              <a:rPr lang="en-US" sz="2200" b="1">
                <a:latin typeface="Calibri"/>
                <a:ea typeface="Calibri"/>
                <a:cs typeface="Calibri"/>
              </a:rPr>
              <a:t>tilt (angel) : </a:t>
            </a:r>
            <a:r>
              <a:rPr lang="en-US" sz="2200">
                <a:latin typeface="Calibri"/>
                <a:ea typeface="Calibri"/>
                <a:cs typeface="Calibri"/>
              </a:rPr>
              <a:t>Rotate the </a:t>
            </a:r>
            <a:r>
              <a:rPr lang="en-US" sz="2200" err="1">
                <a:latin typeface="Calibri"/>
                <a:ea typeface="Calibri"/>
                <a:cs typeface="Calibri"/>
              </a:rPr>
              <a:t>turtleshape</a:t>
            </a:r>
            <a:r>
              <a:rPr lang="en-US" sz="2200">
                <a:latin typeface="Calibri"/>
                <a:ea typeface="Calibri"/>
                <a:cs typeface="Calibri"/>
              </a:rPr>
              <a:t> by </a:t>
            </a:r>
            <a:r>
              <a:rPr lang="en-US" sz="2200" i="1">
                <a:latin typeface="Calibri"/>
                <a:ea typeface="Calibri"/>
                <a:cs typeface="Calibri"/>
              </a:rPr>
              <a:t>angle</a:t>
            </a:r>
            <a:r>
              <a:rPr lang="en-US" sz="2200">
                <a:latin typeface="Calibri"/>
                <a:ea typeface="Calibri"/>
                <a:cs typeface="Calibri"/>
              </a:rPr>
              <a:t> from its current tilt-angle, but </a:t>
            </a:r>
            <a:r>
              <a:rPr lang="en-US" sz="2200" b="1">
                <a:latin typeface="Calibri"/>
                <a:ea typeface="Calibri"/>
                <a:cs typeface="Calibri"/>
              </a:rPr>
              <a:t>do </a:t>
            </a:r>
            <a:r>
              <a:rPr lang="en-US" sz="2200" b="1" i="1">
                <a:latin typeface="Calibri"/>
                <a:ea typeface="Calibri"/>
                <a:cs typeface="Calibri"/>
              </a:rPr>
              <a:t>not</a:t>
            </a:r>
            <a:r>
              <a:rPr lang="en-US" sz="2200" b="1">
                <a:latin typeface="Calibri"/>
                <a:ea typeface="Calibri"/>
                <a:cs typeface="Calibri"/>
              </a:rPr>
              <a:t> change the turtle’s heading </a:t>
            </a:r>
            <a:r>
              <a:rPr lang="en-US" sz="2200">
                <a:latin typeface="Calibri"/>
                <a:ea typeface="Calibri"/>
                <a:cs typeface="Calibri"/>
              </a:rPr>
              <a:t>(direction of movement).</a:t>
            </a:r>
          </a:p>
          <a:p>
            <a:pPr marL="0">
              <a:lnSpc>
                <a:spcPct val="90000"/>
              </a:lnSpc>
              <a:buFont typeface="Arial,Sans-Serif" panose="020B0504020202020204" pitchFamily="34" charset="0"/>
              <a:buChar char="•"/>
            </a:pPr>
            <a:r>
              <a:rPr lang="en-US" sz="2200" b="1">
                <a:latin typeface="Calibri"/>
                <a:ea typeface="Calibri"/>
                <a:cs typeface="Calibri"/>
              </a:rPr>
              <a:t>Example : </a:t>
            </a:r>
            <a:r>
              <a:rPr lang="en-US" sz="2200" err="1">
                <a:latin typeface="Calibri"/>
                <a:ea typeface="Calibri"/>
                <a:cs typeface="Calibri"/>
              </a:rPr>
              <a:t>turtle.tilt</a:t>
            </a:r>
            <a:r>
              <a:rPr lang="en-US" sz="2200">
                <a:latin typeface="Calibri"/>
                <a:ea typeface="Calibri"/>
                <a:cs typeface="Calibri"/>
              </a:rPr>
              <a:t> (45) </a:t>
            </a:r>
          </a:p>
          <a:p>
            <a:pPr>
              <a:lnSpc>
                <a:spcPct val="90000"/>
              </a:lnSpc>
              <a:buFont typeface="Arial,Sans-Serif" panose="020B0504020202020204" pitchFamily="34" charset="0"/>
              <a:buChar char="•"/>
            </a:pPr>
            <a:r>
              <a:rPr lang="en-US" sz="2200" b="1" dirty="0" err="1">
                <a:latin typeface="Calibri"/>
                <a:ea typeface="Calibri"/>
                <a:cs typeface="Calibri"/>
              </a:rPr>
              <a:t>settiltangle</a:t>
            </a:r>
            <a:r>
              <a:rPr lang="en-US" sz="2200" b="1" dirty="0">
                <a:latin typeface="Calibri"/>
                <a:ea typeface="Calibri"/>
                <a:cs typeface="Calibri"/>
              </a:rPr>
              <a:t> (angel) = </a:t>
            </a:r>
            <a:r>
              <a:rPr lang="en-US" sz="2200" b="1" dirty="0" err="1">
                <a:latin typeface="Calibri"/>
                <a:ea typeface="Calibri"/>
                <a:cs typeface="Calibri"/>
              </a:rPr>
              <a:t>tiltangel</a:t>
            </a:r>
            <a:r>
              <a:rPr lang="en-US" sz="2200" b="1" dirty="0">
                <a:latin typeface="Calibri"/>
                <a:ea typeface="Calibri"/>
                <a:cs typeface="Calibri"/>
              </a:rPr>
              <a:t> (angel) : </a:t>
            </a:r>
            <a:r>
              <a:rPr lang="en-US" sz="2200" dirty="0">
                <a:latin typeface="Calibri"/>
                <a:ea typeface="Calibri"/>
                <a:cs typeface="Calibri"/>
              </a:rPr>
              <a:t>Rotate the </a:t>
            </a:r>
            <a:r>
              <a:rPr lang="en-US" sz="2200" dirty="0" err="1">
                <a:latin typeface="Calibri"/>
                <a:ea typeface="Calibri"/>
                <a:cs typeface="Calibri"/>
              </a:rPr>
              <a:t>turtleshape</a:t>
            </a:r>
            <a:r>
              <a:rPr lang="en-US" sz="2200" dirty="0">
                <a:latin typeface="Calibri"/>
                <a:ea typeface="Calibri"/>
                <a:cs typeface="Calibri"/>
              </a:rPr>
              <a:t> to point in the direction specified by </a:t>
            </a:r>
            <a:r>
              <a:rPr lang="en-US" sz="2200" i="1" dirty="0">
                <a:latin typeface="Calibri"/>
                <a:ea typeface="Calibri"/>
                <a:cs typeface="Calibri"/>
              </a:rPr>
              <a:t>angle</a:t>
            </a:r>
            <a:r>
              <a:rPr lang="en-US" sz="2200" dirty="0">
                <a:latin typeface="Calibri"/>
                <a:ea typeface="Calibri"/>
                <a:cs typeface="Calibri"/>
              </a:rPr>
              <a:t>, regardless of its current tilt-angle.</a:t>
            </a:r>
            <a:r>
              <a:rPr lang="en-US" sz="2200" b="1" dirty="0">
                <a:latin typeface="Calibri"/>
                <a:ea typeface="Calibri"/>
                <a:cs typeface="Calibri"/>
              </a:rPr>
              <a:t> </a:t>
            </a:r>
            <a:r>
              <a:rPr lang="en-US" sz="2200" b="1" i="1" dirty="0">
                <a:latin typeface="Calibri"/>
                <a:ea typeface="Calibri"/>
                <a:cs typeface="Calibri"/>
              </a:rPr>
              <a:t>Don’t </a:t>
            </a:r>
            <a:r>
              <a:rPr lang="en-US" sz="2200" b="1" dirty="0">
                <a:latin typeface="Calibri"/>
                <a:ea typeface="Calibri"/>
                <a:cs typeface="Calibri"/>
              </a:rPr>
              <a:t>change the turtle’s heading </a:t>
            </a:r>
            <a:r>
              <a:rPr lang="en-US" sz="2200" dirty="0">
                <a:latin typeface="Calibri"/>
                <a:ea typeface="Calibri"/>
                <a:cs typeface="Calibri"/>
              </a:rPr>
              <a:t>(direction of movement).</a:t>
            </a:r>
          </a:p>
          <a:p>
            <a:pPr marL="0">
              <a:lnSpc>
                <a:spcPct val="90000"/>
              </a:lnSpc>
              <a:buFont typeface="Arial,Sans-Serif" panose="020B0504020202020204" pitchFamily="34" charset="0"/>
              <a:buChar char="•"/>
            </a:pPr>
            <a:r>
              <a:rPr lang="en-US" sz="2200" b="1" dirty="0">
                <a:latin typeface="Calibri"/>
                <a:ea typeface="Calibri"/>
                <a:cs typeface="Calibri"/>
              </a:rPr>
              <a:t>Example : </a:t>
            </a:r>
            <a:r>
              <a:rPr lang="en-US" sz="2200" dirty="0" err="1">
                <a:latin typeface="Calibri"/>
                <a:ea typeface="Calibri"/>
                <a:cs typeface="Calibri"/>
              </a:rPr>
              <a:t>turtle.settiltangle</a:t>
            </a:r>
            <a:r>
              <a:rPr lang="en-US" sz="2200" dirty="0">
                <a:latin typeface="Calibri"/>
                <a:ea typeface="Calibri"/>
                <a:cs typeface="Calibri"/>
              </a:rPr>
              <a:t> (45)</a:t>
            </a:r>
            <a:endParaRPr lang="en-US" dirty="0"/>
          </a:p>
        </p:txBody>
      </p:sp>
    </p:spTree>
    <p:extLst>
      <p:ext uri="{BB962C8B-B14F-4D97-AF65-F5344CB8AC3E}">
        <p14:creationId xmlns:p14="http://schemas.microsoft.com/office/powerpoint/2010/main" val="3201690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D36904-C036-4198-8090-09C444AABD8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27185C-D877-1CA0-166A-661626A9F0AB}"/>
              </a:ext>
            </a:extLst>
          </p:cNvPr>
          <p:cNvSpPr>
            <a:spLocks noGrp="1"/>
          </p:cNvSpPr>
          <p:nvPr>
            <p:ph idx="1"/>
          </p:nvPr>
        </p:nvSpPr>
        <p:spPr>
          <a:xfrm>
            <a:off x="1088136" y="279009"/>
            <a:ext cx="9922764" cy="6007491"/>
          </a:xfrm>
        </p:spPr>
        <p:txBody>
          <a:bodyPr vert="horz" lIns="91440" tIns="45720" rIns="91440" bIns="45720" rtlCol="0" anchor="t">
            <a:normAutofit/>
          </a:bodyPr>
          <a:lstStyle/>
          <a:p>
            <a:pPr>
              <a:lnSpc>
                <a:spcPct val="90000"/>
              </a:lnSpc>
              <a:buFont typeface="Arial,Sans-Serif" panose="020B0504020202020204" pitchFamily="34" charset="0"/>
              <a:buChar char="•"/>
            </a:pPr>
            <a:r>
              <a:rPr lang="en-US" sz="2400" b="1" dirty="0" err="1">
                <a:latin typeface="Calibri"/>
                <a:ea typeface="Calibri"/>
                <a:cs typeface="Calibri"/>
              </a:rPr>
              <a:t>shapetransform</a:t>
            </a:r>
            <a:r>
              <a:rPr lang="en-US" sz="2400" b="1" dirty="0">
                <a:latin typeface="Calibri"/>
                <a:ea typeface="Calibri"/>
                <a:cs typeface="Calibri"/>
              </a:rPr>
              <a:t> (t11,t12,t21,t22) : </a:t>
            </a:r>
            <a:r>
              <a:rPr lang="en-US" sz="2400" dirty="0">
                <a:latin typeface="Calibri"/>
                <a:ea typeface="Calibri"/>
                <a:cs typeface="Calibri"/>
              </a:rPr>
              <a:t>Set or return the current transformation matrix of the turtle shape, t11&amp;t12 are the first row of matrix and t21&amp;t22 are the second row, </a:t>
            </a:r>
            <a:r>
              <a:rPr lang="en-US" sz="2400" b="1" dirty="0">
                <a:latin typeface="Calibri"/>
                <a:ea typeface="Calibri"/>
                <a:cs typeface="Calibri"/>
              </a:rPr>
              <a:t>note that </a:t>
            </a:r>
            <a:r>
              <a:rPr lang="en-US" sz="2400" dirty="0">
                <a:latin typeface="Calibri"/>
                <a:ea typeface="Calibri"/>
                <a:cs typeface="Calibri"/>
              </a:rPr>
              <a:t>The determinant (t11 * t22 - t12 * t21) must not be zero, otherwise an error is raised</a:t>
            </a:r>
          </a:p>
          <a:p>
            <a:pPr marL="0">
              <a:lnSpc>
                <a:spcPct val="90000"/>
              </a:lnSpc>
              <a:buFont typeface="Arial,Sans-Serif" panose="020B0504020202020204" pitchFamily="34" charset="0"/>
              <a:buChar char="•"/>
            </a:pPr>
            <a:r>
              <a:rPr lang="en-US" sz="2400" b="1" dirty="0">
                <a:latin typeface="Calibri"/>
                <a:ea typeface="Calibri"/>
                <a:cs typeface="Calibri"/>
              </a:rPr>
              <a:t>Example : </a:t>
            </a:r>
            <a:endParaRPr lang="en-US" sz="2400" dirty="0">
              <a:latin typeface="Calibri"/>
              <a:ea typeface="Calibri"/>
              <a:cs typeface="Calibri"/>
            </a:endParaRPr>
          </a:p>
          <a:p>
            <a:pPr marL="0">
              <a:lnSpc>
                <a:spcPct val="90000"/>
              </a:lnSpc>
              <a:buFont typeface="Arial,Sans-Serif" panose="020B0504020202020204" pitchFamily="34" charset="0"/>
              <a:buChar char="•"/>
            </a:pPr>
            <a:endParaRPr lang="en-US" sz="2400" dirty="0">
              <a:latin typeface="Calibri"/>
              <a:ea typeface="Calibri"/>
              <a:cs typeface="Calibri"/>
            </a:endParaRPr>
          </a:p>
          <a:p>
            <a:pPr marL="0">
              <a:lnSpc>
                <a:spcPct val="90000"/>
              </a:lnSpc>
              <a:buFont typeface="Arial,Sans-Serif" panose="020B0504020202020204" pitchFamily="34" charset="0"/>
              <a:buChar char="•"/>
            </a:pPr>
            <a:endParaRPr lang="en-US" sz="2400" dirty="0">
              <a:latin typeface="Calibri"/>
              <a:ea typeface="Calibri"/>
              <a:cs typeface="Calibri"/>
            </a:endParaRPr>
          </a:p>
          <a:p>
            <a:pPr marL="0">
              <a:lnSpc>
                <a:spcPct val="90000"/>
              </a:lnSpc>
              <a:buFont typeface="Arial,Sans-Serif" panose="020B0504020202020204" pitchFamily="34" charset="0"/>
              <a:buChar char="•"/>
            </a:pPr>
            <a:endParaRPr lang="en-US" sz="2400" dirty="0">
              <a:latin typeface="Calibri"/>
              <a:ea typeface="Calibri"/>
              <a:cs typeface="Calibri"/>
            </a:endParaRPr>
          </a:p>
          <a:p>
            <a:pPr marL="0">
              <a:lnSpc>
                <a:spcPct val="90000"/>
              </a:lnSpc>
              <a:buFont typeface="Arial,Sans-Serif" panose="020B0504020202020204" pitchFamily="34" charset="0"/>
              <a:buChar char="•"/>
            </a:pPr>
            <a:endParaRPr lang="en-US" sz="2400" dirty="0">
              <a:latin typeface="Calibri"/>
              <a:ea typeface="Calibri"/>
              <a:cs typeface="Calibri"/>
            </a:endParaRPr>
          </a:p>
          <a:p>
            <a:pPr marL="0">
              <a:lnSpc>
                <a:spcPct val="90000"/>
              </a:lnSpc>
              <a:buFont typeface="Arial,Sans-Serif" panose="020B0504020202020204" pitchFamily="34" charset="0"/>
              <a:buChar char="•"/>
            </a:pPr>
            <a:r>
              <a:rPr lang="en-US" sz="2400" b="1" dirty="0" err="1">
                <a:latin typeface="Calibri"/>
                <a:ea typeface="Calibri"/>
                <a:cs typeface="Calibri"/>
              </a:rPr>
              <a:t>get_shapepoly</a:t>
            </a:r>
            <a:r>
              <a:rPr lang="en-US" sz="2400" b="1" dirty="0">
                <a:latin typeface="Calibri"/>
                <a:ea typeface="Calibri"/>
                <a:cs typeface="Calibri"/>
              </a:rPr>
              <a:t> ( ) : </a:t>
            </a:r>
            <a:r>
              <a:rPr lang="en-US" sz="2400" dirty="0">
                <a:latin typeface="Calibri"/>
                <a:ea typeface="Calibri"/>
                <a:cs typeface="Calibri"/>
              </a:rPr>
              <a:t>Return the current shape polygon as tuple of coordinate pairs. This can be used to define a new shape or components of a compound shape.</a:t>
            </a:r>
            <a:endParaRPr lang="en-US" dirty="0"/>
          </a:p>
        </p:txBody>
      </p:sp>
      <p:pic>
        <p:nvPicPr>
          <p:cNvPr id="2" name="Picture 1" descr="A black and white rectangular object with black text&#10;&#10;AI-generated content may be incorrect.">
            <a:extLst>
              <a:ext uri="{FF2B5EF4-FFF2-40B4-BE49-F238E27FC236}">
                <a16:creationId xmlns:a16="http://schemas.microsoft.com/office/drawing/2014/main" id="{87E4885A-076C-D725-88A5-40B726879544}"/>
              </a:ext>
            </a:extLst>
          </p:cNvPr>
          <p:cNvPicPr>
            <a:picLocks noChangeAspect="1"/>
          </p:cNvPicPr>
          <p:nvPr/>
        </p:nvPicPr>
        <p:blipFill>
          <a:blip r:embed="rId2"/>
          <a:stretch>
            <a:fillRect/>
          </a:stretch>
        </p:blipFill>
        <p:spPr>
          <a:xfrm>
            <a:off x="2604721" y="1585912"/>
            <a:ext cx="8483111" cy="849190"/>
          </a:xfrm>
          <a:prstGeom prst="rect">
            <a:avLst/>
          </a:prstGeom>
        </p:spPr>
      </p:pic>
      <p:pic>
        <p:nvPicPr>
          <p:cNvPr id="4" name="Picture 3" descr="A blue turtle with a white background&#10;&#10;AI-generated content may be incorrect.">
            <a:extLst>
              <a:ext uri="{FF2B5EF4-FFF2-40B4-BE49-F238E27FC236}">
                <a16:creationId xmlns:a16="http://schemas.microsoft.com/office/drawing/2014/main" id="{955C0E4B-BF83-5F6B-1A85-0CF1A7E21104}"/>
              </a:ext>
            </a:extLst>
          </p:cNvPr>
          <p:cNvPicPr>
            <a:picLocks noChangeAspect="1"/>
          </p:cNvPicPr>
          <p:nvPr/>
        </p:nvPicPr>
        <p:blipFill>
          <a:blip r:embed="rId3"/>
          <a:stretch>
            <a:fillRect/>
          </a:stretch>
        </p:blipFill>
        <p:spPr>
          <a:xfrm>
            <a:off x="5824538" y="2640623"/>
            <a:ext cx="847725" cy="990600"/>
          </a:xfrm>
          <a:prstGeom prst="rect">
            <a:avLst/>
          </a:prstGeom>
        </p:spPr>
      </p:pic>
    </p:spTree>
    <p:extLst>
      <p:ext uri="{BB962C8B-B14F-4D97-AF65-F5344CB8AC3E}">
        <p14:creationId xmlns:p14="http://schemas.microsoft.com/office/powerpoint/2010/main" val="1981599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FF41E-276B-40F2-EC22-28E5EFD44E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4F463E-5503-293B-A4A1-70D59E71414F}"/>
              </a:ext>
            </a:extLst>
          </p:cNvPr>
          <p:cNvSpPr>
            <a:spLocks noGrp="1"/>
          </p:cNvSpPr>
          <p:nvPr>
            <p:ph idx="1"/>
          </p:nvPr>
        </p:nvSpPr>
        <p:spPr>
          <a:xfrm>
            <a:off x="1088136" y="279009"/>
            <a:ext cx="9922764" cy="6007491"/>
          </a:xfrm>
        </p:spPr>
        <p:txBody>
          <a:bodyPr vert="horz" lIns="91440" tIns="45720" rIns="91440" bIns="45720" rtlCol="0" anchor="t">
            <a:normAutofit/>
          </a:bodyPr>
          <a:lstStyle/>
          <a:p>
            <a:pPr>
              <a:lnSpc>
                <a:spcPct val="90000"/>
              </a:lnSpc>
              <a:buFont typeface="Arial,Sans-Serif" panose="020B0504020202020204" pitchFamily="34" charset="0"/>
              <a:buChar char="•"/>
            </a:pPr>
            <a:r>
              <a:rPr lang="en-US" b="1" dirty="0">
                <a:latin typeface="Calibri"/>
                <a:ea typeface="Calibri"/>
                <a:cs typeface="Calibri"/>
              </a:rPr>
              <a:t>onclick (fun, </a:t>
            </a:r>
            <a:r>
              <a:rPr lang="en-US" b="1" dirty="0" err="1">
                <a:latin typeface="Calibri"/>
                <a:ea typeface="Calibri"/>
                <a:cs typeface="Calibri"/>
              </a:rPr>
              <a:t>btn</a:t>
            </a:r>
            <a:r>
              <a:rPr lang="en-US" b="1" dirty="0">
                <a:latin typeface="Calibri"/>
                <a:ea typeface="Calibri"/>
                <a:cs typeface="Calibri"/>
              </a:rPr>
              <a:t>, add) / </a:t>
            </a:r>
            <a:r>
              <a:rPr lang="en-US" b="1" dirty="0" err="1">
                <a:latin typeface="Calibri"/>
                <a:ea typeface="Calibri"/>
                <a:cs typeface="Calibri"/>
              </a:rPr>
              <a:t>onscreenclick</a:t>
            </a:r>
            <a:r>
              <a:rPr lang="en-US" b="1" dirty="0">
                <a:latin typeface="Calibri"/>
                <a:ea typeface="Calibri"/>
                <a:cs typeface="Calibri"/>
              </a:rPr>
              <a:t> : </a:t>
            </a:r>
            <a:r>
              <a:rPr lang="en-US" dirty="0">
                <a:latin typeface="Calibri"/>
                <a:ea typeface="Calibri"/>
                <a:cs typeface="Calibri"/>
              </a:rPr>
              <a:t>Bind fun to mouse-click events on this turtle. If fun is None, existing bindings are removed.</a:t>
            </a:r>
          </a:p>
          <a:p>
            <a:pPr marL="0">
              <a:lnSpc>
                <a:spcPct val="90000"/>
              </a:lnSpc>
              <a:buFont typeface="Arial,Sans-Serif" panose="020B0504020202020204" pitchFamily="34" charset="0"/>
              <a:buChar char="•"/>
            </a:pPr>
            <a:r>
              <a:rPr lang="en-US" sz="1700" b="1" dirty="0">
                <a:latin typeface="Calibri"/>
                <a:ea typeface="Calibri"/>
                <a:cs typeface="Calibri"/>
              </a:rPr>
              <a:t>fun – </a:t>
            </a:r>
            <a:r>
              <a:rPr lang="en-US" sz="1700" dirty="0">
                <a:latin typeface="Calibri"/>
                <a:ea typeface="Calibri"/>
                <a:cs typeface="Calibri"/>
              </a:rPr>
              <a:t>a function with two arguments which will be called with the coordinates of the clicked point on the canvas</a:t>
            </a:r>
          </a:p>
          <a:p>
            <a:pPr marL="0">
              <a:lnSpc>
                <a:spcPct val="90000"/>
              </a:lnSpc>
              <a:buFont typeface="Arial,Sans-Serif" panose="020B0504020202020204" pitchFamily="34" charset="0"/>
              <a:buChar char="•"/>
            </a:pPr>
            <a:r>
              <a:rPr lang="en-US" sz="1700" b="1" dirty="0" err="1">
                <a:latin typeface="Calibri"/>
                <a:ea typeface="Calibri"/>
                <a:cs typeface="Calibri"/>
              </a:rPr>
              <a:t>btn</a:t>
            </a:r>
            <a:r>
              <a:rPr lang="en-US" sz="1700" b="1" dirty="0">
                <a:latin typeface="Calibri"/>
                <a:ea typeface="Calibri"/>
                <a:cs typeface="Calibri"/>
              </a:rPr>
              <a:t> – </a:t>
            </a:r>
            <a:r>
              <a:rPr lang="en-US" sz="1700" dirty="0">
                <a:latin typeface="Calibri"/>
                <a:ea typeface="Calibri"/>
                <a:cs typeface="Calibri"/>
              </a:rPr>
              <a:t>number of the mouse-button, defaults to 1 (left mouse button)</a:t>
            </a:r>
          </a:p>
          <a:p>
            <a:pPr marL="0">
              <a:lnSpc>
                <a:spcPct val="90000"/>
              </a:lnSpc>
              <a:buFont typeface="Arial,Sans-Serif" panose="020B0504020202020204" pitchFamily="34" charset="0"/>
              <a:buChar char="•"/>
            </a:pPr>
            <a:r>
              <a:rPr lang="en-US" sz="1700" b="1" dirty="0">
                <a:latin typeface="Calibri"/>
                <a:ea typeface="Calibri"/>
                <a:cs typeface="Calibri"/>
              </a:rPr>
              <a:t>add – </a:t>
            </a:r>
            <a:r>
              <a:rPr lang="en-US" sz="1700" dirty="0">
                <a:latin typeface="Calibri"/>
                <a:ea typeface="Calibri"/>
                <a:cs typeface="Calibri"/>
              </a:rPr>
              <a:t>True or False – if True, a new binding will be added, otherwise it will replace a former binding</a:t>
            </a:r>
          </a:p>
          <a:p>
            <a:pPr marL="0">
              <a:lnSpc>
                <a:spcPct val="90000"/>
              </a:lnSpc>
              <a:buFont typeface="Arial,Sans-Serif" panose="020B0504020202020204" pitchFamily="34" charset="0"/>
              <a:buChar char="•"/>
            </a:pPr>
            <a:r>
              <a:rPr lang="en-US" b="1" dirty="0">
                <a:latin typeface="Calibri"/>
                <a:ea typeface="Calibri"/>
                <a:cs typeface="Calibri"/>
              </a:rPr>
              <a:t>Example : </a:t>
            </a:r>
            <a:r>
              <a:rPr lang="en-US" dirty="0">
                <a:latin typeface="Calibri"/>
                <a:ea typeface="Calibri"/>
                <a:cs typeface="Calibri"/>
              </a:rPr>
              <a:t>def turn(x, y) : </a:t>
            </a:r>
            <a:r>
              <a:rPr lang="en-US" dirty="0" err="1">
                <a:latin typeface="Calibri"/>
                <a:ea typeface="Calibri"/>
                <a:cs typeface="Calibri"/>
              </a:rPr>
              <a:t>turtle.left</a:t>
            </a:r>
            <a:r>
              <a:rPr lang="en-US" dirty="0">
                <a:latin typeface="Calibri"/>
                <a:ea typeface="Calibri"/>
                <a:cs typeface="Calibri"/>
              </a:rPr>
              <a:t> (90) </a:t>
            </a:r>
            <a:r>
              <a:rPr lang="en-US" dirty="0" err="1">
                <a:latin typeface="Calibri"/>
                <a:ea typeface="Calibri"/>
                <a:cs typeface="Calibri"/>
              </a:rPr>
              <a:t>turtle.onclick</a:t>
            </a:r>
            <a:r>
              <a:rPr lang="en-US" dirty="0">
                <a:latin typeface="Calibri"/>
                <a:ea typeface="Calibri"/>
                <a:cs typeface="Calibri"/>
              </a:rPr>
              <a:t>(turn,1,True)</a:t>
            </a:r>
          </a:p>
          <a:p>
            <a:pPr>
              <a:lnSpc>
                <a:spcPct val="90000"/>
              </a:lnSpc>
              <a:buFont typeface="Arial,Sans-Serif" panose="020B0504020202020204" pitchFamily="34" charset="0"/>
              <a:buChar char="•"/>
            </a:pPr>
            <a:r>
              <a:rPr lang="en-US" b="1" dirty="0" err="1">
                <a:latin typeface="Calibri"/>
                <a:ea typeface="Calibri"/>
                <a:cs typeface="Calibri"/>
              </a:rPr>
              <a:t>onrelease</a:t>
            </a:r>
            <a:r>
              <a:rPr lang="en-US" b="1" dirty="0">
                <a:latin typeface="Calibri"/>
                <a:ea typeface="Calibri"/>
                <a:cs typeface="Calibri"/>
              </a:rPr>
              <a:t> (fun, </a:t>
            </a:r>
            <a:r>
              <a:rPr lang="en-US" b="1" dirty="0" err="1">
                <a:latin typeface="Calibri"/>
                <a:ea typeface="Calibri"/>
                <a:cs typeface="Calibri"/>
              </a:rPr>
              <a:t>btn</a:t>
            </a:r>
            <a:r>
              <a:rPr lang="en-US" b="1" dirty="0">
                <a:latin typeface="Calibri"/>
                <a:ea typeface="Calibri"/>
                <a:cs typeface="Calibri"/>
              </a:rPr>
              <a:t>, add) : </a:t>
            </a:r>
            <a:r>
              <a:rPr lang="en-US" dirty="0">
                <a:latin typeface="Calibri"/>
                <a:ea typeface="Calibri"/>
                <a:cs typeface="Calibri"/>
              </a:rPr>
              <a:t>Bind fun to mouse-button-release events on this turtle. If fun is None, existing bindings are removed.</a:t>
            </a:r>
          </a:p>
          <a:p>
            <a:pPr marL="0">
              <a:lnSpc>
                <a:spcPct val="90000"/>
              </a:lnSpc>
              <a:buFont typeface="Arial,Sans-Serif" panose="020B0504020202020204" pitchFamily="34" charset="0"/>
              <a:buChar char="•"/>
            </a:pPr>
            <a:r>
              <a:rPr lang="en-US" b="1" dirty="0">
                <a:latin typeface="Calibri"/>
                <a:ea typeface="Calibri"/>
                <a:cs typeface="Calibri"/>
              </a:rPr>
              <a:t>Example :</a:t>
            </a:r>
            <a:endParaRPr lang="en-US" dirty="0">
              <a:latin typeface="Calibri"/>
              <a:ea typeface="Calibri"/>
              <a:cs typeface="Calibri"/>
            </a:endParaRPr>
          </a:p>
          <a:p>
            <a:endParaRPr lang="en-US" dirty="0"/>
          </a:p>
        </p:txBody>
      </p:sp>
      <p:pic>
        <p:nvPicPr>
          <p:cNvPr id="2" name="Picture 1" descr="A screen shot of a computer code&#10;&#10;AI-generated content may be incorrect.">
            <a:extLst>
              <a:ext uri="{FF2B5EF4-FFF2-40B4-BE49-F238E27FC236}">
                <a16:creationId xmlns:a16="http://schemas.microsoft.com/office/drawing/2014/main" id="{3AFB37C6-AF4A-70CE-9CF5-AA3AA706AEEF}"/>
              </a:ext>
            </a:extLst>
          </p:cNvPr>
          <p:cNvPicPr>
            <a:picLocks noChangeAspect="1"/>
          </p:cNvPicPr>
          <p:nvPr/>
        </p:nvPicPr>
        <p:blipFill>
          <a:blip r:embed="rId2"/>
          <a:stretch>
            <a:fillRect/>
          </a:stretch>
        </p:blipFill>
        <p:spPr>
          <a:xfrm>
            <a:off x="4323617" y="2994880"/>
            <a:ext cx="3896458" cy="1841256"/>
          </a:xfrm>
          <a:prstGeom prst="rect">
            <a:avLst/>
          </a:prstGeom>
        </p:spPr>
      </p:pic>
      <p:sp>
        <p:nvSpPr>
          <p:cNvPr id="4" name="TextBox 3">
            <a:extLst>
              <a:ext uri="{FF2B5EF4-FFF2-40B4-BE49-F238E27FC236}">
                <a16:creationId xmlns:a16="http://schemas.microsoft.com/office/drawing/2014/main" id="{4069DD53-A66D-40A5-4784-366F3708892D}"/>
              </a:ext>
            </a:extLst>
          </p:cNvPr>
          <p:cNvSpPr txBox="1"/>
          <p:nvPr/>
        </p:nvSpPr>
        <p:spPr>
          <a:xfrm>
            <a:off x="1090247" y="4841630"/>
            <a:ext cx="6775938"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Arial,Sans-Serif"/>
              <a:buChar char="•"/>
            </a:pPr>
            <a:r>
              <a:rPr lang="en-US" b="1">
                <a:latin typeface="Calibri"/>
                <a:cs typeface="Arial"/>
              </a:rPr>
              <a:t>ondrag (fun, btn, add) : </a:t>
            </a:r>
            <a:r>
              <a:rPr lang="en-US">
                <a:latin typeface="Calibri"/>
                <a:cs typeface="Arial"/>
              </a:rPr>
              <a:t>Bind fun to mouse-move events on this turtle. If fun is None, existing bindings are removed.​</a:t>
            </a:r>
          </a:p>
          <a:p>
            <a:pPr indent="-228600">
              <a:buFont typeface="Arial,Sans-Serif"/>
              <a:buChar char="•"/>
            </a:pPr>
            <a:r>
              <a:rPr lang="en-US">
                <a:latin typeface="Calibri"/>
                <a:cs typeface="Arial"/>
              </a:rPr>
              <a:t>Remark: Every sequence of mouse-move-events on a turtle is preceded by a mouse-click event on that turtle.​</a:t>
            </a:r>
          </a:p>
          <a:p>
            <a:pPr indent="-228600">
              <a:buFont typeface="Arial,Sans-Serif"/>
              <a:buChar char="•"/>
            </a:pPr>
            <a:r>
              <a:rPr lang="en-US" b="1">
                <a:latin typeface="Calibri"/>
                <a:cs typeface="Arial"/>
              </a:rPr>
              <a:t>Example :</a:t>
            </a:r>
          </a:p>
        </p:txBody>
      </p:sp>
      <p:pic>
        <p:nvPicPr>
          <p:cNvPr id="5" name="Picture 4" descr="A black and white rectangle with black text&#10;&#10;AI-generated content may be incorrect.">
            <a:extLst>
              <a:ext uri="{FF2B5EF4-FFF2-40B4-BE49-F238E27FC236}">
                <a16:creationId xmlns:a16="http://schemas.microsoft.com/office/drawing/2014/main" id="{9A04806B-CA86-901F-8C27-DE2F8FD4264A}"/>
              </a:ext>
            </a:extLst>
          </p:cNvPr>
          <p:cNvPicPr>
            <a:picLocks noChangeAspect="1"/>
          </p:cNvPicPr>
          <p:nvPr/>
        </p:nvPicPr>
        <p:blipFill>
          <a:blip r:embed="rId3"/>
          <a:stretch>
            <a:fillRect/>
          </a:stretch>
        </p:blipFill>
        <p:spPr>
          <a:xfrm>
            <a:off x="7490679" y="5728922"/>
            <a:ext cx="4279655" cy="863110"/>
          </a:xfrm>
          <a:prstGeom prst="rect">
            <a:avLst/>
          </a:prstGeom>
        </p:spPr>
      </p:pic>
    </p:spTree>
    <p:extLst>
      <p:ext uri="{BB962C8B-B14F-4D97-AF65-F5344CB8AC3E}">
        <p14:creationId xmlns:p14="http://schemas.microsoft.com/office/powerpoint/2010/main" val="824899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55F0D-F75A-6E16-B6CA-A680E121661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031C47-2A8D-D257-730E-388B5DF2B3A8}"/>
              </a:ext>
            </a:extLst>
          </p:cNvPr>
          <p:cNvSpPr>
            <a:spLocks noGrp="1"/>
          </p:cNvSpPr>
          <p:nvPr>
            <p:ph idx="1"/>
          </p:nvPr>
        </p:nvSpPr>
        <p:spPr>
          <a:xfrm>
            <a:off x="1088136" y="279009"/>
            <a:ext cx="9922764" cy="6007491"/>
          </a:xfrm>
        </p:spPr>
        <p:txBody>
          <a:bodyPr vert="horz" lIns="91440" tIns="45720" rIns="91440" bIns="45720" rtlCol="0" anchor="t">
            <a:normAutofit/>
          </a:bodyPr>
          <a:lstStyle/>
          <a:p>
            <a:pPr>
              <a:lnSpc>
                <a:spcPct val="90000"/>
              </a:lnSpc>
              <a:buFont typeface="Arial,Sans-Serif" panose="020B0504020202020204" pitchFamily="34" charset="0"/>
              <a:buChar char="•"/>
            </a:pPr>
            <a:r>
              <a:rPr lang="en-US" sz="1700" b="1">
                <a:latin typeface="Calibri"/>
                <a:ea typeface="Calibri"/>
                <a:cs typeface="Calibri"/>
              </a:rPr>
              <a:t>listen ( ) : </a:t>
            </a:r>
            <a:r>
              <a:rPr lang="en-US" sz="1700">
                <a:latin typeface="Calibri"/>
                <a:ea typeface="Calibri"/>
                <a:cs typeface="Calibri"/>
              </a:rPr>
              <a:t>Set focus on </a:t>
            </a:r>
            <a:r>
              <a:rPr lang="en-US" sz="1700" err="1">
                <a:latin typeface="Calibri"/>
                <a:ea typeface="Calibri"/>
                <a:cs typeface="Calibri"/>
              </a:rPr>
              <a:t>TurtleScreen</a:t>
            </a:r>
            <a:r>
              <a:rPr lang="en-US" sz="1700">
                <a:latin typeface="Calibri"/>
                <a:ea typeface="Calibri"/>
                <a:cs typeface="Calibri"/>
              </a:rPr>
              <a:t> (in order to collect key-events).</a:t>
            </a:r>
            <a:endParaRPr lang="en-US" sz="1700" dirty="0">
              <a:latin typeface="Calibri"/>
              <a:ea typeface="Calibri"/>
              <a:cs typeface="Calibri"/>
            </a:endParaRPr>
          </a:p>
          <a:p>
            <a:pPr>
              <a:lnSpc>
                <a:spcPct val="90000"/>
              </a:lnSpc>
              <a:buFont typeface="Arial,Sans-Serif" panose="020B0504020202020204" pitchFamily="34" charset="0"/>
              <a:buChar char="•"/>
            </a:pPr>
            <a:r>
              <a:rPr lang="en-US" sz="1700" b="1" dirty="0" err="1">
                <a:latin typeface="Calibri"/>
                <a:ea typeface="Calibri"/>
                <a:cs typeface="Calibri"/>
              </a:rPr>
              <a:t>onkey</a:t>
            </a:r>
            <a:r>
              <a:rPr lang="en-US" sz="1700" b="1" dirty="0">
                <a:latin typeface="Calibri"/>
                <a:ea typeface="Calibri"/>
                <a:cs typeface="Calibri"/>
              </a:rPr>
              <a:t> / </a:t>
            </a:r>
            <a:r>
              <a:rPr lang="en-US" sz="1700" b="1" dirty="0" err="1">
                <a:latin typeface="Calibri"/>
                <a:ea typeface="Calibri"/>
                <a:cs typeface="Calibri"/>
              </a:rPr>
              <a:t>onkeyrelease</a:t>
            </a:r>
            <a:r>
              <a:rPr lang="en-US" sz="1700" b="1" dirty="0">
                <a:latin typeface="Calibri"/>
                <a:ea typeface="Calibri"/>
                <a:cs typeface="Calibri"/>
              </a:rPr>
              <a:t> (fun, key) : </a:t>
            </a:r>
            <a:r>
              <a:rPr lang="en-US" sz="1700" dirty="0">
                <a:latin typeface="Calibri"/>
                <a:ea typeface="Calibri"/>
                <a:cs typeface="Calibri"/>
              </a:rPr>
              <a:t>Bind fun to key-release event of key. If fun is None, event bindings are removed. Remark: in order to be able to register key-events, </a:t>
            </a:r>
            <a:r>
              <a:rPr lang="en-US" sz="1700" dirty="0" err="1">
                <a:latin typeface="Calibri"/>
                <a:ea typeface="Calibri"/>
                <a:cs typeface="Calibri"/>
              </a:rPr>
              <a:t>TurtleScreen</a:t>
            </a:r>
            <a:r>
              <a:rPr lang="en-US" sz="1700" dirty="0">
                <a:latin typeface="Calibri"/>
                <a:ea typeface="Calibri"/>
                <a:cs typeface="Calibri"/>
              </a:rPr>
              <a:t> must have the focus</a:t>
            </a:r>
          </a:p>
          <a:p>
            <a:pPr marL="0">
              <a:lnSpc>
                <a:spcPct val="90000"/>
              </a:lnSpc>
              <a:buFont typeface="Arial,Sans-Serif" panose="020B0504020202020204" pitchFamily="34" charset="0"/>
              <a:buChar char="•"/>
            </a:pPr>
            <a:r>
              <a:rPr lang="en-US" sz="1700" b="1" dirty="0">
                <a:latin typeface="Calibri"/>
                <a:ea typeface="Calibri"/>
                <a:cs typeface="Calibri"/>
              </a:rPr>
              <a:t>Example : </a:t>
            </a:r>
            <a:r>
              <a:rPr lang="en-US" sz="1700" dirty="0">
                <a:latin typeface="Calibri"/>
                <a:ea typeface="Calibri"/>
                <a:cs typeface="Calibri"/>
              </a:rPr>
              <a:t>def f ( ): </a:t>
            </a:r>
            <a:r>
              <a:rPr lang="en-US" sz="1700" dirty="0" err="1">
                <a:latin typeface="Calibri"/>
                <a:ea typeface="Calibri"/>
                <a:cs typeface="Calibri"/>
              </a:rPr>
              <a:t>turtle.fd</a:t>
            </a:r>
            <a:r>
              <a:rPr lang="en-US" sz="1700" dirty="0">
                <a:latin typeface="Calibri"/>
                <a:ea typeface="Calibri"/>
                <a:cs typeface="Calibri"/>
              </a:rPr>
              <a:t>(50) </a:t>
            </a:r>
            <a:r>
              <a:rPr lang="en-US" sz="1700" dirty="0" err="1">
                <a:latin typeface="Calibri"/>
                <a:ea typeface="Calibri"/>
                <a:cs typeface="Calibri"/>
              </a:rPr>
              <a:t>turtle.lt</a:t>
            </a:r>
            <a:r>
              <a:rPr lang="en-US" sz="1700" dirty="0">
                <a:latin typeface="Calibri"/>
                <a:ea typeface="Calibri"/>
                <a:cs typeface="Calibri"/>
              </a:rPr>
              <a:t>(60)</a:t>
            </a:r>
          </a:p>
          <a:p>
            <a:pPr marL="0">
              <a:lnSpc>
                <a:spcPct val="90000"/>
              </a:lnSpc>
              <a:buFont typeface="Arial,Sans-Serif" panose="020B0504020202020204" pitchFamily="34" charset="0"/>
              <a:buChar char="•"/>
            </a:pPr>
            <a:r>
              <a:rPr lang="en-US" sz="1700" dirty="0" err="1">
                <a:latin typeface="Calibri"/>
                <a:ea typeface="Calibri"/>
                <a:cs typeface="Calibri"/>
              </a:rPr>
              <a:t>turtle.onkey</a:t>
            </a:r>
            <a:r>
              <a:rPr lang="en-US" sz="1700" dirty="0">
                <a:latin typeface="Calibri"/>
                <a:ea typeface="Calibri"/>
                <a:cs typeface="Calibri"/>
              </a:rPr>
              <a:t>(f, "Up") </a:t>
            </a:r>
            <a:r>
              <a:rPr lang="en-US" sz="1700" dirty="0" err="1">
                <a:latin typeface="Calibri"/>
                <a:ea typeface="Calibri"/>
                <a:cs typeface="Calibri"/>
              </a:rPr>
              <a:t>turtle.listen</a:t>
            </a:r>
            <a:r>
              <a:rPr lang="en-US" sz="1700" dirty="0">
                <a:latin typeface="Calibri"/>
                <a:ea typeface="Calibri"/>
                <a:cs typeface="Calibri"/>
              </a:rPr>
              <a:t>( )</a:t>
            </a:r>
          </a:p>
          <a:p>
            <a:pPr>
              <a:lnSpc>
                <a:spcPct val="90000"/>
              </a:lnSpc>
              <a:buFont typeface="Arial,Sans-Serif" panose="020B0504020202020204" pitchFamily="34" charset="0"/>
              <a:buChar char="•"/>
            </a:pPr>
            <a:r>
              <a:rPr lang="en-US" sz="1700" b="1" dirty="0" err="1">
                <a:latin typeface="Calibri"/>
                <a:ea typeface="Calibri"/>
                <a:cs typeface="Calibri"/>
              </a:rPr>
              <a:t>ontimer</a:t>
            </a:r>
            <a:r>
              <a:rPr lang="en-US" sz="1700" b="1" dirty="0">
                <a:latin typeface="Calibri"/>
                <a:ea typeface="Calibri"/>
                <a:cs typeface="Calibri"/>
              </a:rPr>
              <a:t> (fun, t) : </a:t>
            </a:r>
            <a:r>
              <a:rPr lang="en-US" sz="1700" dirty="0">
                <a:latin typeface="Calibri"/>
                <a:ea typeface="Calibri"/>
                <a:cs typeface="Calibri"/>
              </a:rPr>
              <a:t>Install a timer that calls </a:t>
            </a:r>
            <a:r>
              <a:rPr lang="en-US" sz="1700" i="1" dirty="0">
                <a:latin typeface="Calibri"/>
                <a:ea typeface="Calibri"/>
                <a:cs typeface="Calibri"/>
              </a:rPr>
              <a:t>fun</a:t>
            </a:r>
            <a:r>
              <a:rPr lang="en-US" sz="1700" dirty="0">
                <a:latin typeface="Calibri"/>
                <a:ea typeface="Calibri"/>
                <a:cs typeface="Calibri"/>
              </a:rPr>
              <a:t> after </a:t>
            </a:r>
            <a:r>
              <a:rPr lang="en-US" sz="1700" i="1" dirty="0">
                <a:latin typeface="Calibri"/>
                <a:ea typeface="Calibri"/>
                <a:cs typeface="Calibri"/>
              </a:rPr>
              <a:t>t</a:t>
            </a:r>
            <a:r>
              <a:rPr lang="en-US" sz="1700" dirty="0">
                <a:latin typeface="Calibri"/>
                <a:ea typeface="Calibri"/>
                <a:cs typeface="Calibri"/>
              </a:rPr>
              <a:t> milliseconds</a:t>
            </a:r>
          </a:p>
          <a:p>
            <a:pPr marL="0">
              <a:lnSpc>
                <a:spcPct val="90000"/>
              </a:lnSpc>
              <a:buFont typeface="Arial,Sans-Serif" panose="020B0504020202020204" pitchFamily="34" charset="0"/>
              <a:buChar char="•"/>
            </a:pPr>
            <a:r>
              <a:rPr lang="en-US" sz="1700" b="1" dirty="0">
                <a:latin typeface="Calibri"/>
                <a:ea typeface="Calibri"/>
                <a:cs typeface="Calibri"/>
              </a:rPr>
              <a:t>Example:.</a:t>
            </a:r>
            <a:r>
              <a:rPr lang="en-US" sz="1700" dirty="0">
                <a:latin typeface="Calibri"/>
                <a:ea typeface="Calibri"/>
                <a:cs typeface="Calibri"/>
              </a:rPr>
              <a:t> </a:t>
            </a:r>
          </a:p>
          <a:p>
            <a:endParaRPr lang="en-US" dirty="0"/>
          </a:p>
        </p:txBody>
      </p:sp>
      <p:pic>
        <p:nvPicPr>
          <p:cNvPr id="4" name="Picture 3" descr="A black text on a white background&#10;&#10;AI-generated content may be incorrect.">
            <a:extLst>
              <a:ext uri="{FF2B5EF4-FFF2-40B4-BE49-F238E27FC236}">
                <a16:creationId xmlns:a16="http://schemas.microsoft.com/office/drawing/2014/main" id="{8A266001-FB78-F5D5-9C0F-3C1E0EE9C9EC}"/>
              </a:ext>
            </a:extLst>
          </p:cNvPr>
          <p:cNvPicPr>
            <a:picLocks noChangeAspect="1"/>
          </p:cNvPicPr>
          <p:nvPr/>
        </p:nvPicPr>
        <p:blipFill>
          <a:blip r:embed="rId2"/>
          <a:stretch>
            <a:fillRect/>
          </a:stretch>
        </p:blipFill>
        <p:spPr>
          <a:xfrm>
            <a:off x="2717189" y="2215662"/>
            <a:ext cx="3756513" cy="1207476"/>
          </a:xfrm>
          <a:prstGeom prst="rect">
            <a:avLst/>
          </a:prstGeom>
        </p:spPr>
      </p:pic>
      <p:sp>
        <p:nvSpPr>
          <p:cNvPr id="5" name="TextBox 4">
            <a:extLst>
              <a:ext uri="{FF2B5EF4-FFF2-40B4-BE49-F238E27FC236}">
                <a16:creationId xmlns:a16="http://schemas.microsoft.com/office/drawing/2014/main" id="{6F4EDD4F-12AE-18F9-F299-C26CD96398D5}"/>
              </a:ext>
            </a:extLst>
          </p:cNvPr>
          <p:cNvSpPr txBox="1"/>
          <p:nvPr/>
        </p:nvSpPr>
        <p:spPr>
          <a:xfrm>
            <a:off x="1090247" y="3282461"/>
            <a:ext cx="10339753"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Arial,Sans-Serif"/>
              <a:buChar char="•"/>
            </a:pPr>
            <a:r>
              <a:rPr lang="en-US" b="1" dirty="0">
                <a:latin typeface="Calibri"/>
                <a:cs typeface="Arial"/>
              </a:rPr>
              <a:t>delay (num) : </a:t>
            </a:r>
            <a:r>
              <a:rPr lang="en-US" dirty="0">
                <a:latin typeface="Calibri"/>
                <a:cs typeface="Arial"/>
              </a:rPr>
              <a:t>Set or return the drawing </a:t>
            </a:r>
            <a:r>
              <a:rPr lang="en-US" i="1" dirty="0">
                <a:latin typeface="Calibri"/>
                <a:cs typeface="Arial"/>
              </a:rPr>
              <a:t>delay</a:t>
            </a:r>
            <a:r>
              <a:rPr lang="en-US" dirty="0">
                <a:latin typeface="Calibri"/>
                <a:cs typeface="Arial"/>
              </a:rPr>
              <a:t> in milliseconds. (This is approximately the time interval between two consecutive canvas updates.) The longer the drawing delay, the slower the animation.​</a:t>
            </a:r>
            <a:endParaRPr lang="en-US">
              <a:latin typeface="Calibri"/>
              <a:ea typeface="Calibri"/>
              <a:cs typeface="Arial"/>
            </a:endParaRPr>
          </a:p>
          <a:p>
            <a:pPr indent="-228600">
              <a:buFont typeface="Arial,Sans-Serif"/>
              <a:buChar char="•"/>
            </a:pPr>
            <a:r>
              <a:rPr lang="en-US" b="1" dirty="0">
                <a:latin typeface="Calibri"/>
                <a:cs typeface="Arial"/>
              </a:rPr>
              <a:t>Example : </a:t>
            </a:r>
            <a:r>
              <a:rPr lang="en-US" dirty="0" err="1">
                <a:latin typeface="Calibri"/>
                <a:cs typeface="Arial"/>
              </a:rPr>
              <a:t>turtle.delay</a:t>
            </a:r>
            <a:r>
              <a:rPr lang="en-US" dirty="0">
                <a:latin typeface="Calibri"/>
                <a:cs typeface="Arial"/>
              </a:rPr>
              <a:t> (1004)​</a:t>
            </a:r>
            <a:endParaRPr lang="en-US">
              <a:latin typeface="Calibri"/>
              <a:ea typeface="Calibri"/>
              <a:cs typeface="Arial"/>
            </a:endParaRPr>
          </a:p>
          <a:p>
            <a:pPr marL="228600" indent="-228600">
              <a:buFont typeface="Arial,Sans-Serif"/>
              <a:buChar char="•"/>
            </a:pPr>
            <a:r>
              <a:rPr lang="en-US" b="1" dirty="0">
                <a:latin typeface="Calibri"/>
                <a:cs typeface="Arial"/>
              </a:rPr>
              <a:t>tracer (n, delay) : </a:t>
            </a:r>
            <a:r>
              <a:rPr lang="en-US" dirty="0">
                <a:latin typeface="Calibri"/>
                <a:cs typeface="Arial"/>
              </a:rPr>
              <a:t>Turn turtle animation on/off and set delay for update drawings. If n is given, only each n-</a:t>
            </a:r>
            <a:r>
              <a:rPr lang="en-US" dirty="0" err="1">
                <a:latin typeface="Calibri"/>
                <a:cs typeface="Arial"/>
              </a:rPr>
              <a:t>th</a:t>
            </a:r>
            <a:r>
              <a:rPr lang="en-US" dirty="0">
                <a:latin typeface="Calibri"/>
                <a:cs typeface="Arial"/>
              </a:rPr>
              <a:t> regular screen update is really performed. (Can be used to accelerate the drawing of complex graphics.) When called without arguments, returns the currently stored value of n. Second argument sets delay value ​</a:t>
            </a:r>
            <a:endParaRPr lang="en-US">
              <a:latin typeface="Calibri"/>
              <a:ea typeface="Calibri"/>
              <a:cs typeface="Arial"/>
            </a:endParaRPr>
          </a:p>
          <a:p>
            <a:pPr indent="-228600">
              <a:buFont typeface="Arial,Sans-Serif"/>
              <a:buChar char="•"/>
            </a:pPr>
            <a:r>
              <a:rPr lang="en-US" b="1" dirty="0">
                <a:latin typeface="Calibri"/>
                <a:cs typeface="Arial"/>
              </a:rPr>
              <a:t>Example : </a:t>
            </a:r>
            <a:r>
              <a:rPr lang="en-US" dirty="0" err="1">
                <a:latin typeface="Calibri"/>
                <a:cs typeface="Arial"/>
              </a:rPr>
              <a:t>turtle.tracer</a:t>
            </a:r>
            <a:r>
              <a:rPr lang="en-US" dirty="0">
                <a:latin typeface="Calibri"/>
                <a:cs typeface="Arial"/>
              </a:rPr>
              <a:t>(1,25)</a:t>
            </a:r>
            <a:endParaRPr lang="en-US" dirty="0">
              <a:latin typeface="Calibri"/>
              <a:ea typeface="Calibri"/>
              <a:cs typeface="Arial"/>
            </a:endParaRPr>
          </a:p>
        </p:txBody>
      </p:sp>
    </p:spTree>
    <p:extLst>
      <p:ext uri="{BB962C8B-B14F-4D97-AF65-F5344CB8AC3E}">
        <p14:creationId xmlns:p14="http://schemas.microsoft.com/office/powerpoint/2010/main" val="38652230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FF354-7660-D35A-47C1-FF22A58548DE}"/>
              </a:ext>
            </a:extLst>
          </p:cNvPr>
          <p:cNvSpPr>
            <a:spLocks noGrp="1"/>
          </p:cNvSpPr>
          <p:nvPr>
            <p:ph type="title"/>
          </p:nvPr>
        </p:nvSpPr>
        <p:spPr/>
        <p:txBody>
          <a:bodyPr/>
          <a:lstStyle/>
          <a:p>
            <a:r>
              <a:rPr lang="en-US" dirty="0"/>
              <a:t>examples</a:t>
            </a:r>
          </a:p>
        </p:txBody>
      </p:sp>
      <p:sp>
        <p:nvSpPr>
          <p:cNvPr id="3" name="Content Placeholder 2">
            <a:extLst>
              <a:ext uri="{FF2B5EF4-FFF2-40B4-BE49-F238E27FC236}">
                <a16:creationId xmlns:a16="http://schemas.microsoft.com/office/drawing/2014/main" id="{B573C9E1-E640-F82B-23C7-FE0712EF02FF}"/>
              </a:ext>
            </a:extLst>
          </p:cNvPr>
          <p:cNvSpPr>
            <a:spLocks noGrp="1"/>
          </p:cNvSpPr>
          <p:nvPr>
            <p:ph idx="1"/>
          </p:nvPr>
        </p:nvSpPr>
        <p:spPr/>
        <p:txBody>
          <a:bodyPr vert="horz" lIns="91440" tIns="45720" rIns="91440" bIns="45720" rtlCol="0" anchor="t">
            <a:normAutofit/>
          </a:bodyPr>
          <a:lstStyle/>
          <a:p>
            <a:pPr>
              <a:lnSpc>
                <a:spcPct val="100000"/>
              </a:lnSpc>
            </a:pPr>
            <a:r>
              <a:rPr lang="en-US" sz="2400">
                <a:solidFill>
                  <a:srgbClr val="404040"/>
                </a:solidFill>
                <a:latin typeface="Calibri"/>
                <a:ea typeface="Calibri"/>
                <a:cs typeface="Calibri"/>
              </a:rPr>
              <a:t>let’s make this star </a:t>
            </a:r>
            <a:endParaRPr lang="en-US" sz="2400">
              <a:latin typeface="Calibri"/>
              <a:ea typeface="Calibri"/>
              <a:cs typeface="Calibri"/>
            </a:endParaRPr>
          </a:p>
          <a:p>
            <a:pPr>
              <a:lnSpc>
                <a:spcPct val="100000"/>
              </a:lnSpc>
            </a:pPr>
            <a:r>
              <a:rPr lang="en-US" sz="2400" dirty="0">
                <a:solidFill>
                  <a:srgbClr val="404040"/>
                </a:solidFill>
                <a:latin typeface="Calibri"/>
                <a:ea typeface="Calibri"/>
                <a:cs typeface="Calibri"/>
              </a:rPr>
              <a:t>Note that star angle = </a:t>
            </a:r>
            <a:r>
              <a:rPr lang="en-US" sz="2400" b="1" dirty="0">
                <a:solidFill>
                  <a:schemeClr val="accent6">
                    <a:lumMod val="50000"/>
                  </a:schemeClr>
                </a:solidFill>
                <a:latin typeface="Amasis MT Pro"/>
              </a:rPr>
              <a:t>216</a:t>
            </a:r>
            <a:endParaRPr lang="en-US" sz="2400" dirty="0">
              <a:solidFill>
                <a:schemeClr val="accent6">
                  <a:lumMod val="50000"/>
                </a:schemeClr>
              </a:solidFill>
              <a:latin typeface="Amasis MT Pro"/>
            </a:endParaRPr>
          </a:p>
          <a:p>
            <a:endParaRPr lang="en-US" dirty="0"/>
          </a:p>
        </p:txBody>
      </p:sp>
      <p:pic>
        <p:nvPicPr>
          <p:cNvPr id="4" name="Picture 3">
            <a:extLst>
              <a:ext uri="{FF2B5EF4-FFF2-40B4-BE49-F238E27FC236}">
                <a16:creationId xmlns:a16="http://schemas.microsoft.com/office/drawing/2014/main" id="{CDE13644-2787-9164-0C1E-4B5546F52D57}"/>
              </a:ext>
            </a:extLst>
          </p:cNvPr>
          <p:cNvPicPr>
            <a:picLocks noChangeAspect="1"/>
          </p:cNvPicPr>
          <p:nvPr/>
        </p:nvPicPr>
        <p:blipFill>
          <a:blip r:embed="rId2"/>
          <a:stretch>
            <a:fillRect/>
          </a:stretch>
        </p:blipFill>
        <p:spPr>
          <a:xfrm>
            <a:off x="5939204" y="1709005"/>
            <a:ext cx="4803531" cy="4471622"/>
          </a:xfrm>
          <a:prstGeom prst="rect">
            <a:avLst/>
          </a:prstGeom>
        </p:spPr>
      </p:pic>
    </p:spTree>
    <p:extLst>
      <p:ext uri="{BB962C8B-B14F-4D97-AF65-F5344CB8AC3E}">
        <p14:creationId xmlns:p14="http://schemas.microsoft.com/office/powerpoint/2010/main" val="2339159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B0511-EA1A-1C0C-4CD8-3D99FA837588}"/>
            </a:ext>
          </a:extLst>
        </p:cNvPr>
        <p:cNvGrpSpPr/>
        <p:nvPr/>
      </p:nvGrpSpPr>
      <p:grpSpPr>
        <a:xfrm>
          <a:off x="0" y="0"/>
          <a:ext cx="0" cy="0"/>
          <a:chOff x="0" y="0"/>
          <a:chExt cx="0" cy="0"/>
        </a:xfrm>
      </p:grpSpPr>
      <p:pic>
        <p:nvPicPr>
          <p:cNvPr id="2" name="Content Placeholder 1" descr="A screen shot of a computer program&#10;&#10;AI-generated content may be incorrect.">
            <a:extLst>
              <a:ext uri="{FF2B5EF4-FFF2-40B4-BE49-F238E27FC236}">
                <a16:creationId xmlns:a16="http://schemas.microsoft.com/office/drawing/2014/main" id="{8606CCD5-0E63-6D42-E2B9-A50EF19D7019}"/>
              </a:ext>
            </a:extLst>
          </p:cNvPr>
          <p:cNvPicPr>
            <a:picLocks noGrp="1" noChangeAspect="1"/>
          </p:cNvPicPr>
          <p:nvPr>
            <p:ph idx="1"/>
          </p:nvPr>
        </p:nvPicPr>
        <p:blipFill>
          <a:blip r:embed="rId2"/>
          <a:stretch>
            <a:fillRect/>
          </a:stretch>
        </p:blipFill>
        <p:spPr>
          <a:xfrm>
            <a:off x="3284704" y="604031"/>
            <a:ext cx="4943475" cy="5638800"/>
          </a:xfrm>
        </p:spPr>
      </p:pic>
    </p:spTree>
    <p:extLst>
      <p:ext uri="{BB962C8B-B14F-4D97-AF65-F5344CB8AC3E}">
        <p14:creationId xmlns:p14="http://schemas.microsoft.com/office/powerpoint/2010/main" val="34166393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colorful circle with lines in it&#10;&#10;AI-generated content may be incorrect.">
            <a:extLst>
              <a:ext uri="{FF2B5EF4-FFF2-40B4-BE49-F238E27FC236}">
                <a16:creationId xmlns:a16="http://schemas.microsoft.com/office/drawing/2014/main" id="{DBDE7380-986D-0FDA-7341-9D98BEAE2E7C}"/>
              </a:ext>
            </a:extLst>
          </p:cNvPr>
          <p:cNvPicPr>
            <a:picLocks noGrp="1" noChangeAspect="1"/>
          </p:cNvPicPr>
          <p:nvPr>
            <p:ph idx="1"/>
          </p:nvPr>
        </p:nvPicPr>
        <p:blipFill>
          <a:blip r:embed="rId2"/>
          <a:stretch>
            <a:fillRect/>
          </a:stretch>
        </p:blipFill>
        <p:spPr>
          <a:xfrm>
            <a:off x="6327964" y="1099624"/>
            <a:ext cx="5656340" cy="4917245"/>
          </a:xfrm>
        </p:spPr>
      </p:pic>
      <p:sp>
        <p:nvSpPr>
          <p:cNvPr id="7" name="TextBox 6">
            <a:extLst>
              <a:ext uri="{FF2B5EF4-FFF2-40B4-BE49-F238E27FC236}">
                <a16:creationId xmlns:a16="http://schemas.microsoft.com/office/drawing/2014/main" id="{F6186958-A6AD-6628-7AF3-E4D46F833EBF}"/>
              </a:ext>
            </a:extLst>
          </p:cNvPr>
          <p:cNvSpPr txBox="1"/>
          <p:nvPr/>
        </p:nvSpPr>
        <p:spPr>
          <a:xfrm>
            <a:off x="128954" y="504092"/>
            <a:ext cx="5802924" cy="4801314"/>
          </a:xfrm>
          <a:prstGeom prst="rect">
            <a:avLst/>
          </a:prstGeom>
          <a:solidFill>
            <a:schemeClr val="tx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C586C0"/>
                </a:solidFill>
                <a:latin typeface="Consolas"/>
              </a:rPr>
              <a:t>import</a:t>
            </a:r>
            <a:r>
              <a:rPr lang="en-US">
                <a:solidFill>
                  <a:srgbClr val="CCCCCC"/>
                </a:solidFill>
                <a:latin typeface="Consolas"/>
              </a:rPr>
              <a:t> </a:t>
            </a:r>
            <a:r>
              <a:rPr lang="en-US">
                <a:solidFill>
                  <a:srgbClr val="4EC9B0"/>
                </a:solidFill>
                <a:latin typeface="Consolas"/>
              </a:rPr>
              <a:t>turtle</a:t>
            </a:r>
          </a:p>
          <a:p>
            <a:r>
              <a:rPr lang="en-US">
                <a:solidFill>
                  <a:srgbClr val="C586C0"/>
                </a:solidFill>
                <a:latin typeface="Consolas"/>
              </a:rPr>
              <a:t>import</a:t>
            </a:r>
            <a:r>
              <a:rPr lang="en-US">
                <a:solidFill>
                  <a:srgbClr val="CCCCCC"/>
                </a:solidFill>
                <a:latin typeface="Consolas"/>
              </a:rPr>
              <a:t> </a:t>
            </a:r>
            <a:r>
              <a:rPr lang="en-US">
                <a:solidFill>
                  <a:srgbClr val="4EC9B0"/>
                </a:solidFill>
                <a:latin typeface="Consolas"/>
              </a:rPr>
              <a:t>random</a:t>
            </a:r>
          </a:p>
          <a:p>
            <a:br>
              <a:rPr lang="en-US">
                <a:solidFill>
                  <a:srgbClr val="CCCCCC"/>
                </a:solidFill>
                <a:latin typeface="Consolas"/>
              </a:rPr>
            </a:br>
            <a:r>
              <a:rPr lang="en-US">
                <a:solidFill>
                  <a:srgbClr val="9CDCFE"/>
                </a:solidFill>
                <a:latin typeface="Consolas"/>
              </a:rPr>
              <a:t>t</a:t>
            </a:r>
            <a:r>
              <a:rPr lang="en-US">
                <a:solidFill>
                  <a:srgbClr val="CCCCCC"/>
                </a:solidFill>
                <a:latin typeface="Consolas"/>
              </a:rPr>
              <a:t> </a:t>
            </a:r>
            <a:r>
              <a:rPr lang="en-US">
                <a:solidFill>
                  <a:srgbClr val="D4D4D4"/>
                </a:solidFill>
                <a:latin typeface="Consolas"/>
              </a:rPr>
              <a:t>=</a:t>
            </a:r>
            <a:r>
              <a:rPr lang="en-US">
                <a:solidFill>
                  <a:srgbClr val="CCCCCC"/>
                </a:solidFill>
                <a:latin typeface="Consolas"/>
              </a:rPr>
              <a:t> </a:t>
            </a:r>
            <a:r>
              <a:rPr lang="en-US">
                <a:solidFill>
                  <a:srgbClr val="4EC9B0"/>
                </a:solidFill>
                <a:latin typeface="Consolas"/>
              </a:rPr>
              <a:t>turtle</a:t>
            </a:r>
            <a:r>
              <a:rPr lang="en-US">
                <a:solidFill>
                  <a:srgbClr val="CCCCCC"/>
                </a:solidFill>
                <a:latin typeface="Consolas"/>
              </a:rPr>
              <a:t>.</a:t>
            </a:r>
            <a:r>
              <a:rPr lang="en-US">
                <a:solidFill>
                  <a:srgbClr val="4EC9B0"/>
                </a:solidFill>
                <a:latin typeface="Consolas"/>
              </a:rPr>
              <a:t>Turtle</a:t>
            </a:r>
            <a:r>
              <a:rPr lang="en-US">
                <a:solidFill>
                  <a:srgbClr val="CCCCCC"/>
                </a:solidFill>
                <a:latin typeface="Consolas"/>
              </a:rPr>
              <a:t>()</a:t>
            </a:r>
          </a:p>
          <a:p>
            <a:r>
              <a:rPr lang="en-US">
                <a:solidFill>
                  <a:srgbClr val="9CDCFE"/>
                </a:solidFill>
                <a:latin typeface="Consolas"/>
              </a:rPr>
              <a:t>t</a:t>
            </a:r>
            <a:r>
              <a:rPr lang="en-US">
                <a:solidFill>
                  <a:srgbClr val="CCCCCC"/>
                </a:solidFill>
                <a:latin typeface="Consolas"/>
              </a:rPr>
              <a:t>.</a:t>
            </a:r>
            <a:r>
              <a:rPr lang="en-US">
                <a:solidFill>
                  <a:srgbClr val="DCDCAA"/>
                </a:solidFill>
                <a:latin typeface="Consolas"/>
              </a:rPr>
              <a:t>speed</a:t>
            </a:r>
            <a:r>
              <a:rPr lang="en-US">
                <a:solidFill>
                  <a:srgbClr val="CCCCCC"/>
                </a:solidFill>
                <a:latin typeface="Consolas"/>
              </a:rPr>
              <a:t>(</a:t>
            </a:r>
            <a:r>
              <a:rPr lang="en-US">
                <a:solidFill>
                  <a:srgbClr val="B5CEA8"/>
                </a:solidFill>
                <a:latin typeface="Consolas"/>
              </a:rPr>
              <a:t>0</a:t>
            </a:r>
            <a:r>
              <a:rPr lang="en-US">
                <a:solidFill>
                  <a:srgbClr val="CCCCCC"/>
                </a:solidFill>
                <a:latin typeface="Consolas"/>
              </a:rPr>
              <a:t>)</a:t>
            </a:r>
          </a:p>
          <a:p>
            <a:r>
              <a:rPr lang="en-US">
                <a:solidFill>
                  <a:srgbClr val="4EC9B0"/>
                </a:solidFill>
                <a:latin typeface="Consolas"/>
              </a:rPr>
              <a:t>turtle</a:t>
            </a:r>
            <a:r>
              <a:rPr lang="en-US">
                <a:solidFill>
                  <a:srgbClr val="CCCCCC"/>
                </a:solidFill>
                <a:latin typeface="Consolas"/>
              </a:rPr>
              <a:t>.</a:t>
            </a:r>
            <a:r>
              <a:rPr lang="en-US">
                <a:solidFill>
                  <a:srgbClr val="DCDCAA"/>
                </a:solidFill>
                <a:latin typeface="Consolas"/>
              </a:rPr>
              <a:t>bgcolor</a:t>
            </a:r>
            <a:r>
              <a:rPr lang="en-US">
                <a:solidFill>
                  <a:srgbClr val="CCCCCC"/>
                </a:solidFill>
                <a:latin typeface="Consolas"/>
              </a:rPr>
              <a:t>(</a:t>
            </a:r>
            <a:r>
              <a:rPr lang="en-US">
                <a:solidFill>
                  <a:srgbClr val="CE9178"/>
                </a:solidFill>
                <a:latin typeface="Consolas"/>
              </a:rPr>
              <a:t>"black"</a:t>
            </a:r>
            <a:r>
              <a:rPr lang="en-US">
                <a:solidFill>
                  <a:srgbClr val="CCCCCC"/>
                </a:solidFill>
                <a:latin typeface="Consolas"/>
              </a:rPr>
              <a:t>)</a:t>
            </a:r>
          </a:p>
          <a:p>
            <a:br>
              <a:rPr lang="en-US">
                <a:solidFill>
                  <a:srgbClr val="CCCCCC"/>
                </a:solidFill>
                <a:latin typeface="Consolas"/>
              </a:rPr>
            </a:br>
            <a:r>
              <a:rPr lang="en-US">
                <a:solidFill>
                  <a:srgbClr val="9CDCFE"/>
                </a:solidFill>
                <a:latin typeface="Consolas"/>
              </a:rPr>
              <a:t>colors</a:t>
            </a:r>
            <a:r>
              <a:rPr lang="en-US">
                <a:solidFill>
                  <a:srgbClr val="CCCCCC"/>
                </a:solidFill>
                <a:latin typeface="Consolas"/>
              </a:rPr>
              <a:t> </a:t>
            </a:r>
            <a:r>
              <a:rPr lang="en-US">
                <a:solidFill>
                  <a:srgbClr val="D4D4D4"/>
                </a:solidFill>
                <a:latin typeface="Consolas"/>
              </a:rPr>
              <a:t>=</a:t>
            </a:r>
            <a:r>
              <a:rPr lang="en-US">
                <a:solidFill>
                  <a:srgbClr val="CCCCCC"/>
                </a:solidFill>
                <a:latin typeface="Consolas"/>
              </a:rPr>
              <a:t> [</a:t>
            </a:r>
            <a:r>
              <a:rPr lang="en-US">
                <a:solidFill>
                  <a:srgbClr val="CE9178"/>
                </a:solidFill>
                <a:latin typeface="Consolas"/>
              </a:rPr>
              <a:t>"red"</a:t>
            </a:r>
            <a:r>
              <a:rPr lang="en-US">
                <a:solidFill>
                  <a:srgbClr val="CCCCCC"/>
                </a:solidFill>
                <a:latin typeface="Consolas"/>
              </a:rPr>
              <a:t>, </a:t>
            </a:r>
            <a:r>
              <a:rPr lang="en-US">
                <a:solidFill>
                  <a:srgbClr val="CE9178"/>
                </a:solidFill>
                <a:latin typeface="Consolas"/>
              </a:rPr>
              <a:t>"blue"</a:t>
            </a:r>
            <a:r>
              <a:rPr lang="en-US">
                <a:solidFill>
                  <a:srgbClr val="CCCCCC"/>
                </a:solidFill>
                <a:latin typeface="Consolas"/>
              </a:rPr>
              <a:t>, </a:t>
            </a:r>
            <a:r>
              <a:rPr lang="en-US">
                <a:solidFill>
                  <a:srgbClr val="CE9178"/>
                </a:solidFill>
                <a:latin typeface="Consolas"/>
              </a:rPr>
              <a:t>"green"</a:t>
            </a:r>
            <a:r>
              <a:rPr lang="en-US">
                <a:solidFill>
                  <a:srgbClr val="CCCCCC"/>
                </a:solidFill>
                <a:latin typeface="Consolas"/>
              </a:rPr>
              <a:t>, </a:t>
            </a:r>
            <a:r>
              <a:rPr lang="en-US">
                <a:solidFill>
                  <a:srgbClr val="CE9178"/>
                </a:solidFill>
                <a:latin typeface="Consolas"/>
              </a:rPr>
              <a:t>"yellow"</a:t>
            </a:r>
            <a:r>
              <a:rPr lang="en-US">
                <a:solidFill>
                  <a:srgbClr val="CCCCCC"/>
                </a:solidFill>
                <a:latin typeface="Consolas"/>
              </a:rPr>
              <a:t>, </a:t>
            </a:r>
            <a:r>
              <a:rPr lang="en-US">
                <a:solidFill>
                  <a:srgbClr val="CE9178"/>
                </a:solidFill>
                <a:latin typeface="Consolas"/>
              </a:rPr>
              <a:t>"purple"</a:t>
            </a:r>
            <a:r>
              <a:rPr lang="en-US">
                <a:solidFill>
                  <a:srgbClr val="CCCCCC"/>
                </a:solidFill>
                <a:latin typeface="Consolas"/>
              </a:rPr>
              <a:t>, </a:t>
            </a:r>
            <a:r>
              <a:rPr lang="en-US">
                <a:solidFill>
                  <a:srgbClr val="CE9178"/>
                </a:solidFill>
                <a:latin typeface="Consolas"/>
              </a:rPr>
              <a:t>"orange"</a:t>
            </a:r>
            <a:r>
              <a:rPr lang="en-US">
                <a:solidFill>
                  <a:srgbClr val="CCCCCC"/>
                </a:solidFill>
                <a:latin typeface="Consolas"/>
              </a:rPr>
              <a:t>, </a:t>
            </a:r>
            <a:r>
              <a:rPr lang="en-US">
                <a:solidFill>
                  <a:srgbClr val="CE9178"/>
                </a:solidFill>
                <a:latin typeface="Consolas"/>
              </a:rPr>
              <a:t>"pink"</a:t>
            </a:r>
            <a:r>
              <a:rPr lang="en-US">
                <a:solidFill>
                  <a:srgbClr val="CCCCCC"/>
                </a:solidFill>
                <a:latin typeface="Consolas"/>
              </a:rPr>
              <a:t>, </a:t>
            </a:r>
            <a:r>
              <a:rPr lang="en-US">
                <a:solidFill>
                  <a:srgbClr val="CE9178"/>
                </a:solidFill>
                <a:latin typeface="Consolas"/>
              </a:rPr>
              <a:t>"white"</a:t>
            </a:r>
            <a:r>
              <a:rPr lang="en-US">
                <a:solidFill>
                  <a:srgbClr val="CCCCCC"/>
                </a:solidFill>
                <a:latin typeface="Consolas"/>
              </a:rPr>
              <a:t>]</a:t>
            </a:r>
          </a:p>
          <a:p>
            <a:br>
              <a:rPr lang="en-US">
                <a:solidFill>
                  <a:srgbClr val="CCCCCC"/>
                </a:solidFill>
                <a:latin typeface="Consolas"/>
              </a:rPr>
            </a:br>
            <a:r>
              <a:rPr lang="en-US">
                <a:solidFill>
                  <a:srgbClr val="C586C0"/>
                </a:solidFill>
                <a:latin typeface="Consolas"/>
              </a:rPr>
              <a:t>for</a:t>
            </a:r>
            <a:r>
              <a:rPr lang="en-US">
                <a:solidFill>
                  <a:srgbClr val="CCCCCC"/>
                </a:solidFill>
                <a:latin typeface="Consolas"/>
              </a:rPr>
              <a:t> </a:t>
            </a:r>
            <a:r>
              <a:rPr lang="en-US">
                <a:solidFill>
                  <a:srgbClr val="9CDCFE"/>
                </a:solidFill>
                <a:latin typeface="Consolas"/>
              </a:rPr>
              <a:t>i</a:t>
            </a:r>
            <a:r>
              <a:rPr lang="en-US">
                <a:solidFill>
                  <a:srgbClr val="CCCCCC"/>
                </a:solidFill>
                <a:latin typeface="Consolas"/>
              </a:rPr>
              <a:t> </a:t>
            </a:r>
            <a:r>
              <a:rPr lang="en-US">
                <a:solidFill>
                  <a:srgbClr val="C586C0"/>
                </a:solidFill>
                <a:latin typeface="Consolas"/>
              </a:rPr>
              <a:t>in</a:t>
            </a:r>
            <a:r>
              <a:rPr lang="en-US">
                <a:solidFill>
                  <a:srgbClr val="CCCCCC"/>
                </a:solidFill>
                <a:latin typeface="Consolas"/>
              </a:rPr>
              <a:t> </a:t>
            </a:r>
            <a:r>
              <a:rPr lang="en-US">
                <a:solidFill>
                  <a:srgbClr val="4EC9B0"/>
                </a:solidFill>
                <a:latin typeface="Consolas"/>
              </a:rPr>
              <a:t>range</a:t>
            </a:r>
            <a:r>
              <a:rPr lang="en-US">
                <a:solidFill>
                  <a:srgbClr val="CCCCCC"/>
                </a:solidFill>
                <a:latin typeface="Consolas"/>
              </a:rPr>
              <a:t>(</a:t>
            </a:r>
            <a:r>
              <a:rPr lang="en-US">
                <a:solidFill>
                  <a:srgbClr val="B5CEA8"/>
                </a:solidFill>
                <a:latin typeface="Consolas"/>
              </a:rPr>
              <a:t>100</a:t>
            </a:r>
            <a:r>
              <a:rPr lang="en-US">
                <a:solidFill>
                  <a:srgbClr val="CCCCCC"/>
                </a:solidFill>
                <a:latin typeface="Consolas"/>
              </a:rPr>
              <a:t>):</a:t>
            </a:r>
          </a:p>
          <a:p>
            <a:r>
              <a:rPr lang="en-US">
                <a:solidFill>
                  <a:srgbClr val="CCCCCC"/>
                </a:solidFill>
                <a:latin typeface="Consolas"/>
              </a:rPr>
              <a:t>    </a:t>
            </a:r>
            <a:r>
              <a:rPr lang="en-US">
                <a:solidFill>
                  <a:srgbClr val="9CDCFE"/>
                </a:solidFill>
                <a:latin typeface="Consolas"/>
              </a:rPr>
              <a:t>t</a:t>
            </a:r>
            <a:r>
              <a:rPr lang="en-US">
                <a:solidFill>
                  <a:srgbClr val="CCCCCC"/>
                </a:solidFill>
                <a:latin typeface="Consolas"/>
              </a:rPr>
              <a:t>.</a:t>
            </a:r>
            <a:r>
              <a:rPr lang="en-US">
                <a:solidFill>
                  <a:srgbClr val="DCDCAA"/>
                </a:solidFill>
                <a:latin typeface="Consolas"/>
              </a:rPr>
              <a:t>pencolor</a:t>
            </a:r>
            <a:r>
              <a:rPr lang="en-US">
                <a:solidFill>
                  <a:srgbClr val="CCCCCC"/>
                </a:solidFill>
                <a:latin typeface="Consolas"/>
              </a:rPr>
              <a:t>(</a:t>
            </a:r>
            <a:r>
              <a:rPr lang="en-US">
                <a:solidFill>
                  <a:srgbClr val="4EC9B0"/>
                </a:solidFill>
                <a:latin typeface="Consolas"/>
              </a:rPr>
              <a:t>random</a:t>
            </a:r>
            <a:r>
              <a:rPr lang="en-US">
                <a:solidFill>
                  <a:srgbClr val="CCCCCC"/>
                </a:solidFill>
                <a:latin typeface="Consolas"/>
              </a:rPr>
              <a:t>.</a:t>
            </a:r>
            <a:r>
              <a:rPr lang="en-US">
                <a:solidFill>
                  <a:srgbClr val="9CDCFE"/>
                </a:solidFill>
                <a:latin typeface="Consolas"/>
              </a:rPr>
              <a:t>choice</a:t>
            </a:r>
            <a:r>
              <a:rPr lang="en-US">
                <a:solidFill>
                  <a:srgbClr val="CCCCCC"/>
                </a:solidFill>
                <a:latin typeface="Consolas"/>
              </a:rPr>
              <a:t>(</a:t>
            </a:r>
            <a:r>
              <a:rPr lang="en-US">
                <a:solidFill>
                  <a:srgbClr val="9CDCFE"/>
                </a:solidFill>
                <a:latin typeface="Consolas"/>
              </a:rPr>
              <a:t>colors</a:t>
            </a:r>
            <a:r>
              <a:rPr lang="en-US">
                <a:solidFill>
                  <a:srgbClr val="CCCCCC"/>
                </a:solidFill>
                <a:latin typeface="Consolas"/>
              </a:rPr>
              <a:t>))</a:t>
            </a:r>
          </a:p>
          <a:p>
            <a:r>
              <a:rPr lang="en-US">
                <a:solidFill>
                  <a:srgbClr val="CCCCCC"/>
                </a:solidFill>
                <a:latin typeface="Consolas"/>
              </a:rPr>
              <a:t>    </a:t>
            </a:r>
            <a:r>
              <a:rPr lang="en-US">
                <a:solidFill>
                  <a:srgbClr val="9CDCFE"/>
                </a:solidFill>
                <a:latin typeface="Consolas"/>
              </a:rPr>
              <a:t>t</a:t>
            </a:r>
            <a:r>
              <a:rPr lang="en-US">
                <a:solidFill>
                  <a:srgbClr val="CCCCCC"/>
                </a:solidFill>
                <a:latin typeface="Consolas"/>
              </a:rPr>
              <a:t>.</a:t>
            </a:r>
            <a:r>
              <a:rPr lang="en-US">
                <a:solidFill>
                  <a:srgbClr val="DCDCAA"/>
                </a:solidFill>
                <a:latin typeface="Consolas"/>
              </a:rPr>
              <a:t>circle</a:t>
            </a:r>
            <a:r>
              <a:rPr lang="en-US">
                <a:solidFill>
                  <a:srgbClr val="CCCCCC"/>
                </a:solidFill>
                <a:latin typeface="Consolas"/>
              </a:rPr>
              <a:t>(</a:t>
            </a:r>
            <a:r>
              <a:rPr lang="en-US">
                <a:solidFill>
                  <a:srgbClr val="B5CEA8"/>
                </a:solidFill>
                <a:latin typeface="Consolas"/>
              </a:rPr>
              <a:t>100</a:t>
            </a:r>
            <a:r>
              <a:rPr lang="en-US">
                <a:solidFill>
                  <a:srgbClr val="CCCCCC"/>
                </a:solidFill>
                <a:latin typeface="Consolas"/>
              </a:rPr>
              <a:t>)</a:t>
            </a:r>
          </a:p>
          <a:p>
            <a:r>
              <a:rPr lang="en-US">
                <a:solidFill>
                  <a:srgbClr val="CCCCCC"/>
                </a:solidFill>
                <a:latin typeface="Consolas"/>
              </a:rPr>
              <a:t>    </a:t>
            </a:r>
            <a:r>
              <a:rPr lang="en-US">
                <a:solidFill>
                  <a:srgbClr val="9CDCFE"/>
                </a:solidFill>
                <a:latin typeface="Consolas"/>
              </a:rPr>
              <a:t>t</a:t>
            </a:r>
            <a:r>
              <a:rPr lang="en-US">
                <a:solidFill>
                  <a:srgbClr val="CCCCCC"/>
                </a:solidFill>
                <a:latin typeface="Consolas"/>
              </a:rPr>
              <a:t>.</a:t>
            </a:r>
            <a:r>
              <a:rPr lang="en-US">
                <a:solidFill>
                  <a:srgbClr val="DCDCAA"/>
                </a:solidFill>
                <a:latin typeface="Consolas"/>
              </a:rPr>
              <a:t>right</a:t>
            </a:r>
            <a:r>
              <a:rPr lang="en-US">
                <a:solidFill>
                  <a:srgbClr val="CCCCCC"/>
                </a:solidFill>
                <a:latin typeface="Consolas"/>
              </a:rPr>
              <a:t>(</a:t>
            </a:r>
            <a:r>
              <a:rPr lang="en-US">
                <a:solidFill>
                  <a:srgbClr val="B5CEA8"/>
                </a:solidFill>
                <a:latin typeface="Consolas"/>
              </a:rPr>
              <a:t>10</a:t>
            </a:r>
            <a:r>
              <a:rPr lang="en-US">
                <a:solidFill>
                  <a:srgbClr val="CCCCCC"/>
                </a:solidFill>
                <a:latin typeface="Consolas"/>
              </a:rPr>
              <a:t>)</a:t>
            </a:r>
          </a:p>
          <a:p>
            <a:br>
              <a:rPr lang="en-US">
                <a:solidFill>
                  <a:srgbClr val="CCCCCC"/>
                </a:solidFill>
                <a:latin typeface="Consolas"/>
              </a:rPr>
            </a:br>
            <a:r>
              <a:rPr lang="en-US">
                <a:solidFill>
                  <a:srgbClr val="4EC9B0"/>
                </a:solidFill>
                <a:latin typeface="Consolas"/>
              </a:rPr>
              <a:t>turtle</a:t>
            </a:r>
            <a:r>
              <a:rPr lang="en-US">
                <a:solidFill>
                  <a:srgbClr val="CCCCCC"/>
                </a:solidFill>
                <a:latin typeface="Consolas"/>
              </a:rPr>
              <a:t>.</a:t>
            </a:r>
            <a:r>
              <a:rPr lang="en-US">
                <a:solidFill>
                  <a:srgbClr val="9CDCFE"/>
                </a:solidFill>
                <a:latin typeface="Consolas"/>
              </a:rPr>
              <a:t>done</a:t>
            </a:r>
            <a:r>
              <a:rPr lang="en-US">
                <a:solidFill>
                  <a:srgbClr val="CCCCCC"/>
                </a:solidFill>
                <a:latin typeface="Consolas"/>
              </a:rPr>
              <a:t>()</a:t>
            </a:r>
          </a:p>
          <a:p>
            <a:endParaRPr lang="en-US">
              <a:solidFill>
                <a:srgbClr val="CCCCCC"/>
              </a:solidFill>
              <a:latin typeface="Consolas"/>
            </a:endParaRPr>
          </a:p>
        </p:txBody>
      </p:sp>
    </p:spTree>
    <p:extLst>
      <p:ext uri="{BB962C8B-B14F-4D97-AF65-F5344CB8AC3E}">
        <p14:creationId xmlns:p14="http://schemas.microsoft.com/office/powerpoint/2010/main" val="40508578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black and white tree&#10;&#10;AI-generated content may be incorrect.">
            <a:extLst>
              <a:ext uri="{FF2B5EF4-FFF2-40B4-BE49-F238E27FC236}">
                <a16:creationId xmlns:a16="http://schemas.microsoft.com/office/drawing/2014/main" id="{77EAA3FA-C9A4-AE77-FE17-B54626F696D9}"/>
              </a:ext>
            </a:extLst>
          </p:cNvPr>
          <p:cNvPicPr>
            <a:picLocks noGrp="1" noChangeAspect="1"/>
          </p:cNvPicPr>
          <p:nvPr>
            <p:ph idx="1"/>
          </p:nvPr>
        </p:nvPicPr>
        <p:blipFill>
          <a:blip r:embed="rId2"/>
          <a:stretch>
            <a:fillRect/>
          </a:stretch>
        </p:blipFill>
        <p:spPr>
          <a:xfrm>
            <a:off x="2956874" y="747932"/>
            <a:ext cx="6185287" cy="5538568"/>
          </a:xfrm>
        </p:spPr>
      </p:pic>
    </p:spTree>
    <p:extLst>
      <p:ext uri="{BB962C8B-B14F-4D97-AF65-F5344CB8AC3E}">
        <p14:creationId xmlns:p14="http://schemas.microsoft.com/office/powerpoint/2010/main" val="2203151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B82761-6A6B-92FB-2F90-677A12445912}"/>
              </a:ext>
            </a:extLst>
          </p:cNvPr>
          <p:cNvSpPr>
            <a:spLocks noGrp="1"/>
          </p:cNvSpPr>
          <p:nvPr>
            <p:ph idx="1"/>
          </p:nvPr>
        </p:nvSpPr>
        <p:spPr>
          <a:xfrm>
            <a:off x="419920" y="-307144"/>
            <a:ext cx="11059902" cy="7836289"/>
          </a:xfrm>
          <a:solidFill>
            <a:schemeClr val="tx1"/>
          </a:solidFill>
        </p:spPr>
        <p:txBody>
          <a:bodyPr vert="horz" lIns="91440" tIns="45720" rIns="91440" bIns="45720" rtlCol="0" anchor="t">
            <a:noAutofit/>
          </a:bodyPr>
          <a:lstStyle/>
          <a:p>
            <a:r>
              <a:rPr lang="en-US" sz="1300" dirty="0">
                <a:solidFill>
                  <a:srgbClr val="C586C0"/>
                </a:solidFill>
                <a:latin typeface="Consolas"/>
              </a:rPr>
              <a:t>import</a:t>
            </a:r>
            <a:r>
              <a:rPr lang="en-US" sz="1300" dirty="0">
                <a:solidFill>
                  <a:srgbClr val="CCCCCC"/>
                </a:solidFill>
                <a:latin typeface="Consolas"/>
              </a:rPr>
              <a:t> </a:t>
            </a:r>
            <a:r>
              <a:rPr lang="en-US" sz="1300" dirty="0">
                <a:solidFill>
                  <a:srgbClr val="4EC9B0"/>
                </a:solidFill>
                <a:latin typeface="Consolas"/>
              </a:rPr>
              <a:t>turtle</a:t>
            </a:r>
            <a:endParaRPr lang="en-US" sz="1300">
              <a:solidFill>
                <a:srgbClr val="000000"/>
              </a:solidFill>
              <a:latin typeface="Neue Haas Grotesk Text Pro"/>
            </a:endParaRPr>
          </a:p>
          <a:p>
            <a:r>
              <a:rPr lang="en-US" sz="1300" dirty="0">
                <a:solidFill>
                  <a:srgbClr val="9CDCFE"/>
                </a:solidFill>
                <a:latin typeface="Consolas"/>
              </a:rPr>
              <a:t>t</a:t>
            </a:r>
            <a:r>
              <a:rPr lang="en-US" sz="1300" dirty="0">
                <a:solidFill>
                  <a:srgbClr val="CCCCCC"/>
                </a:solidFill>
                <a:latin typeface="Consolas"/>
              </a:rPr>
              <a:t> </a:t>
            </a:r>
            <a:r>
              <a:rPr lang="en-US" sz="1300" dirty="0">
                <a:solidFill>
                  <a:srgbClr val="D4D4D4"/>
                </a:solidFill>
                <a:latin typeface="Consolas"/>
              </a:rPr>
              <a:t>=</a:t>
            </a:r>
            <a:r>
              <a:rPr lang="en-US" sz="1300" dirty="0">
                <a:solidFill>
                  <a:srgbClr val="CCCCCC"/>
                </a:solidFill>
                <a:latin typeface="Consolas"/>
              </a:rPr>
              <a:t> </a:t>
            </a:r>
            <a:r>
              <a:rPr lang="en-US" sz="1300" err="1">
                <a:solidFill>
                  <a:srgbClr val="4EC9B0"/>
                </a:solidFill>
                <a:latin typeface="Consolas"/>
              </a:rPr>
              <a:t>turtle</a:t>
            </a:r>
            <a:r>
              <a:rPr lang="en-US" sz="1300" err="1">
                <a:solidFill>
                  <a:srgbClr val="CCCCCC"/>
                </a:solidFill>
                <a:latin typeface="Consolas"/>
              </a:rPr>
              <a:t>.</a:t>
            </a:r>
            <a:r>
              <a:rPr lang="en-US" sz="1300" err="1">
                <a:solidFill>
                  <a:srgbClr val="4EC9B0"/>
                </a:solidFill>
                <a:latin typeface="Consolas"/>
              </a:rPr>
              <a:t>Turtle</a:t>
            </a:r>
            <a:r>
              <a:rPr lang="en-US" sz="1300" dirty="0">
                <a:solidFill>
                  <a:srgbClr val="CCCCCC"/>
                </a:solidFill>
                <a:latin typeface="Consolas"/>
              </a:rPr>
              <a:t>()</a:t>
            </a:r>
            <a:endParaRPr lang="en-US" sz="1300"/>
          </a:p>
          <a:p>
            <a:r>
              <a:rPr lang="en-US" sz="1300" err="1">
                <a:solidFill>
                  <a:srgbClr val="9CDCFE"/>
                </a:solidFill>
                <a:latin typeface="Consolas"/>
              </a:rPr>
              <a:t>t</a:t>
            </a:r>
            <a:r>
              <a:rPr lang="en-US" sz="1300" err="1">
                <a:solidFill>
                  <a:srgbClr val="CCCCCC"/>
                </a:solidFill>
                <a:latin typeface="Consolas"/>
              </a:rPr>
              <a:t>.</a:t>
            </a:r>
            <a:r>
              <a:rPr lang="en-US" sz="1300" err="1">
                <a:solidFill>
                  <a:srgbClr val="DCDCAA"/>
                </a:solidFill>
                <a:latin typeface="Consolas"/>
              </a:rPr>
              <a:t>speed</a:t>
            </a:r>
            <a:r>
              <a:rPr lang="en-US" sz="1300" dirty="0">
                <a:solidFill>
                  <a:srgbClr val="CCCCCC"/>
                </a:solidFill>
                <a:latin typeface="Consolas"/>
              </a:rPr>
              <a:t>(</a:t>
            </a:r>
            <a:r>
              <a:rPr lang="en-US" sz="1300" dirty="0">
                <a:solidFill>
                  <a:srgbClr val="B5CEA8"/>
                </a:solidFill>
                <a:latin typeface="Consolas"/>
              </a:rPr>
              <a:t>0</a:t>
            </a:r>
            <a:r>
              <a:rPr lang="en-US" sz="1300" dirty="0">
                <a:solidFill>
                  <a:srgbClr val="CCCCCC"/>
                </a:solidFill>
                <a:latin typeface="Consolas"/>
              </a:rPr>
              <a:t>)</a:t>
            </a:r>
            <a:endParaRPr lang="en-US" sz="1300"/>
          </a:p>
          <a:p>
            <a:r>
              <a:rPr lang="en-US" sz="1300" err="1">
                <a:solidFill>
                  <a:srgbClr val="9CDCFE"/>
                </a:solidFill>
                <a:latin typeface="Consolas"/>
              </a:rPr>
              <a:t>t</a:t>
            </a:r>
            <a:r>
              <a:rPr lang="en-US" sz="1300" err="1">
                <a:solidFill>
                  <a:srgbClr val="CCCCCC"/>
                </a:solidFill>
                <a:latin typeface="Consolas"/>
              </a:rPr>
              <a:t>.</a:t>
            </a:r>
            <a:r>
              <a:rPr lang="en-US" sz="1300" err="1">
                <a:solidFill>
                  <a:srgbClr val="DCDCAA"/>
                </a:solidFill>
                <a:latin typeface="Consolas"/>
              </a:rPr>
              <a:t>left</a:t>
            </a:r>
            <a:r>
              <a:rPr lang="en-US" sz="1300" dirty="0">
                <a:solidFill>
                  <a:srgbClr val="CCCCCC"/>
                </a:solidFill>
                <a:latin typeface="Consolas"/>
              </a:rPr>
              <a:t>(</a:t>
            </a:r>
            <a:r>
              <a:rPr lang="en-US" sz="1300" dirty="0">
                <a:solidFill>
                  <a:srgbClr val="B5CEA8"/>
                </a:solidFill>
                <a:latin typeface="Consolas"/>
              </a:rPr>
              <a:t>90</a:t>
            </a:r>
            <a:r>
              <a:rPr lang="en-US" sz="1300" dirty="0">
                <a:solidFill>
                  <a:srgbClr val="CCCCCC"/>
                </a:solidFill>
                <a:latin typeface="Consolas"/>
              </a:rPr>
              <a:t>)  </a:t>
            </a:r>
            <a:r>
              <a:rPr lang="en-US" sz="1300" dirty="0">
                <a:solidFill>
                  <a:srgbClr val="6A9955"/>
                </a:solidFill>
                <a:latin typeface="Consolas"/>
              </a:rPr>
              <a:t># Start facing upward</a:t>
            </a:r>
            <a:endParaRPr lang="en-US" sz="1300"/>
          </a:p>
          <a:p>
            <a:r>
              <a:rPr lang="en-US" sz="1300" dirty="0">
                <a:solidFill>
                  <a:srgbClr val="569CD6"/>
                </a:solidFill>
                <a:latin typeface="Consolas"/>
              </a:rPr>
              <a:t>def</a:t>
            </a:r>
            <a:r>
              <a:rPr lang="en-US" sz="1300" dirty="0">
                <a:solidFill>
                  <a:srgbClr val="CCCCCC"/>
                </a:solidFill>
                <a:latin typeface="Consolas"/>
              </a:rPr>
              <a:t> </a:t>
            </a:r>
            <a:r>
              <a:rPr lang="en-US" sz="1300" err="1">
                <a:solidFill>
                  <a:srgbClr val="DCDCAA"/>
                </a:solidFill>
                <a:latin typeface="Consolas"/>
              </a:rPr>
              <a:t>draw_branch</a:t>
            </a:r>
            <a:r>
              <a:rPr lang="en-US" sz="1300" dirty="0">
                <a:solidFill>
                  <a:srgbClr val="CCCCCC"/>
                </a:solidFill>
                <a:latin typeface="Consolas"/>
              </a:rPr>
              <a:t>(</a:t>
            </a:r>
            <a:r>
              <a:rPr lang="en-US" sz="1300" dirty="0">
                <a:solidFill>
                  <a:srgbClr val="9CDCFE"/>
                </a:solidFill>
                <a:latin typeface="Consolas"/>
              </a:rPr>
              <a:t>length</a:t>
            </a:r>
            <a:r>
              <a:rPr lang="en-US" sz="1300" dirty="0">
                <a:solidFill>
                  <a:srgbClr val="CCCCCC"/>
                </a:solidFill>
                <a:latin typeface="Consolas"/>
              </a:rPr>
              <a:t>):</a:t>
            </a:r>
            <a:endParaRPr lang="en-US" sz="1300"/>
          </a:p>
          <a:p>
            <a:r>
              <a:rPr lang="en-US" sz="1300" dirty="0">
                <a:solidFill>
                  <a:srgbClr val="CCCCCC"/>
                </a:solidFill>
                <a:latin typeface="Consolas"/>
              </a:rPr>
              <a:t>    </a:t>
            </a:r>
            <a:r>
              <a:rPr lang="en-US" sz="1300" dirty="0">
                <a:solidFill>
                  <a:srgbClr val="C586C0"/>
                </a:solidFill>
                <a:latin typeface="Consolas"/>
              </a:rPr>
              <a:t>if</a:t>
            </a:r>
            <a:r>
              <a:rPr lang="en-US" sz="1300" dirty="0">
                <a:solidFill>
                  <a:srgbClr val="CCCCCC"/>
                </a:solidFill>
                <a:latin typeface="Consolas"/>
              </a:rPr>
              <a:t> </a:t>
            </a:r>
            <a:r>
              <a:rPr lang="en-US" sz="1300" dirty="0">
                <a:solidFill>
                  <a:srgbClr val="9CDCFE"/>
                </a:solidFill>
                <a:latin typeface="Consolas"/>
              </a:rPr>
              <a:t>length</a:t>
            </a:r>
            <a:r>
              <a:rPr lang="en-US" sz="1300" dirty="0">
                <a:solidFill>
                  <a:srgbClr val="CCCCCC"/>
                </a:solidFill>
                <a:latin typeface="Consolas"/>
              </a:rPr>
              <a:t> </a:t>
            </a:r>
            <a:r>
              <a:rPr lang="en-US" sz="1300" dirty="0">
                <a:solidFill>
                  <a:srgbClr val="D4D4D4"/>
                </a:solidFill>
                <a:latin typeface="Consolas"/>
              </a:rPr>
              <a:t>&lt;</a:t>
            </a:r>
            <a:r>
              <a:rPr lang="en-US" sz="1300" dirty="0">
                <a:solidFill>
                  <a:srgbClr val="CCCCCC"/>
                </a:solidFill>
                <a:latin typeface="Consolas"/>
              </a:rPr>
              <a:t> </a:t>
            </a:r>
            <a:r>
              <a:rPr lang="en-US" sz="1300" dirty="0">
                <a:solidFill>
                  <a:srgbClr val="B5CEA8"/>
                </a:solidFill>
                <a:latin typeface="Consolas"/>
              </a:rPr>
              <a:t>5</a:t>
            </a:r>
            <a:r>
              <a:rPr lang="en-US" sz="1300" dirty="0">
                <a:solidFill>
                  <a:srgbClr val="CCCCCC"/>
                </a:solidFill>
                <a:latin typeface="Consolas"/>
              </a:rPr>
              <a:t>:</a:t>
            </a:r>
            <a:endParaRPr lang="en-US" sz="1300"/>
          </a:p>
          <a:p>
            <a:r>
              <a:rPr lang="en-US" sz="1300" dirty="0">
                <a:solidFill>
                  <a:srgbClr val="CCCCCC"/>
                </a:solidFill>
                <a:latin typeface="Consolas"/>
              </a:rPr>
              <a:t>        </a:t>
            </a:r>
            <a:r>
              <a:rPr lang="en-US" sz="1300" dirty="0">
                <a:solidFill>
                  <a:srgbClr val="C586C0"/>
                </a:solidFill>
                <a:latin typeface="Consolas"/>
              </a:rPr>
              <a:t>return</a:t>
            </a:r>
            <a:endParaRPr lang="en-US" sz="1300"/>
          </a:p>
          <a:p>
            <a:r>
              <a:rPr lang="en-US" sz="1300" dirty="0">
                <a:solidFill>
                  <a:srgbClr val="CCCCCC"/>
                </a:solidFill>
                <a:latin typeface="Consolas"/>
              </a:rPr>
              <a:t>    </a:t>
            </a:r>
            <a:r>
              <a:rPr lang="en-US" sz="1300" err="1">
                <a:solidFill>
                  <a:srgbClr val="9CDCFE"/>
                </a:solidFill>
                <a:latin typeface="Consolas"/>
              </a:rPr>
              <a:t>t</a:t>
            </a:r>
            <a:r>
              <a:rPr lang="en-US" sz="1300" err="1">
                <a:solidFill>
                  <a:srgbClr val="CCCCCC"/>
                </a:solidFill>
                <a:latin typeface="Consolas"/>
              </a:rPr>
              <a:t>.</a:t>
            </a:r>
            <a:r>
              <a:rPr lang="en-US" sz="1300" err="1">
                <a:solidFill>
                  <a:srgbClr val="DCDCAA"/>
                </a:solidFill>
                <a:latin typeface="Consolas"/>
              </a:rPr>
              <a:t>forward</a:t>
            </a:r>
            <a:r>
              <a:rPr lang="en-US" sz="1300" dirty="0">
                <a:solidFill>
                  <a:srgbClr val="CCCCCC"/>
                </a:solidFill>
                <a:latin typeface="Consolas"/>
              </a:rPr>
              <a:t>(</a:t>
            </a:r>
            <a:r>
              <a:rPr lang="en-US" sz="1300" dirty="0">
                <a:solidFill>
                  <a:srgbClr val="9CDCFE"/>
                </a:solidFill>
                <a:latin typeface="Consolas"/>
              </a:rPr>
              <a:t>length</a:t>
            </a:r>
            <a:r>
              <a:rPr lang="en-US" sz="1300" dirty="0">
                <a:solidFill>
                  <a:srgbClr val="CCCCCC"/>
                </a:solidFill>
                <a:latin typeface="Consolas"/>
              </a:rPr>
              <a:t>)</a:t>
            </a:r>
            <a:endParaRPr lang="en-US" sz="1300"/>
          </a:p>
          <a:p>
            <a:r>
              <a:rPr lang="en-US" sz="1300" dirty="0">
                <a:solidFill>
                  <a:srgbClr val="CCCCCC"/>
                </a:solidFill>
                <a:latin typeface="Consolas"/>
              </a:rPr>
              <a:t>    </a:t>
            </a:r>
            <a:r>
              <a:rPr lang="en-US" sz="1300" err="1">
                <a:solidFill>
                  <a:srgbClr val="9CDCFE"/>
                </a:solidFill>
                <a:latin typeface="Consolas"/>
              </a:rPr>
              <a:t>t</a:t>
            </a:r>
            <a:r>
              <a:rPr lang="en-US" sz="1300" err="1">
                <a:solidFill>
                  <a:srgbClr val="CCCCCC"/>
                </a:solidFill>
                <a:latin typeface="Consolas"/>
              </a:rPr>
              <a:t>.</a:t>
            </a:r>
            <a:r>
              <a:rPr lang="en-US" sz="1300" err="1">
                <a:solidFill>
                  <a:srgbClr val="DCDCAA"/>
                </a:solidFill>
                <a:latin typeface="Consolas"/>
              </a:rPr>
              <a:t>left</a:t>
            </a:r>
            <a:r>
              <a:rPr lang="en-US" sz="1300" dirty="0">
                <a:solidFill>
                  <a:srgbClr val="CCCCCC"/>
                </a:solidFill>
                <a:latin typeface="Consolas"/>
              </a:rPr>
              <a:t>(</a:t>
            </a:r>
            <a:r>
              <a:rPr lang="en-US" sz="1300" dirty="0">
                <a:solidFill>
                  <a:srgbClr val="B5CEA8"/>
                </a:solidFill>
                <a:latin typeface="Consolas"/>
              </a:rPr>
              <a:t>30</a:t>
            </a:r>
            <a:r>
              <a:rPr lang="en-US" sz="1300" dirty="0">
                <a:solidFill>
                  <a:srgbClr val="CCCCCC"/>
                </a:solidFill>
                <a:latin typeface="Consolas"/>
              </a:rPr>
              <a:t>)</a:t>
            </a:r>
            <a:endParaRPr lang="en-US" sz="1300"/>
          </a:p>
          <a:p>
            <a:r>
              <a:rPr lang="en-US" sz="1300" dirty="0">
                <a:solidFill>
                  <a:srgbClr val="CCCCCC"/>
                </a:solidFill>
                <a:latin typeface="Consolas"/>
              </a:rPr>
              <a:t>    </a:t>
            </a:r>
            <a:r>
              <a:rPr lang="en-US" sz="1300" err="1">
                <a:solidFill>
                  <a:srgbClr val="DCDCAA"/>
                </a:solidFill>
                <a:latin typeface="Consolas"/>
              </a:rPr>
              <a:t>draw_branch</a:t>
            </a:r>
            <a:r>
              <a:rPr lang="en-US" sz="1300" dirty="0">
                <a:solidFill>
                  <a:srgbClr val="CCCCCC"/>
                </a:solidFill>
                <a:latin typeface="Consolas"/>
              </a:rPr>
              <a:t>(</a:t>
            </a:r>
            <a:r>
              <a:rPr lang="en-US" sz="1300" dirty="0">
                <a:solidFill>
                  <a:srgbClr val="9CDCFE"/>
                </a:solidFill>
                <a:latin typeface="Consolas"/>
              </a:rPr>
              <a:t>length</a:t>
            </a:r>
            <a:r>
              <a:rPr lang="en-US" sz="1300" dirty="0">
                <a:solidFill>
                  <a:srgbClr val="CCCCCC"/>
                </a:solidFill>
                <a:latin typeface="Consolas"/>
              </a:rPr>
              <a:t> </a:t>
            </a:r>
            <a:r>
              <a:rPr lang="en-US" sz="1300" dirty="0">
                <a:solidFill>
                  <a:srgbClr val="D4D4D4"/>
                </a:solidFill>
                <a:latin typeface="Consolas"/>
              </a:rPr>
              <a:t>-</a:t>
            </a:r>
            <a:r>
              <a:rPr lang="en-US" sz="1300" dirty="0">
                <a:solidFill>
                  <a:srgbClr val="CCCCCC"/>
                </a:solidFill>
                <a:latin typeface="Consolas"/>
              </a:rPr>
              <a:t> </a:t>
            </a:r>
            <a:r>
              <a:rPr lang="en-US" sz="1300" dirty="0">
                <a:solidFill>
                  <a:srgbClr val="B5CEA8"/>
                </a:solidFill>
                <a:latin typeface="Consolas"/>
              </a:rPr>
              <a:t>15</a:t>
            </a:r>
            <a:r>
              <a:rPr lang="en-US" sz="1300" dirty="0">
                <a:solidFill>
                  <a:srgbClr val="CCCCCC"/>
                </a:solidFill>
                <a:latin typeface="Consolas"/>
              </a:rPr>
              <a:t>)</a:t>
            </a:r>
            <a:endParaRPr lang="en-US" sz="1300"/>
          </a:p>
          <a:p>
            <a:r>
              <a:rPr lang="en-US" sz="1300" dirty="0">
                <a:solidFill>
                  <a:srgbClr val="CCCCCC"/>
                </a:solidFill>
                <a:latin typeface="Consolas"/>
              </a:rPr>
              <a:t>    </a:t>
            </a:r>
            <a:r>
              <a:rPr lang="en-US" sz="1300" err="1">
                <a:solidFill>
                  <a:srgbClr val="9CDCFE"/>
                </a:solidFill>
                <a:latin typeface="Consolas"/>
              </a:rPr>
              <a:t>t</a:t>
            </a:r>
            <a:r>
              <a:rPr lang="en-US" sz="1300" err="1">
                <a:solidFill>
                  <a:srgbClr val="CCCCCC"/>
                </a:solidFill>
                <a:latin typeface="Consolas"/>
              </a:rPr>
              <a:t>.</a:t>
            </a:r>
            <a:r>
              <a:rPr lang="en-US" sz="1300" err="1">
                <a:solidFill>
                  <a:srgbClr val="DCDCAA"/>
                </a:solidFill>
                <a:latin typeface="Consolas"/>
              </a:rPr>
              <a:t>right</a:t>
            </a:r>
            <a:r>
              <a:rPr lang="en-US" sz="1300" dirty="0">
                <a:solidFill>
                  <a:srgbClr val="CCCCCC"/>
                </a:solidFill>
                <a:latin typeface="Consolas"/>
              </a:rPr>
              <a:t>(</a:t>
            </a:r>
            <a:r>
              <a:rPr lang="en-US" sz="1300" dirty="0">
                <a:solidFill>
                  <a:srgbClr val="B5CEA8"/>
                </a:solidFill>
                <a:latin typeface="Consolas"/>
              </a:rPr>
              <a:t>60</a:t>
            </a:r>
            <a:r>
              <a:rPr lang="en-US" sz="1300" dirty="0">
                <a:solidFill>
                  <a:srgbClr val="CCCCCC"/>
                </a:solidFill>
                <a:latin typeface="Consolas"/>
              </a:rPr>
              <a:t>)</a:t>
            </a:r>
            <a:endParaRPr lang="en-US" sz="1300"/>
          </a:p>
          <a:p>
            <a:r>
              <a:rPr lang="en-US" sz="1300" dirty="0">
                <a:solidFill>
                  <a:srgbClr val="CCCCCC"/>
                </a:solidFill>
                <a:latin typeface="Consolas"/>
              </a:rPr>
              <a:t>    </a:t>
            </a:r>
            <a:r>
              <a:rPr lang="en-US" sz="1300" err="1">
                <a:solidFill>
                  <a:srgbClr val="DCDCAA"/>
                </a:solidFill>
                <a:latin typeface="Consolas"/>
              </a:rPr>
              <a:t>draw_branch</a:t>
            </a:r>
            <a:r>
              <a:rPr lang="en-US" sz="1300" dirty="0">
                <a:solidFill>
                  <a:srgbClr val="CCCCCC"/>
                </a:solidFill>
                <a:latin typeface="Consolas"/>
              </a:rPr>
              <a:t>(</a:t>
            </a:r>
            <a:r>
              <a:rPr lang="en-US" sz="1300" dirty="0">
                <a:solidFill>
                  <a:srgbClr val="9CDCFE"/>
                </a:solidFill>
                <a:latin typeface="Consolas"/>
              </a:rPr>
              <a:t>length</a:t>
            </a:r>
            <a:r>
              <a:rPr lang="en-US" sz="1300" dirty="0">
                <a:solidFill>
                  <a:srgbClr val="CCCCCC"/>
                </a:solidFill>
                <a:latin typeface="Consolas"/>
              </a:rPr>
              <a:t> </a:t>
            </a:r>
            <a:r>
              <a:rPr lang="en-US" sz="1300" dirty="0">
                <a:solidFill>
                  <a:srgbClr val="D4D4D4"/>
                </a:solidFill>
                <a:latin typeface="Consolas"/>
              </a:rPr>
              <a:t>-</a:t>
            </a:r>
            <a:r>
              <a:rPr lang="en-US" sz="1300" dirty="0">
                <a:solidFill>
                  <a:srgbClr val="CCCCCC"/>
                </a:solidFill>
                <a:latin typeface="Consolas"/>
              </a:rPr>
              <a:t> </a:t>
            </a:r>
            <a:r>
              <a:rPr lang="en-US" sz="1300" dirty="0">
                <a:solidFill>
                  <a:srgbClr val="B5CEA8"/>
                </a:solidFill>
                <a:latin typeface="Consolas"/>
              </a:rPr>
              <a:t>15</a:t>
            </a:r>
            <a:r>
              <a:rPr lang="en-US" sz="1300" dirty="0">
                <a:solidFill>
                  <a:srgbClr val="CCCCCC"/>
                </a:solidFill>
                <a:latin typeface="Consolas"/>
              </a:rPr>
              <a:t>)</a:t>
            </a:r>
            <a:endParaRPr lang="en-US" sz="1300"/>
          </a:p>
          <a:p>
            <a:r>
              <a:rPr lang="en-US" sz="1300" dirty="0">
                <a:solidFill>
                  <a:srgbClr val="CCCCCC"/>
                </a:solidFill>
                <a:latin typeface="Consolas"/>
              </a:rPr>
              <a:t>    </a:t>
            </a:r>
            <a:r>
              <a:rPr lang="en-US" sz="1300" err="1">
                <a:solidFill>
                  <a:srgbClr val="9CDCFE"/>
                </a:solidFill>
                <a:latin typeface="Consolas"/>
              </a:rPr>
              <a:t>t</a:t>
            </a:r>
            <a:r>
              <a:rPr lang="en-US" sz="1300" err="1">
                <a:solidFill>
                  <a:srgbClr val="CCCCCC"/>
                </a:solidFill>
                <a:latin typeface="Consolas"/>
              </a:rPr>
              <a:t>.</a:t>
            </a:r>
            <a:r>
              <a:rPr lang="en-US" sz="1300" err="1">
                <a:solidFill>
                  <a:srgbClr val="DCDCAA"/>
                </a:solidFill>
                <a:latin typeface="Consolas"/>
              </a:rPr>
              <a:t>left</a:t>
            </a:r>
            <a:r>
              <a:rPr lang="en-US" sz="1300" dirty="0">
                <a:solidFill>
                  <a:srgbClr val="CCCCCC"/>
                </a:solidFill>
                <a:latin typeface="Consolas"/>
              </a:rPr>
              <a:t>(</a:t>
            </a:r>
            <a:r>
              <a:rPr lang="en-US" sz="1300" dirty="0">
                <a:solidFill>
                  <a:srgbClr val="B5CEA8"/>
                </a:solidFill>
                <a:latin typeface="Consolas"/>
              </a:rPr>
              <a:t>30</a:t>
            </a:r>
            <a:r>
              <a:rPr lang="en-US" sz="1300" dirty="0">
                <a:solidFill>
                  <a:srgbClr val="CCCCCC"/>
                </a:solidFill>
                <a:latin typeface="Consolas"/>
              </a:rPr>
              <a:t>)</a:t>
            </a:r>
            <a:endParaRPr lang="en-US" sz="1300"/>
          </a:p>
          <a:p>
            <a:r>
              <a:rPr lang="en-US" sz="1300" dirty="0">
                <a:solidFill>
                  <a:srgbClr val="CCCCCC"/>
                </a:solidFill>
                <a:latin typeface="Consolas"/>
              </a:rPr>
              <a:t>    </a:t>
            </a:r>
            <a:r>
              <a:rPr lang="en-US" sz="1300" err="1">
                <a:solidFill>
                  <a:srgbClr val="9CDCFE"/>
                </a:solidFill>
                <a:latin typeface="Consolas"/>
              </a:rPr>
              <a:t>t</a:t>
            </a:r>
            <a:r>
              <a:rPr lang="en-US" sz="1300" err="1">
                <a:solidFill>
                  <a:srgbClr val="CCCCCC"/>
                </a:solidFill>
                <a:latin typeface="Consolas"/>
              </a:rPr>
              <a:t>.</a:t>
            </a:r>
            <a:r>
              <a:rPr lang="en-US" sz="1300" err="1">
                <a:solidFill>
                  <a:srgbClr val="9CDCFE"/>
                </a:solidFill>
                <a:latin typeface="Consolas"/>
              </a:rPr>
              <a:t>backward</a:t>
            </a:r>
            <a:r>
              <a:rPr lang="en-US" sz="1300" dirty="0">
                <a:solidFill>
                  <a:srgbClr val="CCCCCC"/>
                </a:solidFill>
                <a:latin typeface="Consolas"/>
              </a:rPr>
              <a:t>(</a:t>
            </a:r>
            <a:r>
              <a:rPr lang="en-US" sz="1300" dirty="0">
                <a:solidFill>
                  <a:srgbClr val="9CDCFE"/>
                </a:solidFill>
                <a:latin typeface="Consolas"/>
              </a:rPr>
              <a:t>length</a:t>
            </a:r>
            <a:endParaRPr lang="en-US" sz="1300" dirty="0">
              <a:solidFill>
                <a:srgbClr val="CCCCCC"/>
              </a:solidFill>
              <a:latin typeface="Consolas"/>
            </a:endParaRPr>
          </a:p>
          <a:p>
            <a:r>
              <a:rPr lang="en-US" sz="1300" err="1">
                <a:solidFill>
                  <a:srgbClr val="9CDCFE"/>
                </a:solidFill>
                <a:latin typeface="Consolas"/>
              </a:rPr>
              <a:t>t</a:t>
            </a:r>
            <a:r>
              <a:rPr lang="en-US" sz="1300" err="1">
                <a:solidFill>
                  <a:srgbClr val="CCCCCC"/>
                </a:solidFill>
                <a:latin typeface="Consolas"/>
              </a:rPr>
              <a:t>.</a:t>
            </a:r>
            <a:r>
              <a:rPr lang="en-US" sz="1300" err="1">
                <a:solidFill>
                  <a:srgbClr val="DCDCAA"/>
                </a:solidFill>
                <a:latin typeface="Consolas"/>
              </a:rPr>
              <a:t>penup</a:t>
            </a:r>
            <a:r>
              <a:rPr lang="en-US" sz="1300" dirty="0">
                <a:solidFill>
                  <a:srgbClr val="CCCCCC"/>
                </a:solidFill>
                <a:latin typeface="Consolas"/>
              </a:rPr>
              <a:t>()</a:t>
            </a:r>
            <a:endParaRPr lang="en-US" sz="1300"/>
          </a:p>
          <a:p>
            <a:r>
              <a:rPr lang="en-US" sz="1300" err="1">
                <a:solidFill>
                  <a:srgbClr val="9CDCFE"/>
                </a:solidFill>
                <a:latin typeface="Consolas"/>
              </a:rPr>
              <a:t>t</a:t>
            </a:r>
            <a:r>
              <a:rPr lang="en-US" sz="1300" err="1">
                <a:solidFill>
                  <a:srgbClr val="CCCCCC"/>
                </a:solidFill>
                <a:latin typeface="Consolas"/>
              </a:rPr>
              <a:t>.</a:t>
            </a:r>
            <a:r>
              <a:rPr lang="en-US" sz="1300" err="1">
                <a:solidFill>
                  <a:srgbClr val="DCDCAA"/>
                </a:solidFill>
                <a:latin typeface="Consolas"/>
              </a:rPr>
              <a:t>goto</a:t>
            </a:r>
            <a:r>
              <a:rPr lang="en-US" sz="1300" dirty="0">
                <a:solidFill>
                  <a:srgbClr val="CCCCCC"/>
                </a:solidFill>
                <a:latin typeface="Consolas"/>
              </a:rPr>
              <a:t>(</a:t>
            </a:r>
            <a:r>
              <a:rPr lang="en-US" sz="1300" dirty="0">
                <a:solidFill>
                  <a:srgbClr val="B5CEA8"/>
                </a:solidFill>
                <a:latin typeface="Consolas"/>
              </a:rPr>
              <a:t>0</a:t>
            </a:r>
            <a:r>
              <a:rPr lang="en-US" sz="1300" dirty="0">
                <a:solidFill>
                  <a:srgbClr val="CCCCCC"/>
                </a:solidFill>
                <a:latin typeface="Consolas"/>
              </a:rPr>
              <a:t>, </a:t>
            </a:r>
            <a:r>
              <a:rPr lang="en-US" sz="1300" dirty="0">
                <a:solidFill>
                  <a:srgbClr val="D4D4D4"/>
                </a:solidFill>
                <a:latin typeface="Consolas"/>
              </a:rPr>
              <a:t>-</a:t>
            </a:r>
            <a:r>
              <a:rPr lang="en-US" sz="1300" dirty="0">
                <a:solidFill>
                  <a:srgbClr val="B5CEA8"/>
                </a:solidFill>
                <a:latin typeface="Consolas"/>
              </a:rPr>
              <a:t>200</a:t>
            </a:r>
            <a:r>
              <a:rPr lang="en-US" sz="1300" dirty="0">
                <a:solidFill>
                  <a:srgbClr val="CCCCCC"/>
                </a:solidFill>
                <a:latin typeface="Consolas"/>
              </a:rPr>
              <a:t>)</a:t>
            </a:r>
            <a:endParaRPr lang="en-US" sz="1300"/>
          </a:p>
          <a:p>
            <a:r>
              <a:rPr lang="en-US" sz="1300" err="1">
                <a:solidFill>
                  <a:srgbClr val="9CDCFE"/>
                </a:solidFill>
                <a:latin typeface="Consolas"/>
              </a:rPr>
              <a:t>t</a:t>
            </a:r>
            <a:r>
              <a:rPr lang="en-US" sz="1300" err="1">
                <a:solidFill>
                  <a:srgbClr val="CCCCCC"/>
                </a:solidFill>
                <a:latin typeface="Consolas"/>
              </a:rPr>
              <a:t>.</a:t>
            </a:r>
            <a:r>
              <a:rPr lang="en-US" sz="1300" err="1">
                <a:solidFill>
                  <a:srgbClr val="DCDCAA"/>
                </a:solidFill>
                <a:latin typeface="Consolas"/>
              </a:rPr>
              <a:t>pendown</a:t>
            </a:r>
            <a:r>
              <a:rPr lang="en-US" sz="1300" dirty="0">
                <a:solidFill>
                  <a:srgbClr val="CCCCCC"/>
                </a:solidFill>
                <a:latin typeface="Consolas"/>
              </a:rPr>
              <a:t>()</a:t>
            </a:r>
            <a:endParaRPr lang="en-US" sz="1300"/>
          </a:p>
          <a:p>
            <a:r>
              <a:rPr lang="en-US" sz="1300" err="1">
                <a:solidFill>
                  <a:srgbClr val="DCDCAA"/>
                </a:solidFill>
                <a:latin typeface="Consolas"/>
              </a:rPr>
              <a:t>draw_branch</a:t>
            </a:r>
            <a:r>
              <a:rPr lang="en-US" sz="1300" dirty="0">
                <a:solidFill>
                  <a:srgbClr val="CCCCCC"/>
                </a:solidFill>
                <a:latin typeface="Consolas"/>
              </a:rPr>
              <a:t>(</a:t>
            </a:r>
            <a:r>
              <a:rPr lang="en-US" sz="1300" dirty="0">
                <a:solidFill>
                  <a:srgbClr val="B5CEA8"/>
                </a:solidFill>
                <a:latin typeface="Consolas"/>
              </a:rPr>
              <a:t>100</a:t>
            </a:r>
            <a:r>
              <a:rPr lang="en-US" sz="1300" dirty="0">
                <a:solidFill>
                  <a:srgbClr val="CCCCCC"/>
                </a:solidFill>
                <a:latin typeface="Consolas"/>
              </a:rPr>
              <a:t>)</a:t>
            </a:r>
            <a:endParaRPr lang="en-US" sz="1300"/>
          </a:p>
          <a:p>
            <a:r>
              <a:rPr lang="en-US" sz="1300" err="1">
                <a:solidFill>
                  <a:srgbClr val="4EC9B0"/>
                </a:solidFill>
                <a:latin typeface="Consolas"/>
              </a:rPr>
              <a:t>turtle</a:t>
            </a:r>
            <a:r>
              <a:rPr lang="en-US" sz="1300" err="1">
                <a:solidFill>
                  <a:srgbClr val="CCCCCC"/>
                </a:solidFill>
                <a:latin typeface="Consolas"/>
              </a:rPr>
              <a:t>.</a:t>
            </a:r>
            <a:r>
              <a:rPr lang="en-US" sz="1300" err="1">
                <a:solidFill>
                  <a:srgbClr val="9CDCFE"/>
                </a:solidFill>
                <a:latin typeface="Consolas"/>
              </a:rPr>
              <a:t>done</a:t>
            </a:r>
            <a:r>
              <a:rPr lang="en-US" sz="1300" dirty="0">
                <a:solidFill>
                  <a:srgbClr val="CCCCCC"/>
                </a:solidFill>
                <a:latin typeface="Consolas"/>
              </a:rPr>
              <a:t>()</a:t>
            </a:r>
            <a:endParaRPr lang="en-US" sz="1300" dirty="0"/>
          </a:p>
          <a:p>
            <a:endParaRPr lang="en-US" dirty="0"/>
          </a:p>
        </p:txBody>
      </p:sp>
    </p:spTree>
    <p:extLst>
      <p:ext uri="{BB962C8B-B14F-4D97-AF65-F5344CB8AC3E}">
        <p14:creationId xmlns:p14="http://schemas.microsoft.com/office/powerpoint/2010/main" val="19900249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colorful spiral in a square&#10;&#10;AI-generated content may be incorrect.">
            <a:extLst>
              <a:ext uri="{FF2B5EF4-FFF2-40B4-BE49-F238E27FC236}">
                <a16:creationId xmlns:a16="http://schemas.microsoft.com/office/drawing/2014/main" id="{754C1440-05E8-FDA6-17D9-B7D476FE9002}"/>
              </a:ext>
            </a:extLst>
          </p:cNvPr>
          <p:cNvPicPr>
            <a:picLocks noGrp="1" noChangeAspect="1"/>
          </p:cNvPicPr>
          <p:nvPr>
            <p:ph idx="1"/>
          </p:nvPr>
        </p:nvPicPr>
        <p:blipFill>
          <a:blip r:embed="rId2"/>
          <a:stretch>
            <a:fillRect/>
          </a:stretch>
        </p:blipFill>
        <p:spPr>
          <a:xfrm>
            <a:off x="3598089" y="964968"/>
            <a:ext cx="6797560" cy="5321532"/>
          </a:xfrm>
        </p:spPr>
      </p:pic>
    </p:spTree>
    <p:extLst>
      <p:ext uri="{BB962C8B-B14F-4D97-AF65-F5344CB8AC3E}">
        <p14:creationId xmlns:p14="http://schemas.microsoft.com/office/powerpoint/2010/main" val="6931192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C540E3-75F8-4566-D6AC-36C9D7EC0A37}"/>
              </a:ext>
            </a:extLst>
          </p:cNvPr>
          <p:cNvSpPr>
            <a:spLocks noGrp="1"/>
          </p:cNvSpPr>
          <p:nvPr>
            <p:ph idx="1"/>
          </p:nvPr>
        </p:nvSpPr>
        <p:spPr>
          <a:xfrm>
            <a:off x="1088136" y="-2345"/>
            <a:ext cx="9922764" cy="6851552"/>
          </a:xfrm>
          <a:solidFill>
            <a:schemeClr val="tx1"/>
          </a:solidFill>
          <a:ln>
            <a:solidFill>
              <a:schemeClr val="tx1"/>
            </a:solidFill>
          </a:ln>
        </p:spPr>
        <p:txBody>
          <a:bodyPr vert="horz" lIns="91440" tIns="45720" rIns="91440" bIns="45720" rtlCol="0" anchor="t">
            <a:normAutofit/>
          </a:bodyPr>
          <a:lstStyle/>
          <a:p>
            <a:r>
              <a:rPr lang="en-US" dirty="0">
                <a:solidFill>
                  <a:srgbClr val="C586C0"/>
                </a:solidFill>
                <a:latin typeface="Consolas"/>
              </a:rPr>
              <a:t>import</a:t>
            </a:r>
            <a:r>
              <a:rPr lang="en-US" dirty="0">
                <a:solidFill>
                  <a:srgbClr val="CCCCCC"/>
                </a:solidFill>
                <a:latin typeface="Consolas"/>
              </a:rPr>
              <a:t> </a:t>
            </a:r>
            <a:r>
              <a:rPr lang="en-US" dirty="0">
                <a:solidFill>
                  <a:srgbClr val="4EC9B0"/>
                </a:solidFill>
                <a:latin typeface="Consolas"/>
              </a:rPr>
              <a:t>turtle</a:t>
            </a:r>
            <a:endParaRPr lang="en-US"/>
          </a:p>
          <a:p>
            <a:r>
              <a:rPr lang="en-US" dirty="0">
                <a:solidFill>
                  <a:srgbClr val="C586C0"/>
                </a:solidFill>
                <a:latin typeface="Consolas"/>
              </a:rPr>
              <a:t>import</a:t>
            </a:r>
            <a:r>
              <a:rPr lang="en-US" dirty="0">
                <a:solidFill>
                  <a:srgbClr val="CCCCCC"/>
                </a:solidFill>
                <a:latin typeface="Consolas"/>
              </a:rPr>
              <a:t> </a:t>
            </a:r>
            <a:r>
              <a:rPr lang="en-US" dirty="0">
                <a:solidFill>
                  <a:srgbClr val="4EC9B0"/>
                </a:solidFill>
                <a:latin typeface="Consolas"/>
              </a:rPr>
              <a:t>random</a:t>
            </a:r>
            <a:endParaRPr lang="en-US"/>
          </a:p>
          <a:p>
            <a:r>
              <a:rPr lang="en-US" dirty="0">
                <a:solidFill>
                  <a:srgbClr val="9CDCFE"/>
                </a:solidFill>
                <a:latin typeface="Consolas"/>
              </a:rPr>
              <a:t>t</a:t>
            </a:r>
            <a:r>
              <a:rPr lang="en-US" dirty="0">
                <a:solidFill>
                  <a:srgbClr val="CCCCCC"/>
                </a:solidFill>
                <a:latin typeface="Consolas"/>
              </a:rPr>
              <a:t> </a:t>
            </a:r>
            <a:r>
              <a:rPr lang="en-US" dirty="0">
                <a:solidFill>
                  <a:srgbClr val="D4D4D4"/>
                </a:solidFill>
                <a:latin typeface="Consolas"/>
              </a:rPr>
              <a:t>=</a:t>
            </a:r>
            <a:r>
              <a:rPr lang="en-US" dirty="0">
                <a:solidFill>
                  <a:srgbClr val="CCCCCC"/>
                </a:solidFill>
                <a:latin typeface="Consolas"/>
              </a:rPr>
              <a:t> </a:t>
            </a:r>
            <a:r>
              <a:rPr lang="en-US" err="1">
                <a:solidFill>
                  <a:srgbClr val="4EC9B0"/>
                </a:solidFill>
                <a:latin typeface="Consolas"/>
              </a:rPr>
              <a:t>turtle</a:t>
            </a:r>
            <a:r>
              <a:rPr lang="en-US" err="1">
                <a:solidFill>
                  <a:srgbClr val="CCCCCC"/>
                </a:solidFill>
                <a:latin typeface="Consolas"/>
              </a:rPr>
              <a:t>.</a:t>
            </a:r>
            <a:r>
              <a:rPr lang="en-US" err="1">
                <a:solidFill>
                  <a:srgbClr val="4EC9B0"/>
                </a:solidFill>
                <a:latin typeface="Consolas"/>
              </a:rPr>
              <a:t>Turtle</a:t>
            </a:r>
            <a:r>
              <a:rPr lang="en-US" dirty="0">
                <a:solidFill>
                  <a:srgbClr val="CCCCCC"/>
                </a:solidFill>
                <a:latin typeface="Consolas"/>
              </a:rPr>
              <a:t>()</a:t>
            </a:r>
            <a:endParaRPr lang="en-US"/>
          </a:p>
          <a:p>
            <a:r>
              <a:rPr lang="en-US" err="1">
                <a:solidFill>
                  <a:srgbClr val="9CDCFE"/>
                </a:solidFill>
                <a:latin typeface="Consolas"/>
              </a:rPr>
              <a:t>t</a:t>
            </a:r>
            <a:r>
              <a:rPr lang="en-US" err="1">
                <a:solidFill>
                  <a:srgbClr val="CCCCCC"/>
                </a:solidFill>
                <a:latin typeface="Consolas"/>
              </a:rPr>
              <a:t>.</a:t>
            </a:r>
            <a:r>
              <a:rPr lang="en-US" err="1">
                <a:solidFill>
                  <a:srgbClr val="DCDCAA"/>
                </a:solidFill>
                <a:latin typeface="Consolas"/>
              </a:rPr>
              <a:t>speed</a:t>
            </a:r>
            <a:r>
              <a:rPr lang="en-US" dirty="0">
                <a:solidFill>
                  <a:srgbClr val="CCCCCC"/>
                </a:solidFill>
                <a:latin typeface="Consolas"/>
              </a:rPr>
              <a:t>(</a:t>
            </a:r>
            <a:r>
              <a:rPr lang="en-US" dirty="0">
                <a:solidFill>
                  <a:srgbClr val="B5CEA8"/>
                </a:solidFill>
                <a:latin typeface="Consolas"/>
              </a:rPr>
              <a:t>0</a:t>
            </a:r>
            <a:r>
              <a:rPr lang="en-US" dirty="0">
                <a:solidFill>
                  <a:srgbClr val="CCCCCC"/>
                </a:solidFill>
                <a:latin typeface="Consolas"/>
              </a:rPr>
              <a:t>)</a:t>
            </a:r>
            <a:endParaRPr lang="en-US"/>
          </a:p>
          <a:p>
            <a:r>
              <a:rPr lang="en-US" err="1">
                <a:solidFill>
                  <a:srgbClr val="4EC9B0"/>
                </a:solidFill>
                <a:latin typeface="Consolas"/>
              </a:rPr>
              <a:t>turtle</a:t>
            </a:r>
            <a:r>
              <a:rPr lang="en-US" err="1">
                <a:solidFill>
                  <a:srgbClr val="CCCCCC"/>
                </a:solidFill>
                <a:latin typeface="Consolas"/>
              </a:rPr>
              <a:t>.</a:t>
            </a:r>
            <a:r>
              <a:rPr lang="en-US" err="1">
                <a:solidFill>
                  <a:srgbClr val="DCDCAA"/>
                </a:solidFill>
                <a:latin typeface="Consolas"/>
              </a:rPr>
              <a:t>bgcolor</a:t>
            </a:r>
            <a:r>
              <a:rPr lang="en-US" dirty="0">
                <a:solidFill>
                  <a:srgbClr val="CCCCCC"/>
                </a:solidFill>
                <a:latin typeface="Consolas"/>
              </a:rPr>
              <a:t>(</a:t>
            </a:r>
            <a:r>
              <a:rPr lang="en-US" dirty="0">
                <a:solidFill>
                  <a:srgbClr val="CE9178"/>
                </a:solidFill>
                <a:latin typeface="Consolas"/>
              </a:rPr>
              <a:t>"black"</a:t>
            </a:r>
            <a:r>
              <a:rPr lang="en-US" dirty="0">
                <a:solidFill>
                  <a:srgbClr val="CCCCCC"/>
                </a:solidFill>
                <a:latin typeface="Consolas"/>
              </a:rPr>
              <a:t>)</a:t>
            </a:r>
            <a:endParaRPr lang="en-US"/>
          </a:p>
          <a:p>
            <a:r>
              <a:rPr lang="en-US" dirty="0">
                <a:solidFill>
                  <a:srgbClr val="9CDCFE"/>
                </a:solidFill>
                <a:latin typeface="Consolas"/>
              </a:rPr>
              <a:t>colors</a:t>
            </a:r>
            <a:r>
              <a:rPr lang="en-US" dirty="0">
                <a:solidFill>
                  <a:srgbClr val="CCCCCC"/>
                </a:solidFill>
                <a:latin typeface="Consolas"/>
              </a:rPr>
              <a:t> </a:t>
            </a:r>
            <a:r>
              <a:rPr lang="en-US" dirty="0">
                <a:solidFill>
                  <a:srgbClr val="D4D4D4"/>
                </a:solidFill>
                <a:latin typeface="Consolas"/>
              </a:rPr>
              <a:t>=</a:t>
            </a:r>
            <a:r>
              <a:rPr lang="en-US" dirty="0">
                <a:solidFill>
                  <a:srgbClr val="CCCCCC"/>
                </a:solidFill>
                <a:latin typeface="Consolas"/>
              </a:rPr>
              <a:t> [</a:t>
            </a:r>
            <a:r>
              <a:rPr lang="en-US" dirty="0">
                <a:solidFill>
                  <a:srgbClr val="CE9178"/>
                </a:solidFill>
                <a:latin typeface="Consolas"/>
              </a:rPr>
              <a:t>"red"</a:t>
            </a:r>
            <a:r>
              <a:rPr lang="en-US" dirty="0">
                <a:solidFill>
                  <a:srgbClr val="CCCCCC"/>
                </a:solidFill>
                <a:latin typeface="Consolas"/>
              </a:rPr>
              <a:t>, </a:t>
            </a:r>
            <a:r>
              <a:rPr lang="en-US" dirty="0">
                <a:solidFill>
                  <a:srgbClr val="CE9178"/>
                </a:solidFill>
                <a:latin typeface="Consolas"/>
              </a:rPr>
              <a:t>"blue"</a:t>
            </a:r>
            <a:r>
              <a:rPr lang="en-US" dirty="0">
                <a:solidFill>
                  <a:srgbClr val="CCCCCC"/>
                </a:solidFill>
                <a:latin typeface="Consolas"/>
              </a:rPr>
              <a:t>, </a:t>
            </a:r>
            <a:r>
              <a:rPr lang="en-US" dirty="0">
                <a:solidFill>
                  <a:srgbClr val="CE9178"/>
                </a:solidFill>
                <a:latin typeface="Consolas"/>
              </a:rPr>
              <a:t>"green"</a:t>
            </a:r>
            <a:r>
              <a:rPr lang="en-US" dirty="0">
                <a:solidFill>
                  <a:srgbClr val="CCCCCC"/>
                </a:solidFill>
                <a:latin typeface="Consolas"/>
              </a:rPr>
              <a:t>, </a:t>
            </a:r>
            <a:r>
              <a:rPr lang="en-US" dirty="0">
                <a:solidFill>
                  <a:srgbClr val="CE9178"/>
                </a:solidFill>
                <a:latin typeface="Consolas"/>
              </a:rPr>
              <a:t>"purple"</a:t>
            </a:r>
            <a:r>
              <a:rPr lang="en-US" dirty="0">
                <a:solidFill>
                  <a:srgbClr val="CCCCCC"/>
                </a:solidFill>
                <a:latin typeface="Consolas"/>
              </a:rPr>
              <a:t>, </a:t>
            </a:r>
            <a:r>
              <a:rPr lang="en-US" dirty="0">
                <a:solidFill>
                  <a:srgbClr val="CE9178"/>
                </a:solidFill>
                <a:latin typeface="Consolas"/>
              </a:rPr>
              <a:t>"yellow"</a:t>
            </a:r>
            <a:r>
              <a:rPr lang="en-US" dirty="0">
                <a:solidFill>
                  <a:srgbClr val="CCCCCC"/>
                </a:solidFill>
                <a:latin typeface="Consolas"/>
              </a:rPr>
              <a:t>, </a:t>
            </a:r>
            <a:r>
              <a:rPr lang="en-US" dirty="0">
                <a:solidFill>
                  <a:srgbClr val="CE9178"/>
                </a:solidFill>
                <a:latin typeface="Consolas"/>
              </a:rPr>
              <a:t>"cyan"</a:t>
            </a:r>
            <a:r>
              <a:rPr lang="en-US" dirty="0">
                <a:solidFill>
                  <a:srgbClr val="CCCCCC"/>
                </a:solidFill>
                <a:latin typeface="Consolas"/>
              </a:rPr>
              <a:t>]</a:t>
            </a:r>
            <a:endParaRPr lang="en-US"/>
          </a:p>
          <a:p>
            <a:r>
              <a:rPr lang="en-US" dirty="0">
                <a:solidFill>
                  <a:srgbClr val="C586C0"/>
                </a:solidFill>
                <a:latin typeface="Consolas"/>
              </a:rPr>
              <a:t>for</a:t>
            </a:r>
            <a:r>
              <a:rPr lang="en-US" dirty="0">
                <a:solidFill>
                  <a:srgbClr val="CCCCCC"/>
                </a:solidFill>
                <a:latin typeface="Consolas"/>
              </a:rPr>
              <a:t> </a:t>
            </a:r>
            <a:r>
              <a:rPr lang="en-US" err="1">
                <a:solidFill>
                  <a:srgbClr val="9CDCFE"/>
                </a:solidFill>
                <a:latin typeface="Consolas"/>
              </a:rPr>
              <a:t>i</a:t>
            </a:r>
            <a:r>
              <a:rPr lang="en-US" dirty="0">
                <a:solidFill>
                  <a:srgbClr val="CCCCCC"/>
                </a:solidFill>
                <a:latin typeface="Consolas"/>
              </a:rPr>
              <a:t> </a:t>
            </a:r>
            <a:r>
              <a:rPr lang="en-US" dirty="0">
                <a:solidFill>
                  <a:srgbClr val="C586C0"/>
                </a:solidFill>
                <a:latin typeface="Consolas"/>
              </a:rPr>
              <a:t>in</a:t>
            </a:r>
            <a:r>
              <a:rPr lang="en-US" dirty="0">
                <a:solidFill>
                  <a:srgbClr val="CCCCCC"/>
                </a:solidFill>
                <a:latin typeface="Consolas"/>
              </a:rPr>
              <a:t> </a:t>
            </a:r>
            <a:r>
              <a:rPr lang="en-US" dirty="0">
                <a:solidFill>
                  <a:srgbClr val="4EC9B0"/>
                </a:solidFill>
                <a:latin typeface="Consolas"/>
              </a:rPr>
              <a:t>range</a:t>
            </a:r>
            <a:r>
              <a:rPr lang="en-US" dirty="0">
                <a:solidFill>
                  <a:srgbClr val="CCCCCC"/>
                </a:solidFill>
                <a:latin typeface="Consolas"/>
              </a:rPr>
              <a:t>(</a:t>
            </a:r>
            <a:r>
              <a:rPr lang="en-US" dirty="0">
                <a:solidFill>
                  <a:srgbClr val="B5CEA8"/>
                </a:solidFill>
                <a:latin typeface="Consolas"/>
              </a:rPr>
              <a:t>100</a:t>
            </a:r>
            <a:r>
              <a:rPr lang="en-US" dirty="0">
                <a:solidFill>
                  <a:srgbClr val="CCCCCC"/>
                </a:solidFill>
                <a:latin typeface="Consolas"/>
              </a:rPr>
              <a:t>):</a:t>
            </a:r>
            <a:endParaRPr lang="en-US"/>
          </a:p>
          <a:p>
            <a:r>
              <a:rPr lang="en-US" dirty="0">
                <a:solidFill>
                  <a:srgbClr val="CCCCCC"/>
                </a:solidFill>
                <a:latin typeface="Consolas"/>
              </a:rPr>
              <a:t>    </a:t>
            </a:r>
            <a:r>
              <a:rPr lang="en-US" err="1">
                <a:solidFill>
                  <a:srgbClr val="9CDCFE"/>
                </a:solidFill>
                <a:latin typeface="Consolas"/>
              </a:rPr>
              <a:t>t</a:t>
            </a:r>
            <a:r>
              <a:rPr lang="en-US" err="1">
                <a:solidFill>
                  <a:srgbClr val="CCCCCC"/>
                </a:solidFill>
                <a:latin typeface="Consolas"/>
              </a:rPr>
              <a:t>.</a:t>
            </a:r>
            <a:r>
              <a:rPr lang="en-US" err="1">
                <a:solidFill>
                  <a:srgbClr val="DCDCAA"/>
                </a:solidFill>
                <a:latin typeface="Consolas"/>
              </a:rPr>
              <a:t>pencolor</a:t>
            </a:r>
            <a:r>
              <a:rPr lang="en-US" dirty="0">
                <a:solidFill>
                  <a:srgbClr val="CCCCCC"/>
                </a:solidFill>
                <a:latin typeface="Consolas"/>
              </a:rPr>
              <a:t>(</a:t>
            </a:r>
            <a:r>
              <a:rPr lang="en-US" err="1">
                <a:solidFill>
                  <a:srgbClr val="4EC9B0"/>
                </a:solidFill>
                <a:latin typeface="Consolas"/>
              </a:rPr>
              <a:t>random</a:t>
            </a:r>
            <a:r>
              <a:rPr lang="en-US" err="1">
                <a:solidFill>
                  <a:srgbClr val="CCCCCC"/>
                </a:solidFill>
                <a:latin typeface="Consolas"/>
              </a:rPr>
              <a:t>.</a:t>
            </a:r>
            <a:r>
              <a:rPr lang="en-US" err="1">
                <a:solidFill>
                  <a:srgbClr val="9CDCFE"/>
                </a:solidFill>
                <a:latin typeface="Consolas"/>
              </a:rPr>
              <a:t>choice</a:t>
            </a:r>
            <a:r>
              <a:rPr lang="en-US" dirty="0">
                <a:solidFill>
                  <a:srgbClr val="CCCCCC"/>
                </a:solidFill>
                <a:latin typeface="Consolas"/>
              </a:rPr>
              <a:t>(</a:t>
            </a:r>
            <a:r>
              <a:rPr lang="en-US" dirty="0">
                <a:solidFill>
                  <a:srgbClr val="9CDCFE"/>
                </a:solidFill>
                <a:latin typeface="Consolas"/>
              </a:rPr>
              <a:t>colors</a:t>
            </a:r>
            <a:r>
              <a:rPr lang="en-US" dirty="0">
                <a:solidFill>
                  <a:srgbClr val="CCCCCC"/>
                </a:solidFill>
                <a:latin typeface="Consolas"/>
              </a:rPr>
              <a:t>))</a:t>
            </a:r>
            <a:endParaRPr lang="en-US"/>
          </a:p>
          <a:p>
            <a:r>
              <a:rPr lang="en-US" dirty="0">
                <a:solidFill>
                  <a:srgbClr val="CCCCCC"/>
                </a:solidFill>
                <a:latin typeface="Consolas"/>
              </a:rPr>
              <a:t>    </a:t>
            </a:r>
            <a:r>
              <a:rPr lang="en-US" err="1">
                <a:solidFill>
                  <a:srgbClr val="9CDCFE"/>
                </a:solidFill>
                <a:latin typeface="Consolas"/>
              </a:rPr>
              <a:t>t</a:t>
            </a:r>
            <a:r>
              <a:rPr lang="en-US" err="1">
                <a:solidFill>
                  <a:srgbClr val="CCCCCC"/>
                </a:solidFill>
                <a:latin typeface="Consolas"/>
              </a:rPr>
              <a:t>.</a:t>
            </a:r>
            <a:r>
              <a:rPr lang="en-US" err="1">
                <a:solidFill>
                  <a:srgbClr val="DCDCAA"/>
                </a:solidFill>
                <a:latin typeface="Consolas"/>
              </a:rPr>
              <a:t>forward</a:t>
            </a:r>
            <a:r>
              <a:rPr lang="en-US" dirty="0">
                <a:solidFill>
                  <a:srgbClr val="CCCCCC"/>
                </a:solidFill>
                <a:latin typeface="Consolas"/>
              </a:rPr>
              <a:t>(</a:t>
            </a:r>
            <a:r>
              <a:rPr lang="en-US" err="1">
                <a:solidFill>
                  <a:srgbClr val="9CDCFE"/>
                </a:solidFill>
                <a:latin typeface="Consolas"/>
              </a:rPr>
              <a:t>i</a:t>
            </a:r>
            <a:r>
              <a:rPr lang="en-US" dirty="0">
                <a:solidFill>
                  <a:srgbClr val="CCCCCC"/>
                </a:solidFill>
                <a:latin typeface="Consolas"/>
              </a:rPr>
              <a:t> </a:t>
            </a:r>
            <a:r>
              <a:rPr lang="en-US" dirty="0">
                <a:solidFill>
                  <a:srgbClr val="D4D4D4"/>
                </a:solidFill>
                <a:latin typeface="Consolas"/>
              </a:rPr>
              <a:t>*</a:t>
            </a:r>
            <a:r>
              <a:rPr lang="en-US" dirty="0">
                <a:solidFill>
                  <a:srgbClr val="CCCCCC"/>
                </a:solidFill>
                <a:latin typeface="Consolas"/>
              </a:rPr>
              <a:t> </a:t>
            </a:r>
            <a:r>
              <a:rPr lang="en-US" dirty="0">
                <a:solidFill>
                  <a:srgbClr val="B5CEA8"/>
                </a:solidFill>
                <a:latin typeface="Consolas"/>
              </a:rPr>
              <a:t>2</a:t>
            </a:r>
            <a:r>
              <a:rPr lang="en-US" dirty="0">
                <a:solidFill>
                  <a:srgbClr val="CCCCCC"/>
                </a:solidFill>
                <a:latin typeface="Consolas"/>
              </a:rPr>
              <a:t>)</a:t>
            </a:r>
            <a:endParaRPr lang="en-US"/>
          </a:p>
          <a:p>
            <a:r>
              <a:rPr lang="en-US" dirty="0">
                <a:solidFill>
                  <a:srgbClr val="CCCCCC"/>
                </a:solidFill>
                <a:latin typeface="Consolas"/>
              </a:rPr>
              <a:t>    </a:t>
            </a:r>
            <a:r>
              <a:rPr lang="en-US" err="1">
                <a:solidFill>
                  <a:srgbClr val="9CDCFE"/>
                </a:solidFill>
                <a:latin typeface="Consolas"/>
              </a:rPr>
              <a:t>t</a:t>
            </a:r>
            <a:r>
              <a:rPr lang="en-US" err="1">
                <a:solidFill>
                  <a:srgbClr val="CCCCCC"/>
                </a:solidFill>
                <a:latin typeface="Consolas"/>
              </a:rPr>
              <a:t>.</a:t>
            </a:r>
            <a:r>
              <a:rPr lang="en-US" err="1">
                <a:solidFill>
                  <a:srgbClr val="DCDCAA"/>
                </a:solidFill>
                <a:latin typeface="Consolas"/>
              </a:rPr>
              <a:t>right</a:t>
            </a:r>
            <a:r>
              <a:rPr lang="en-US" dirty="0">
                <a:solidFill>
                  <a:srgbClr val="CCCCCC"/>
                </a:solidFill>
                <a:latin typeface="Consolas"/>
              </a:rPr>
              <a:t>(</a:t>
            </a:r>
            <a:r>
              <a:rPr lang="en-US" dirty="0">
                <a:solidFill>
                  <a:srgbClr val="B5CEA8"/>
                </a:solidFill>
                <a:latin typeface="Consolas"/>
              </a:rPr>
              <a:t>91</a:t>
            </a:r>
            <a:r>
              <a:rPr lang="en-US" dirty="0">
                <a:solidFill>
                  <a:srgbClr val="CCCCCC"/>
                </a:solidFill>
                <a:latin typeface="Consolas"/>
              </a:rPr>
              <a:t>)  </a:t>
            </a:r>
            <a:r>
              <a:rPr lang="en-US" dirty="0">
                <a:solidFill>
                  <a:srgbClr val="6A9955"/>
                </a:solidFill>
                <a:latin typeface="Consolas"/>
              </a:rPr>
              <a:t># Try changing to 89 or 92 for different effects!</a:t>
            </a:r>
            <a:endParaRPr lang="en-US"/>
          </a:p>
          <a:p>
            <a:r>
              <a:rPr lang="en-US" err="1">
                <a:solidFill>
                  <a:srgbClr val="4EC9B0"/>
                </a:solidFill>
                <a:latin typeface="Consolas"/>
              </a:rPr>
              <a:t>turtle</a:t>
            </a:r>
            <a:r>
              <a:rPr lang="en-US" err="1">
                <a:solidFill>
                  <a:srgbClr val="CCCCCC"/>
                </a:solidFill>
                <a:latin typeface="Consolas"/>
              </a:rPr>
              <a:t>.</a:t>
            </a:r>
            <a:r>
              <a:rPr lang="en-US" err="1">
                <a:solidFill>
                  <a:srgbClr val="9CDCFE"/>
                </a:solidFill>
                <a:latin typeface="Consolas"/>
              </a:rPr>
              <a:t>done</a:t>
            </a:r>
            <a:r>
              <a:rPr lang="en-US" dirty="0">
                <a:solidFill>
                  <a:srgbClr val="CCCCCC"/>
                </a:solidFill>
                <a:latin typeface="Consolas"/>
              </a:rPr>
              <a:t>()</a:t>
            </a:r>
            <a:endParaRPr lang="en-US"/>
          </a:p>
          <a:p>
            <a:br>
              <a:rPr lang="en-US" dirty="0"/>
            </a:br>
            <a:endParaRPr lang="en-US" dirty="0"/>
          </a:p>
          <a:p>
            <a:endParaRPr lang="en-US" dirty="0"/>
          </a:p>
        </p:txBody>
      </p:sp>
    </p:spTree>
    <p:extLst>
      <p:ext uri="{BB962C8B-B14F-4D97-AF65-F5344CB8AC3E}">
        <p14:creationId xmlns:p14="http://schemas.microsoft.com/office/powerpoint/2010/main" val="34441251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grid of hexagons&#10;&#10;AI-generated content may be incorrect.">
            <a:extLst>
              <a:ext uri="{FF2B5EF4-FFF2-40B4-BE49-F238E27FC236}">
                <a16:creationId xmlns:a16="http://schemas.microsoft.com/office/drawing/2014/main" id="{CEA11138-A428-10EF-DC0B-368AAFA5F8AF}"/>
              </a:ext>
            </a:extLst>
          </p:cNvPr>
          <p:cNvPicPr>
            <a:picLocks noGrp="1" noChangeAspect="1"/>
          </p:cNvPicPr>
          <p:nvPr>
            <p:ph idx="1"/>
          </p:nvPr>
        </p:nvPicPr>
        <p:blipFill>
          <a:blip r:embed="rId2"/>
          <a:stretch>
            <a:fillRect/>
          </a:stretch>
        </p:blipFill>
        <p:spPr>
          <a:xfrm>
            <a:off x="2607103" y="724486"/>
            <a:ext cx="6884830" cy="5562014"/>
          </a:xfrm>
        </p:spPr>
      </p:pic>
    </p:spTree>
    <p:extLst>
      <p:ext uri="{BB962C8B-B14F-4D97-AF65-F5344CB8AC3E}">
        <p14:creationId xmlns:p14="http://schemas.microsoft.com/office/powerpoint/2010/main" val="29536959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02C44-724A-1800-37F2-38B3D2A19A7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EE2854-BFC8-F6C7-1749-2C629D20E43F}"/>
              </a:ext>
            </a:extLst>
          </p:cNvPr>
          <p:cNvSpPr>
            <a:spLocks noGrp="1"/>
          </p:cNvSpPr>
          <p:nvPr>
            <p:ph idx="1"/>
          </p:nvPr>
        </p:nvSpPr>
        <p:spPr>
          <a:xfrm>
            <a:off x="1088136" y="-2344"/>
            <a:ext cx="9922764" cy="6863274"/>
          </a:xfrm>
          <a:solidFill>
            <a:schemeClr val="tx1"/>
          </a:solidFill>
        </p:spPr>
        <p:txBody>
          <a:bodyPr vert="horz" lIns="91440" tIns="45720" rIns="91440" bIns="45720" rtlCol="0" anchor="t">
            <a:normAutofit fontScale="92500" lnSpcReduction="20000"/>
          </a:bodyPr>
          <a:lstStyle/>
          <a:p>
            <a:r>
              <a:rPr lang="en-US" sz="1600" dirty="0">
                <a:solidFill>
                  <a:srgbClr val="C586C0"/>
                </a:solidFill>
                <a:latin typeface="Consolas"/>
              </a:rPr>
              <a:t>import</a:t>
            </a:r>
            <a:r>
              <a:rPr lang="en-US" sz="1600" dirty="0">
                <a:solidFill>
                  <a:srgbClr val="CCCCCC"/>
                </a:solidFill>
                <a:latin typeface="Consolas"/>
              </a:rPr>
              <a:t> </a:t>
            </a:r>
            <a:r>
              <a:rPr lang="en-US" sz="1600" dirty="0">
                <a:solidFill>
                  <a:srgbClr val="4EC9B0"/>
                </a:solidFill>
                <a:latin typeface="Consolas"/>
              </a:rPr>
              <a:t>turtle</a:t>
            </a:r>
            <a:endParaRPr lang="en-US" sz="1600">
              <a:solidFill>
                <a:srgbClr val="000000"/>
              </a:solidFill>
              <a:latin typeface="Neue Haas Grotesk Text Pro"/>
            </a:endParaRPr>
          </a:p>
          <a:p>
            <a:pPr marL="0" indent="0">
              <a:buNone/>
            </a:pPr>
            <a:r>
              <a:rPr lang="en-US" sz="1600" dirty="0">
                <a:solidFill>
                  <a:srgbClr val="9CDCFE"/>
                </a:solidFill>
                <a:latin typeface="Consolas"/>
              </a:rPr>
              <a:t>    t</a:t>
            </a:r>
            <a:r>
              <a:rPr lang="en-US" sz="1600" dirty="0">
                <a:solidFill>
                  <a:srgbClr val="CCCCCC"/>
                </a:solidFill>
                <a:latin typeface="Consolas"/>
              </a:rPr>
              <a:t> </a:t>
            </a:r>
            <a:r>
              <a:rPr lang="en-US" sz="1600" dirty="0">
                <a:solidFill>
                  <a:srgbClr val="D4D4D4"/>
                </a:solidFill>
                <a:latin typeface="Consolas"/>
              </a:rPr>
              <a:t>=</a:t>
            </a:r>
            <a:r>
              <a:rPr lang="en-US" sz="1600" dirty="0">
                <a:solidFill>
                  <a:srgbClr val="CCCCCC"/>
                </a:solidFill>
                <a:latin typeface="Consolas"/>
              </a:rPr>
              <a:t> </a:t>
            </a:r>
            <a:r>
              <a:rPr lang="en-US" sz="1600" err="1">
                <a:solidFill>
                  <a:srgbClr val="4EC9B0"/>
                </a:solidFill>
                <a:latin typeface="Consolas"/>
              </a:rPr>
              <a:t>turtle</a:t>
            </a:r>
            <a:r>
              <a:rPr lang="en-US" sz="1600" err="1">
                <a:solidFill>
                  <a:srgbClr val="CCCCCC"/>
                </a:solidFill>
                <a:latin typeface="Consolas"/>
              </a:rPr>
              <a:t>.</a:t>
            </a:r>
            <a:r>
              <a:rPr lang="en-US" sz="1600" err="1">
                <a:solidFill>
                  <a:srgbClr val="4EC9B0"/>
                </a:solidFill>
                <a:latin typeface="Consolas"/>
              </a:rPr>
              <a:t>Turtle</a:t>
            </a:r>
            <a:r>
              <a:rPr lang="en-US" sz="1600" dirty="0">
                <a:solidFill>
                  <a:srgbClr val="CCCCCC"/>
                </a:solidFill>
                <a:latin typeface="Consolas"/>
              </a:rPr>
              <a:t>()</a:t>
            </a:r>
            <a:endParaRPr lang="en-US" sz="1600"/>
          </a:p>
          <a:p>
            <a:r>
              <a:rPr lang="en-US" sz="1600" err="1">
                <a:solidFill>
                  <a:srgbClr val="9CDCFE"/>
                </a:solidFill>
                <a:latin typeface="Consolas"/>
              </a:rPr>
              <a:t>t</a:t>
            </a:r>
            <a:r>
              <a:rPr lang="en-US" sz="1600" err="1">
                <a:solidFill>
                  <a:srgbClr val="CCCCCC"/>
                </a:solidFill>
                <a:latin typeface="Consolas"/>
              </a:rPr>
              <a:t>.</a:t>
            </a:r>
            <a:r>
              <a:rPr lang="en-US" sz="1600" err="1">
                <a:solidFill>
                  <a:srgbClr val="DCDCAA"/>
                </a:solidFill>
                <a:latin typeface="Consolas"/>
              </a:rPr>
              <a:t>speed</a:t>
            </a:r>
            <a:r>
              <a:rPr lang="en-US" sz="1600" dirty="0">
                <a:solidFill>
                  <a:srgbClr val="CCCCCC"/>
                </a:solidFill>
                <a:latin typeface="Consolas"/>
              </a:rPr>
              <a:t>(</a:t>
            </a:r>
            <a:r>
              <a:rPr lang="en-US" sz="1600" dirty="0">
                <a:solidFill>
                  <a:srgbClr val="B5CEA8"/>
                </a:solidFill>
                <a:latin typeface="Consolas"/>
              </a:rPr>
              <a:t>0</a:t>
            </a:r>
            <a:r>
              <a:rPr lang="en-US" sz="1600" dirty="0">
                <a:solidFill>
                  <a:srgbClr val="CCCCCC"/>
                </a:solidFill>
                <a:latin typeface="Consolas"/>
              </a:rPr>
              <a:t>)</a:t>
            </a:r>
            <a:endParaRPr lang="en-US" sz="1600"/>
          </a:p>
          <a:p>
            <a:r>
              <a:rPr lang="en-US" sz="1600" err="1">
                <a:solidFill>
                  <a:srgbClr val="9CDCFE"/>
                </a:solidFill>
                <a:latin typeface="Consolas"/>
              </a:rPr>
              <a:t>t</a:t>
            </a:r>
            <a:r>
              <a:rPr lang="en-US" sz="1600" err="1">
                <a:solidFill>
                  <a:srgbClr val="CCCCCC"/>
                </a:solidFill>
                <a:latin typeface="Consolas"/>
              </a:rPr>
              <a:t>.</a:t>
            </a:r>
            <a:r>
              <a:rPr lang="en-US" sz="1600" err="1">
                <a:solidFill>
                  <a:srgbClr val="DCDCAA"/>
                </a:solidFill>
                <a:latin typeface="Consolas"/>
              </a:rPr>
              <a:t>color</a:t>
            </a:r>
            <a:r>
              <a:rPr lang="en-US" sz="1600" dirty="0">
                <a:solidFill>
                  <a:srgbClr val="CCCCCC"/>
                </a:solidFill>
                <a:latin typeface="Consolas"/>
              </a:rPr>
              <a:t>(</a:t>
            </a:r>
            <a:r>
              <a:rPr lang="en-US" sz="1600" dirty="0">
                <a:solidFill>
                  <a:srgbClr val="CE9178"/>
                </a:solidFill>
                <a:latin typeface="Consolas"/>
              </a:rPr>
              <a:t>"purple"</a:t>
            </a:r>
            <a:r>
              <a:rPr lang="en-US" sz="1600" dirty="0">
                <a:solidFill>
                  <a:srgbClr val="CCCCCC"/>
                </a:solidFill>
                <a:latin typeface="Consolas"/>
              </a:rPr>
              <a:t>)</a:t>
            </a:r>
            <a:endParaRPr lang="en-US" sz="1600"/>
          </a:p>
          <a:p>
            <a:r>
              <a:rPr lang="en-US" sz="1600" dirty="0">
                <a:solidFill>
                  <a:srgbClr val="569CD6"/>
                </a:solidFill>
                <a:latin typeface="Consolas"/>
              </a:rPr>
              <a:t>def</a:t>
            </a:r>
            <a:r>
              <a:rPr lang="en-US" sz="1600" dirty="0">
                <a:solidFill>
                  <a:srgbClr val="CCCCCC"/>
                </a:solidFill>
                <a:latin typeface="Consolas"/>
              </a:rPr>
              <a:t> </a:t>
            </a:r>
            <a:r>
              <a:rPr lang="en-US" sz="1600" dirty="0">
                <a:solidFill>
                  <a:srgbClr val="DCDCAA"/>
                </a:solidFill>
                <a:latin typeface="Consolas"/>
              </a:rPr>
              <a:t>hexagon</a:t>
            </a:r>
            <a:r>
              <a:rPr lang="en-US" sz="1600" dirty="0">
                <a:solidFill>
                  <a:srgbClr val="CCCCCC"/>
                </a:solidFill>
                <a:latin typeface="Consolas"/>
              </a:rPr>
              <a:t>(</a:t>
            </a:r>
            <a:r>
              <a:rPr lang="en-US" sz="1600" dirty="0">
                <a:solidFill>
                  <a:srgbClr val="9CDCFE"/>
                </a:solidFill>
                <a:latin typeface="Consolas"/>
              </a:rPr>
              <a:t>size</a:t>
            </a:r>
            <a:r>
              <a:rPr lang="en-US" sz="1600" dirty="0">
                <a:solidFill>
                  <a:srgbClr val="CCCCCC"/>
                </a:solidFill>
                <a:latin typeface="Consolas"/>
              </a:rPr>
              <a:t>, </a:t>
            </a:r>
            <a:r>
              <a:rPr lang="en-US" sz="1600" dirty="0">
                <a:solidFill>
                  <a:srgbClr val="9CDCFE"/>
                </a:solidFill>
                <a:latin typeface="Consolas"/>
              </a:rPr>
              <a:t>depth</a:t>
            </a:r>
            <a:r>
              <a:rPr lang="en-US" sz="1600" dirty="0">
                <a:solidFill>
                  <a:srgbClr val="CCCCCC"/>
                </a:solidFill>
                <a:latin typeface="Consolas"/>
              </a:rPr>
              <a:t>):</a:t>
            </a:r>
            <a:endParaRPr lang="en-US" sz="1600"/>
          </a:p>
          <a:p>
            <a:r>
              <a:rPr lang="en-US" sz="1600" dirty="0">
                <a:solidFill>
                  <a:srgbClr val="CCCCCC"/>
                </a:solidFill>
                <a:latin typeface="Consolas"/>
              </a:rPr>
              <a:t>    </a:t>
            </a:r>
            <a:r>
              <a:rPr lang="en-US" sz="1600" dirty="0">
                <a:solidFill>
                  <a:srgbClr val="C586C0"/>
                </a:solidFill>
                <a:latin typeface="Consolas"/>
              </a:rPr>
              <a:t>if</a:t>
            </a:r>
            <a:r>
              <a:rPr lang="en-US" sz="1600" dirty="0">
                <a:solidFill>
                  <a:srgbClr val="CCCCCC"/>
                </a:solidFill>
                <a:latin typeface="Consolas"/>
              </a:rPr>
              <a:t> </a:t>
            </a:r>
            <a:r>
              <a:rPr lang="en-US" sz="1600" dirty="0">
                <a:solidFill>
                  <a:srgbClr val="9CDCFE"/>
                </a:solidFill>
                <a:latin typeface="Consolas"/>
              </a:rPr>
              <a:t>depth</a:t>
            </a:r>
            <a:r>
              <a:rPr lang="en-US" sz="1600" dirty="0">
                <a:solidFill>
                  <a:srgbClr val="CCCCCC"/>
                </a:solidFill>
                <a:latin typeface="Consolas"/>
              </a:rPr>
              <a:t> </a:t>
            </a:r>
            <a:r>
              <a:rPr lang="en-US" sz="1600" dirty="0">
                <a:solidFill>
                  <a:srgbClr val="D4D4D4"/>
                </a:solidFill>
                <a:latin typeface="Consolas"/>
              </a:rPr>
              <a:t>==</a:t>
            </a:r>
            <a:r>
              <a:rPr lang="en-US" sz="1600" dirty="0">
                <a:solidFill>
                  <a:srgbClr val="CCCCCC"/>
                </a:solidFill>
                <a:latin typeface="Consolas"/>
              </a:rPr>
              <a:t> </a:t>
            </a:r>
            <a:r>
              <a:rPr lang="en-US" sz="1600" dirty="0">
                <a:solidFill>
                  <a:srgbClr val="B5CEA8"/>
                </a:solidFill>
                <a:latin typeface="Consolas"/>
              </a:rPr>
              <a:t>0</a:t>
            </a:r>
            <a:r>
              <a:rPr lang="en-US" sz="1600" dirty="0">
                <a:solidFill>
                  <a:srgbClr val="CCCCCC"/>
                </a:solidFill>
                <a:latin typeface="Consolas"/>
              </a:rPr>
              <a:t>:</a:t>
            </a:r>
            <a:endParaRPr lang="en-US" sz="1600"/>
          </a:p>
          <a:p>
            <a:r>
              <a:rPr lang="en-US" sz="1600" dirty="0">
                <a:solidFill>
                  <a:srgbClr val="CCCCCC"/>
                </a:solidFill>
                <a:latin typeface="Consolas"/>
              </a:rPr>
              <a:t>        </a:t>
            </a:r>
            <a:r>
              <a:rPr lang="en-US" sz="1600" dirty="0">
                <a:solidFill>
                  <a:srgbClr val="C586C0"/>
                </a:solidFill>
                <a:latin typeface="Consolas"/>
              </a:rPr>
              <a:t>return</a:t>
            </a:r>
            <a:endParaRPr lang="en-US" sz="1600"/>
          </a:p>
          <a:p>
            <a:r>
              <a:rPr lang="en-US" sz="1600" dirty="0">
                <a:solidFill>
                  <a:srgbClr val="CCCCCC"/>
                </a:solidFill>
                <a:latin typeface="Consolas"/>
              </a:rPr>
              <a:t>    </a:t>
            </a:r>
            <a:r>
              <a:rPr lang="en-US" sz="1600" dirty="0">
                <a:solidFill>
                  <a:srgbClr val="C586C0"/>
                </a:solidFill>
                <a:latin typeface="Consolas"/>
              </a:rPr>
              <a:t>for</a:t>
            </a:r>
            <a:r>
              <a:rPr lang="en-US" sz="1600" dirty="0">
                <a:solidFill>
                  <a:srgbClr val="CCCCCC"/>
                </a:solidFill>
                <a:latin typeface="Consolas"/>
              </a:rPr>
              <a:t> </a:t>
            </a:r>
            <a:r>
              <a:rPr lang="en-US" sz="1600" dirty="0">
                <a:solidFill>
                  <a:srgbClr val="9CDCFE"/>
                </a:solidFill>
                <a:latin typeface="Consolas"/>
              </a:rPr>
              <a:t>_</a:t>
            </a:r>
            <a:r>
              <a:rPr lang="en-US" sz="1600" dirty="0">
                <a:solidFill>
                  <a:srgbClr val="CCCCCC"/>
                </a:solidFill>
                <a:latin typeface="Consolas"/>
              </a:rPr>
              <a:t> </a:t>
            </a:r>
            <a:r>
              <a:rPr lang="en-US" sz="1600" dirty="0">
                <a:solidFill>
                  <a:srgbClr val="C586C0"/>
                </a:solidFill>
                <a:latin typeface="Consolas"/>
              </a:rPr>
              <a:t>in</a:t>
            </a:r>
            <a:r>
              <a:rPr lang="en-US" sz="1600" dirty="0">
                <a:solidFill>
                  <a:srgbClr val="CCCCCC"/>
                </a:solidFill>
                <a:latin typeface="Consolas"/>
              </a:rPr>
              <a:t> </a:t>
            </a:r>
            <a:r>
              <a:rPr lang="en-US" sz="1600" dirty="0">
                <a:solidFill>
                  <a:srgbClr val="4EC9B0"/>
                </a:solidFill>
                <a:latin typeface="Consolas"/>
              </a:rPr>
              <a:t>range</a:t>
            </a:r>
            <a:r>
              <a:rPr lang="en-US" sz="1600" dirty="0">
                <a:solidFill>
                  <a:srgbClr val="CCCCCC"/>
                </a:solidFill>
                <a:latin typeface="Consolas"/>
              </a:rPr>
              <a:t>(</a:t>
            </a:r>
            <a:r>
              <a:rPr lang="en-US" sz="1600" dirty="0">
                <a:solidFill>
                  <a:srgbClr val="B5CEA8"/>
                </a:solidFill>
                <a:latin typeface="Consolas"/>
              </a:rPr>
              <a:t>6</a:t>
            </a:r>
            <a:r>
              <a:rPr lang="en-US" sz="1600" dirty="0">
                <a:solidFill>
                  <a:srgbClr val="CCCCCC"/>
                </a:solidFill>
                <a:latin typeface="Consolas"/>
              </a:rPr>
              <a:t>):</a:t>
            </a:r>
            <a:endParaRPr lang="en-US" sz="1600"/>
          </a:p>
          <a:p>
            <a:r>
              <a:rPr lang="en-US" sz="1600" dirty="0">
                <a:solidFill>
                  <a:srgbClr val="CCCCCC"/>
                </a:solidFill>
                <a:latin typeface="Consolas"/>
              </a:rPr>
              <a:t>        </a:t>
            </a:r>
            <a:r>
              <a:rPr lang="en-US" sz="1600" err="1">
                <a:solidFill>
                  <a:srgbClr val="9CDCFE"/>
                </a:solidFill>
                <a:latin typeface="Consolas"/>
              </a:rPr>
              <a:t>t</a:t>
            </a:r>
            <a:r>
              <a:rPr lang="en-US" sz="1600" err="1">
                <a:solidFill>
                  <a:srgbClr val="CCCCCC"/>
                </a:solidFill>
                <a:latin typeface="Consolas"/>
              </a:rPr>
              <a:t>.</a:t>
            </a:r>
            <a:r>
              <a:rPr lang="en-US" sz="1600" err="1">
                <a:solidFill>
                  <a:srgbClr val="DCDCAA"/>
                </a:solidFill>
                <a:latin typeface="Consolas"/>
              </a:rPr>
              <a:t>forward</a:t>
            </a:r>
            <a:r>
              <a:rPr lang="en-US" sz="1600" dirty="0">
                <a:solidFill>
                  <a:srgbClr val="CCCCCC"/>
                </a:solidFill>
                <a:latin typeface="Consolas"/>
              </a:rPr>
              <a:t>(</a:t>
            </a:r>
            <a:r>
              <a:rPr lang="en-US" sz="1600" dirty="0">
                <a:solidFill>
                  <a:srgbClr val="9CDCFE"/>
                </a:solidFill>
                <a:latin typeface="Consolas"/>
              </a:rPr>
              <a:t>size</a:t>
            </a:r>
            <a:r>
              <a:rPr lang="en-US" sz="1600" dirty="0">
                <a:solidFill>
                  <a:srgbClr val="CCCCCC"/>
                </a:solidFill>
                <a:latin typeface="Consolas"/>
              </a:rPr>
              <a:t>)</a:t>
            </a:r>
            <a:endParaRPr lang="en-US" sz="1600"/>
          </a:p>
          <a:p>
            <a:r>
              <a:rPr lang="en-US" sz="1600" dirty="0">
                <a:solidFill>
                  <a:srgbClr val="CCCCCC"/>
                </a:solidFill>
                <a:latin typeface="Consolas"/>
              </a:rPr>
              <a:t>        </a:t>
            </a:r>
            <a:r>
              <a:rPr lang="en-US" sz="1600" dirty="0">
                <a:solidFill>
                  <a:srgbClr val="DCDCAA"/>
                </a:solidFill>
                <a:latin typeface="Consolas"/>
              </a:rPr>
              <a:t>hexagon</a:t>
            </a:r>
            <a:r>
              <a:rPr lang="en-US" sz="1600" dirty="0">
                <a:solidFill>
                  <a:srgbClr val="CCCCCC"/>
                </a:solidFill>
                <a:latin typeface="Consolas"/>
              </a:rPr>
              <a:t>(</a:t>
            </a:r>
            <a:r>
              <a:rPr lang="en-US" sz="1600" dirty="0">
                <a:solidFill>
                  <a:srgbClr val="9CDCFE"/>
                </a:solidFill>
                <a:latin typeface="Consolas"/>
              </a:rPr>
              <a:t>size</a:t>
            </a:r>
            <a:r>
              <a:rPr lang="en-US" sz="1600" dirty="0">
                <a:solidFill>
                  <a:srgbClr val="CCCCCC"/>
                </a:solidFill>
                <a:latin typeface="Consolas"/>
              </a:rPr>
              <a:t> </a:t>
            </a:r>
            <a:r>
              <a:rPr lang="en-US" sz="1600" dirty="0">
                <a:solidFill>
                  <a:srgbClr val="D4D4D4"/>
                </a:solidFill>
                <a:latin typeface="Consolas"/>
              </a:rPr>
              <a:t>/</a:t>
            </a:r>
            <a:r>
              <a:rPr lang="en-US" sz="1600" dirty="0">
                <a:solidFill>
                  <a:srgbClr val="CCCCCC"/>
                </a:solidFill>
                <a:latin typeface="Consolas"/>
              </a:rPr>
              <a:t> </a:t>
            </a:r>
            <a:r>
              <a:rPr lang="en-US" sz="1600" dirty="0">
                <a:solidFill>
                  <a:srgbClr val="B5CEA8"/>
                </a:solidFill>
                <a:latin typeface="Consolas"/>
              </a:rPr>
              <a:t>2</a:t>
            </a:r>
            <a:r>
              <a:rPr lang="en-US" sz="1600" dirty="0">
                <a:solidFill>
                  <a:srgbClr val="CCCCCC"/>
                </a:solidFill>
                <a:latin typeface="Consolas"/>
              </a:rPr>
              <a:t>, </a:t>
            </a:r>
            <a:r>
              <a:rPr lang="en-US" sz="1600" dirty="0">
                <a:solidFill>
                  <a:srgbClr val="9CDCFE"/>
                </a:solidFill>
                <a:latin typeface="Consolas"/>
              </a:rPr>
              <a:t>depth</a:t>
            </a:r>
            <a:r>
              <a:rPr lang="en-US" sz="1600" dirty="0">
                <a:solidFill>
                  <a:srgbClr val="CCCCCC"/>
                </a:solidFill>
                <a:latin typeface="Consolas"/>
              </a:rPr>
              <a:t> </a:t>
            </a:r>
            <a:r>
              <a:rPr lang="en-US" sz="1600" dirty="0">
                <a:solidFill>
                  <a:srgbClr val="D4D4D4"/>
                </a:solidFill>
                <a:latin typeface="Consolas"/>
              </a:rPr>
              <a:t>-</a:t>
            </a:r>
            <a:r>
              <a:rPr lang="en-US" sz="1600" dirty="0">
                <a:solidFill>
                  <a:srgbClr val="CCCCCC"/>
                </a:solidFill>
                <a:latin typeface="Consolas"/>
              </a:rPr>
              <a:t> </a:t>
            </a:r>
            <a:r>
              <a:rPr lang="en-US" sz="1600" dirty="0">
                <a:solidFill>
                  <a:srgbClr val="B5CEA8"/>
                </a:solidFill>
                <a:latin typeface="Consolas"/>
              </a:rPr>
              <a:t>1</a:t>
            </a:r>
            <a:r>
              <a:rPr lang="en-US" sz="1600" dirty="0">
                <a:solidFill>
                  <a:srgbClr val="CCCCCC"/>
                </a:solidFill>
                <a:latin typeface="Consolas"/>
              </a:rPr>
              <a:t>)</a:t>
            </a:r>
            <a:endParaRPr lang="en-US" sz="1600"/>
          </a:p>
          <a:p>
            <a:r>
              <a:rPr lang="en-US" sz="1600" dirty="0">
                <a:solidFill>
                  <a:srgbClr val="CCCCCC"/>
                </a:solidFill>
                <a:latin typeface="Consolas"/>
              </a:rPr>
              <a:t>        </a:t>
            </a:r>
            <a:r>
              <a:rPr lang="en-US" sz="1600" err="1">
                <a:solidFill>
                  <a:srgbClr val="9CDCFE"/>
                </a:solidFill>
                <a:latin typeface="Consolas"/>
              </a:rPr>
              <a:t>t</a:t>
            </a:r>
            <a:r>
              <a:rPr lang="en-US" sz="1600" err="1">
                <a:solidFill>
                  <a:srgbClr val="CCCCCC"/>
                </a:solidFill>
                <a:latin typeface="Consolas"/>
              </a:rPr>
              <a:t>.</a:t>
            </a:r>
            <a:r>
              <a:rPr lang="en-US" sz="1600" err="1">
                <a:solidFill>
                  <a:srgbClr val="DCDCAA"/>
                </a:solidFill>
                <a:latin typeface="Consolas"/>
              </a:rPr>
              <a:t>right</a:t>
            </a:r>
            <a:r>
              <a:rPr lang="en-US" sz="1600" dirty="0">
                <a:solidFill>
                  <a:srgbClr val="CCCCCC"/>
                </a:solidFill>
                <a:latin typeface="Consolas"/>
              </a:rPr>
              <a:t>(</a:t>
            </a:r>
            <a:r>
              <a:rPr lang="en-US" sz="1600" dirty="0">
                <a:solidFill>
                  <a:srgbClr val="B5CEA8"/>
                </a:solidFill>
                <a:latin typeface="Consolas"/>
              </a:rPr>
              <a:t>60</a:t>
            </a:r>
            <a:r>
              <a:rPr lang="en-US" sz="1600" dirty="0">
                <a:solidFill>
                  <a:srgbClr val="CCCCCC"/>
                </a:solidFill>
                <a:latin typeface="Consolas"/>
              </a:rPr>
              <a:t>)</a:t>
            </a:r>
            <a:endParaRPr lang="en-US" sz="1600"/>
          </a:p>
          <a:p>
            <a:r>
              <a:rPr lang="en-US" sz="1600" err="1">
                <a:solidFill>
                  <a:srgbClr val="9CDCFE"/>
                </a:solidFill>
                <a:latin typeface="Consolas"/>
              </a:rPr>
              <a:t>t</a:t>
            </a:r>
            <a:r>
              <a:rPr lang="en-US" sz="1600" err="1">
                <a:solidFill>
                  <a:srgbClr val="CCCCCC"/>
                </a:solidFill>
                <a:latin typeface="Consolas"/>
              </a:rPr>
              <a:t>.</a:t>
            </a:r>
            <a:r>
              <a:rPr lang="en-US" sz="1600" err="1">
                <a:solidFill>
                  <a:srgbClr val="DCDCAA"/>
                </a:solidFill>
                <a:latin typeface="Consolas"/>
              </a:rPr>
              <a:t>penup</a:t>
            </a:r>
            <a:r>
              <a:rPr lang="en-US" sz="1600" dirty="0">
                <a:solidFill>
                  <a:srgbClr val="CCCCCC"/>
                </a:solidFill>
                <a:latin typeface="Consolas"/>
              </a:rPr>
              <a:t>()</a:t>
            </a:r>
            <a:endParaRPr lang="en-US" sz="1600"/>
          </a:p>
          <a:p>
            <a:r>
              <a:rPr lang="en-US" sz="1600" err="1">
                <a:solidFill>
                  <a:srgbClr val="9CDCFE"/>
                </a:solidFill>
                <a:latin typeface="Consolas"/>
              </a:rPr>
              <a:t>t</a:t>
            </a:r>
            <a:r>
              <a:rPr lang="en-US" sz="1600" err="1">
                <a:solidFill>
                  <a:srgbClr val="CCCCCC"/>
                </a:solidFill>
                <a:latin typeface="Consolas"/>
              </a:rPr>
              <a:t>.</a:t>
            </a:r>
            <a:r>
              <a:rPr lang="en-US" sz="1600" err="1">
                <a:solidFill>
                  <a:srgbClr val="DCDCAA"/>
                </a:solidFill>
                <a:latin typeface="Consolas"/>
              </a:rPr>
              <a:t>goto</a:t>
            </a:r>
            <a:r>
              <a:rPr lang="en-US" sz="1600" dirty="0">
                <a:solidFill>
                  <a:srgbClr val="CCCCCC"/>
                </a:solidFill>
                <a:latin typeface="Consolas"/>
              </a:rPr>
              <a:t>(</a:t>
            </a:r>
            <a:r>
              <a:rPr lang="en-US" sz="1600" dirty="0">
                <a:solidFill>
                  <a:srgbClr val="D4D4D4"/>
                </a:solidFill>
                <a:latin typeface="Consolas"/>
              </a:rPr>
              <a:t>-</a:t>
            </a:r>
            <a:r>
              <a:rPr lang="en-US" sz="1600" dirty="0">
                <a:solidFill>
                  <a:srgbClr val="B5CEA8"/>
                </a:solidFill>
                <a:latin typeface="Consolas"/>
              </a:rPr>
              <a:t>100</a:t>
            </a:r>
            <a:r>
              <a:rPr lang="en-US" sz="1600" dirty="0">
                <a:solidFill>
                  <a:srgbClr val="CCCCCC"/>
                </a:solidFill>
                <a:latin typeface="Consolas"/>
              </a:rPr>
              <a:t>, </a:t>
            </a:r>
            <a:r>
              <a:rPr lang="en-US" sz="1600" dirty="0">
                <a:solidFill>
                  <a:srgbClr val="B5CEA8"/>
                </a:solidFill>
                <a:latin typeface="Consolas"/>
              </a:rPr>
              <a:t>50</a:t>
            </a:r>
            <a:r>
              <a:rPr lang="en-US" sz="1600" dirty="0">
                <a:solidFill>
                  <a:srgbClr val="CCCCCC"/>
                </a:solidFill>
                <a:latin typeface="Consolas"/>
              </a:rPr>
              <a:t>)</a:t>
            </a:r>
            <a:endParaRPr lang="en-US" sz="1600"/>
          </a:p>
          <a:p>
            <a:r>
              <a:rPr lang="en-US" sz="1600" err="1">
                <a:solidFill>
                  <a:srgbClr val="9CDCFE"/>
                </a:solidFill>
                <a:latin typeface="Consolas"/>
              </a:rPr>
              <a:t>t</a:t>
            </a:r>
            <a:r>
              <a:rPr lang="en-US" sz="1600" err="1">
                <a:solidFill>
                  <a:srgbClr val="CCCCCC"/>
                </a:solidFill>
                <a:latin typeface="Consolas"/>
              </a:rPr>
              <a:t>.</a:t>
            </a:r>
            <a:r>
              <a:rPr lang="en-US" sz="1600" err="1">
                <a:solidFill>
                  <a:srgbClr val="DCDCAA"/>
                </a:solidFill>
                <a:latin typeface="Consolas"/>
              </a:rPr>
              <a:t>pendown</a:t>
            </a:r>
            <a:r>
              <a:rPr lang="en-US" sz="1600" dirty="0">
                <a:solidFill>
                  <a:srgbClr val="CCCCCC"/>
                </a:solidFill>
                <a:latin typeface="Consolas"/>
              </a:rPr>
              <a:t>()</a:t>
            </a:r>
            <a:endParaRPr lang="en-US" sz="1600"/>
          </a:p>
          <a:p>
            <a:r>
              <a:rPr lang="en-US" sz="1600" dirty="0">
                <a:solidFill>
                  <a:srgbClr val="DCDCAA"/>
                </a:solidFill>
                <a:latin typeface="Consolas"/>
              </a:rPr>
              <a:t>hexagon</a:t>
            </a:r>
            <a:r>
              <a:rPr lang="en-US" sz="1600" dirty="0">
                <a:solidFill>
                  <a:srgbClr val="CCCCCC"/>
                </a:solidFill>
                <a:latin typeface="Consolas"/>
              </a:rPr>
              <a:t>(</a:t>
            </a:r>
            <a:r>
              <a:rPr lang="en-US" sz="1600" dirty="0">
                <a:solidFill>
                  <a:srgbClr val="B5CEA8"/>
                </a:solidFill>
                <a:latin typeface="Consolas"/>
              </a:rPr>
              <a:t>200</a:t>
            </a:r>
            <a:r>
              <a:rPr lang="en-US" sz="1600" dirty="0">
                <a:solidFill>
                  <a:srgbClr val="CCCCCC"/>
                </a:solidFill>
                <a:latin typeface="Consolas"/>
              </a:rPr>
              <a:t>, </a:t>
            </a:r>
            <a:r>
              <a:rPr lang="en-US" sz="1600" dirty="0">
                <a:solidFill>
                  <a:srgbClr val="B5CEA8"/>
                </a:solidFill>
                <a:latin typeface="Consolas"/>
              </a:rPr>
              <a:t>4</a:t>
            </a:r>
            <a:r>
              <a:rPr lang="en-US" sz="1600" dirty="0">
                <a:solidFill>
                  <a:srgbClr val="CCCCCC"/>
                </a:solidFill>
                <a:latin typeface="Consolas"/>
              </a:rPr>
              <a:t>)</a:t>
            </a:r>
            <a:endParaRPr lang="en-US" sz="1600"/>
          </a:p>
          <a:p>
            <a:pPr marL="0" indent="0">
              <a:buNone/>
            </a:pPr>
            <a:r>
              <a:rPr lang="en-US" sz="1600" dirty="0">
                <a:solidFill>
                  <a:srgbClr val="4EC9B0"/>
                </a:solidFill>
                <a:latin typeface="Consolas"/>
              </a:rPr>
              <a:t>   </a:t>
            </a:r>
            <a:r>
              <a:rPr lang="en-US" sz="1600" err="1">
                <a:solidFill>
                  <a:srgbClr val="4EC9B0"/>
                </a:solidFill>
                <a:latin typeface="Consolas"/>
              </a:rPr>
              <a:t>turtle</a:t>
            </a:r>
            <a:r>
              <a:rPr lang="en-US" sz="1600" err="1">
                <a:solidFill>
                  <a:srgbClr val="CCCCCC"/>
                </a:solidFill>
                <a:latin typeface="Consolas"/>
              </a:rPr>
              <a:t>.</a:t>
            </a:r>
            <a:r>
              <a:rPr lang="en-US" sz="1600" err="1">
                <a:solidFill>
                  <a:srgbClr val="9CDCFE"/>
                </a:solidFill>
                <a:latin typeface="Consolas"/>
              </a:rPr>
              <a:t>done</a:t>
            </a:r>
            <a:r>
              <a:rPr lang="en-US" sz="1600" dirty="0">
                <a:solidFill>
                  <a:srgbClr val="CCCCCC"/>
                </a:solidFill>
                <a:latin typeface="Consolas"/>
              </a:rPr>
              <a:t>()</a:t>
            </a:r>
            <a:endParaRPr lang="en-US" sz="1600"/>
          </a:p>
          <a:p>
            <a:br>
              <a:rPr lang="en-US" dirty="0"/>
            </a:br>
            <a:endParaRPr lang="en-US" dirty="0"/>
          </a:p>
        </p:txBody>
      </p:sp>
    </p:spTree>
    <p:extLst>
      <p:ext uri="{BB962C8B-B14F-4D97-AF65-F5344CB8AC3E}">
        <p14:creationId xmlns:p14="http://schemas.microsoft.com/office/powerpoint/2010/main" val="8999609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09349-482F-1837-4224-1D13BEC53709}"/>
            </a:ext>
          </a:extLst>
        </p:cNvPr>
        <p:cNvGrpSpPr/>
        <p:nvPr/>
      </p:nvGrpSpPr>
      <p:grpSpPr>
        <a:xfrm>
          <a:off x="0" y="0"/>
          <a:ext cx="0" cy="0"/>
          <a:chOff x="0" y="0"/>
          <a:chExt cx="0" cy="0"/>
        </a:xfrm>
      </p:grpSpPr>
      <p:pic>
        <p:nvPicPr>
          <p:cNvPr id="2" name="Content Placeholder 1" descr="A black triangle with many triangles&#10;&#10;AI-generated content may be incorrect.">
            <a:extLst>
              <a:ext uri="{FF2B5EF4-FFF2-40B4-BE49-F238E27FC236}">
                <a16:creationId xmlns:a16="http://schemas.microsoft.com/office/drawing/2014/main" id="{FD84EBF9-FA8A-8A81-D65D-9C47ED8A74F5}"/>
              </a:ext>
            </a:extLst>
          </p:cNvPr>
          <p:cNvPicPr>
            <a:picLocks noGrp="1" noChangeAspect="1"/>
          </p:cNvPicPr>
          <p:nvPr>
            <p:ph idx="1"/>
          </p:nvPr>
        </p:nvPicPr>
        <p:blipFill>
          <a:blip r:embed="rId2"/>
          <a:stretch>
            <a:fillRect/>
          </a:stretch>
        </p:blipFill>
        <p:spPr>
          <a:xfrm>
            <a:off x="2484004" y="724486"/>
            <a:ext cx="7131028" cy="5562014"/>
          </a:xfrm>
        </p:spPr>
      </p:pic>
    </p:spTree>
    <p:extLst>
      <p:ext uri="{BB962C8B-B14F-4D97-AF65-F5344CB8AC3E}">
        <p14:creationId xmlns:p14="http://schemas.microsoft.com/office/powerpoint/2010/main" val="4196037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C8883A-572D-5F8E-2C79-FBF9A6388EA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400B71-549A-2442-C36E-EB9B5F844245}"/>
              </a:ext>
            </a:extLst>
          </p:cNvPr>
          <p:cNvSpPr>
            <a:spLocks noGrp="1"/>
          </p:cNvSpPr>
          <p:nvPr>
            <p:ph idx="1"/>
          </p:nvPr>
        </p:nvSpPr>
        <p:spPr>
          <a:xfrm>
            <a:off x="1088136" y="9379"/>
            <a:ext cx="9922764" cy="7250136"/>
          </a:xfrm>
          <a:solidFill>
            <a:schemeClr val="tx1"/>
          </a:solidFill>
        </p:spPr>
        <p:txBody>
          <a:bodyPr vert="horz" lIns="91440" tIns="45720" rIns="91440" bIns="45720" rtlCol="0" anchor="t">
            <a:normAutofit fontScale="70000" lnSpcReduction="20000"/>
          </a:bodyPr>
          <a:lstStyle/>
          <a:p>
            <a:r>
              <a:rPr lang="en-US" sz="1100" dirty="0">
                <a:solidFill>
                  <a:srgbClr val="C586C0"/>
                </a:solidFill>
                <a:latin typeface="Consolas"/>
              </a:rPr>
              <a:t>import</a:t>
            </a:r>
            <a:r>
              <a:rPr lang="en-US" sz="1100" dirty="0">
                <a:solidFill>
                  <a:srgbClr val="CCCCCC"/>
                </a:solidFill>
                <a:latin typeface="Consolas"/>
              </a:rPr>
              <a:t> </a:t>
            </a:r>
            <a:r>
              <a:rPr lang="en-US" sz="1100" dirty="0">
                <a:solidFill>
                  <a:srgbClr val="4EC9B0"/>
                </a:solidFill>
                <a:latin typeface="Consolas"/>
              </a:rPr>
              <a:t>turtle</a:t>
            </a:r>
            <a:endParaRPr lang="en-US" dirty="0"/>
          </a:p>
          <a:p>
            <a:r>
              <a:rPr lang="en-US" sz="1100" dirty="0">
                <a:solidFill>
                  <a:srgbClr val="9CDCFE"/>
                </a:solidFill>
                <a:latin typeface="Consolas"/>
              </a:rPr>
              <a:t>t</a:t>
            </a:r>
            <a:r>
              <a:rPr lang="en-US" sz="1100" dirty="0">
                <a:solidFill>
                  <a:srgbClr val="CCCCCC"/>
                </a:solidFill>
                <a:latin typeface="Consolas"/>
              </a:rPr>
              <a:t> </a:t>
            </a:r>
            <a:r>
              <a:rPr lang="en-US" sz="1100" dirty="0">
                <a:solidFill>
                  <a:srgbClr val="D4D4D4"/>
                </a:solidFill>
                <a:latin typeface="Consolas"/>
              </a:rPr>
              <a:t>=</a:t>
            </a:r>
            <a:r>
              <a:rPr lang="en-US" sz="1100" dirty="0">
                <a:solidFill>
                  <a:srgbClr val="CCCCCC"/>
                </a:solidFill>
                <a:latin typeface="Consolas"/>
              </a:rPr>
              <a:t> </a:t>
            </a:r>
            <a:r>
              <a:rPr lang="en-US" sz="1100" dirty="0" err="1">
                <a:solidFill>
                  <a:srgbClr val="4EC9B0"/>
                </a:solidFill>
                <a:latin typeface="Consolas"/>
              </a:rPr>
              <a:t>turtle</a:t>
            </a:r>
            <a:r>
              <a:rPr lang="en-US" sz="1100" dirty="0" err="1">
                <a:solidFill>
                  <a:srgbClr val="CCCCCC"/>
                </a:solidFill>
                <a:latin typeface="Consolas"/>
              </a:rPr>
              <a:t>.</a:t>
            </a:r>
            <a:r>
              <a:rPr lang="en-US" sz="1100" dirty="0" err="1">
                <a:solidFill>
                  <a:srgbClr val="4EC9B0"/>
                </a:solidFill>
                <a:latin typeface="Consolas"/>
              </a:rPr>
              <a:t>Turtle</a:t>
            </a:r>
            <a:r>
              <a:rPr lang="en-US" sz="1100" dirty="0">
                <a:solidFill>
                  <a:srgbClr val="CCCCCC"/>
                </a:solidFill>
                <a:latin typeface="Consolas"/>
              </a:rPr>
              <a:t>()</a:t>
            </a:r>
            <a:endParaRPr lang="en-US" dirty="0"/>
          </a:p>
          <a:p>
            <a:r>
              <a:rPr lang="en-US" sz="1100" dirty="0" err="1">
                <a:solidFill>
                  <a:srgbClr val="9CDCFE"/>
                </a:solidFill>
                <a:latin typeface="Consolas"/>
              </a:rPr>
              <a:t>t</a:t>
            </a:r>
            <a:r>
              <a:rPr lang="en-US" sz="1100" dirty="0" err="1">
                <a:solidFill>
                  <a:srgbClr val="CCCCCC"/>
                </a:solidFill>
                <a:latin typeface="Consolas"/>
              </a:rPr>
              <a:t>.</a:t>
            </a:r>
            <a:r>
              <a:rPr lang="en-US" sz="1100" dirty="0" err="1">
                <a:solidFill>
                  <a:srgbClr val="DCDCAA"/>
                </a:solidFill>
                <a:latin typeface="Consolas"/>
              </a:rPr>
              <a:t>speed</a:t>
            </a:r>
            <a:r>
              <a:rPr lang="en-US" sz="1100" dirty="0">
                <a:solidFill>
                  <a:srgbClr val="CCCCCC"/>
                </a:solidFill>
                <a:latin typeface="Consolas"/>
              </a:rPr>
              <a:t>(</a:t>
            </a:r>
            <a:r>
              <a:rPr lang="en-US" sz="1100" dirty="0">
                <a:solidFill>
                  <a:srgbClr val="B5CEA8"/>
                </a:solidFill>
                <a:latin typeface="Consolas"/>
              </a:rPr>
              <a:t>0</a:t>
            </a:r>
            <a:r>
              <a:rPr lang="en-US" sz="1100" dirty="0">
                <a:solidFill>
                  <a:srgbClr val="CCCCCC"/>
                </a:solidFill>
                <a:latin typeface="Consolas"/>
              </a:rPr>
              <a:t>)</a:t>
            </a:r>
            <a:endParaRPr lang="en-US" dirty="0"/>
          </a:p>
          <a:p>
            <a:r>
              <a:rPr lang="en-US" sz="1100" dirty="0">
                <a:solidFill>
                  <a:srgbClr val="569CD6"/>
                </a:solidFill>
                <a:latin typeface="Consolas"/>
              </a:rPr>
              <a:t>def</a:t>
            </a:r>
            <a:r>
              <a:rPr lang="en-US" sz="1100" dirty="0">
                <a:solidFill>
                  <a:srgbClr val="CCCCCC"/>
                </a:solidFill>
                <a:latin typeface="Consolas"/>
              </a:rPr>
              <a:t> </a:t>
            </a:r>
            <a:r>
              <a:rPr lang="en-US" sz="1100" dirty="0" err="1">
                <a:solidFill>
                  <a:srgbClr val="DCDCAA"/>
                </a:solidFill>
                <a:latin typeface="Consolas"/>
              </a:rPr>
              <a:t>sierpinski</a:t>
            </a:r>
            <a:r>
              <a:rPr lang="en-US" sz="1100" dirty="0">
                <a:solidFill>
                  <a:srgbClr val="CCCCCC"/>
                </a:solidFill>
                <a:latin typeface="Consolas"/>
              </a:rPr>
              <a:t>(</a:t>
            </a:r>
            <a:r>
              <a:rPr lang="en-US" sz="1100" dirty="0">
                <a:solidFill>
                  <a:srgbClr val="9CDCFE"/>
                </a:solidFill>
                <a:latin typeface="Consolas"/>
              </a:rPr>
              <a:t>size</a:t>
            </a:r>
            <a:r>
              <a:rPr lang="en-US" sz="1100" dirty="0">
                <a:solidFill>
                  <a:srgbClr val="CCCCCC"/>
                </a:solidFill>
                <a:latin typeface="Consolas"/>
              </a:rPr>
              <a:t>, </a:t>
            </a:r>
            <a:r>
              <a:rPr lang="en-US" sz="1100" dirty="0">
                <a:solidFill>
                  <a:srgbClr val="9CDCFE"/>
                </a:solidFill>
                <a:latin typeface="Consolas"/>
              </a:rPr>
              <a:t>depth</a:t>
            </a:r>
            <a:r>
              <a:rPr lang="en-US" sz="1100" dirty="0">
                <a:solidFill>
                  <a:srgbClr val="CCCCCC"/>
                </a:solidFill>
                <a:latin typeface="Consolas"/>
              </a:rPr>
              <a:t>):</a:t>
            </a:r>
            <a:endParaRPr lang="en-US" dirty="0"/>
          </a:p>
          <a:p>
            <a:r>
              <a:rPr lang="en-US" sz="1100" dirty="0">
                <a:solidFill>
                  <a:srgbClr val="CCCCCC"/>
                </a:solidFill>
                <a:latin typeface="Consolas"/>
              </a:rPr>
              <a:t>    </a:t>
            </a:r>
            <a:r>
              <a:rPr lang="en-US" sz="1100" dirty="0">
                <a:solidFill>
                  <a:srgbClr val="C586C0"/>
                </a:solidFill>
                <a:latin typeface="Consolas"/>
              </a:rPr>
              <a:t>if</a:t>
            </a:r>
            <a:r>
              <a:rPr lang="en-US" sz="1100" dirty="0">
                <a:solidFill>
                  <a:srgbClr val="CCCCCC"/>
                </a:solidFill>
                <a:latin typeface="Consolas"/>
              </a:rPr>
              <a:t> </a:t>
            </a:r>
            <a:r>
              <a:rPr lang="en-US" sz="1100" dirty="0">
                <a:solidFill>
                  <a:srgbClr val="9CDCFE"/>
                </a:solidFill>
                <a:latin typeface="Consolas"/>
              </a:rPr>
              <a:t>depth</a:t>
            </a:r>
            <a:r>
              <a:rPr lang="en-US" sz="1100" dirty="0">
                <a:solidFill>
                  <a:srgbClr val="CCCCCC"/>
                </a:solidFill>
                <a:latin typeface="Consolas"/>
              </a:rPr>
              <a:t> </a:t>
            </a:r>
            <a:r>
              <a:rPr lang="en-US" sz="1100" dirty="0">
                <a:solidFill>
                  <a:srgbClr val="D4D4D4"/>
                </a:solidFill>
                <a:latin typeface="Consolas"/>
              </a:rPr>
              <a:t>==</a:t>
            </a:r>
            <a:r>
              <a:rPr lang="en-US" sz="1100" dirty="0">
                <a:solidFill>
                  <a:srgbClr val="CCCCCC"/>
                </a:solidFill>
                <a:latin typeface="Consolas"/>
              </a:rPr>
              <a:t> </a:t>
            </a:r>
            <a:r>
              <a:rPr lang="en-US" sz="1100" dirty="0">
                <a:solidFill>
                  <a:srgbClr val="B5CEA8"/>
                </a:solidFill>
                <a:latin typeface="Consolas"/>
              </a:rPr>
              <a:t>0</a:t>
            </a:r>
            <a:r>
              <a:rPr lang="en-US" sz="1100" dirty="0">
                <a:solidFill>
                  <a:srgbClr val="CCCCCC"/>
                </a:solidFill>
                <a:latin typeface="Consolas"/>
              </a:rPr>
              <a:t>:</a:t>
            </a:r>
            <a:endParaRPr lang="en-US" dirty="0"/>
          </a:p>
          <a:p>
            <a:r>
              <a:rPr lang="en-US" sz="1100" dirty="0">
                <a:solidFill>
                  <a:srgbClr val="CCCCCC"/>
                </a:solidFill>
                <a:latin typeface="Consolas"/>
              </a:rPr>
              <a:t>        </a:t>
            </a:r>
            <a:r>
              <a:rPr lang="en-US" sz="1100" dirty="0">
                <a:solidFill>
                  <a:srgbClr val="C586C0"/>
                </a:solidFill>
                <a:latin typeface="Consolas"/>
              </a:rPr>
              <a:t>for</a:t>
            </a:r>
            <a:r>
              <a:rPr lang="en-US" sz="1100" dirty="0">
                <a:solidFill>
                  <a:srgbClr val="CCCCCC"/>
                </a:solidFill>
                <a:latin typeface="Consolas"/>
              </a:rPr>
              <a:t> </a:t>
            </a:r>
            <a:r>
              <a:rPr lang="en-US" sz="1100" dirty="0">
                <a:solidFill>
                  <a:srgbClr val="9CDCFE"/>
                </a:solidFill>
                <a:latin typeface="Consolas"/>
              </a:rPr>
              <a:t>_</a:t>
            </a:r>
            <a:r>
              <a:rPr lang="en-US" sz="1100" dirty="0">
                <a:solidFill>
                  <a:srgbClr val="CCCCCC"/>
                </a:solidFill>
                <a:latin typeface="Consolas"/>
              </a:rPr>
              <a:t> </a:t>
            </a:r>
            <a:r>
              <a:rPr lang="en-US" sz="1100" dirty="0">
                <a:solidFill>
                  <a:srgbClr val="C586C0"/>
                </a:solidFill>
                <a:latin typeface="Consolas"/>
              </a:rPr>
              <a:t>in</a:t>
            </a:r>
            <a:r>
              <a:rPr lang="en-US" sz="1100" dirty="0">
                <a:solidFill>
                  <a:srgbClr val="CCCCCC"/>
                </a:solidFill>
                <a:latin typeface="Consolas"/>
              </a:rPr>
              <a:t> </a:t>
            </a:r>
            <a:r>
              <a:rPr lang="en-US" sz="1100" dirty="0">
                <a:solidFill>
                  <a:srgbClr val="4EC9B0"/>
                </a:solidFill>
                <a:latin typeface="Consolas"/>
              </a:rPr>
              <a:t>range</a:t>
            </a:r>
            <a:r>
              <a:rPr lang="en-US" sz="1100" dirty="0">
                <a:solidFill>
                  <a:srgbClr val="CCCCCC"/>
                </a:solidFill>
                <a:latin typeface="Consolas"/>
              </a:rPr>
              <a:t>(</a:t>
            </a:r>
            <a:r>
              <a:rPr lang="en-US" sz="1100" dirty="0">
                <a:solidFill>
                  <a:srgbClr val="B5CEA8"/>
                </a:solidFill>
                <a:latin typeface="Consolas"/>
              </a:rPr>
              <a:t>3</a:t>
            </a:r>
            <a:r>
              <a:rPr lang="en-US" sz="1100" dirty="0">
                <a:solidFill>
                  <a:srgbClr val="CCCCCC"/>
                </a:solidFill>
                <a:latin typeface="Consolas"/>
              </a:rPr>
              <a:t>):</a:t>
            </a:r>
            <a:endParaRPr lang="en-US" dirty="0"/>
          </a:p>
          <a:p>
            <a:r>
              <a:rPr lang="en-US" sz="1100" dirty="0">
                <a:solidFill>
                  <a:srgbClr val="CCCCCC"/>
                </a:solidFill>
                <a:latin typeface="Consolas"/>
              </a:rPr>
              <a:t>            </a:t>
            </a:r>
            <a:r>
              <a:rPr lang="en-US" sz="1100" dirty="0" err="1">
                <a:solidFill>
                  <a:srgbClr val="9CDCFE"/>
                </a:solidFill>
                <a:latin typeface="Consolas"/>
              </a:rPr>
              <a:t>t</a:t>
            </a:r>
            <a:r>
              <a:rPr lang="en-US" sz="1100" dirty="0" err="1">
                <a:solidFill>
                  <a:srgbClr val="CCCCCC"/>
                </a:solidFill>
                <a:latin typeface="Consolas"/>
              </a:rPr>
              <a:t>.</a:t>
            </a:r>
            <a:r>
              <a:rPr lang="en-US" sz="1100" dirty="0" err="1">
                <a:solidFill>
                  <a:srgbClr val="DCDCAA"/>
                </a:solidFill>
                <a:latin typeface="Consolas"/>
              </a:rPr>
              <a:t>forward</a:t>
            </a:r>
            <a:r>
              <a:rPr lang="en-US" sz="1100" dirty="0">
                <a:solidFill>
                  <a:srgbClr val="CCCCCC"/>
                </a:solidFill>
                <a:latin typeface="Consolas"/>
              </a:rPr>
              <a:t>(</a:t>
            </a:r>
            <a:r>
              <a:rPr lang="en-US" sz="1100" dirty="0">
                <a:solidFill>
                  <a:srgbClr val="9CDCFE"/>
                </a:solidFill>
                <a:latin typeface="Consolas"/>
              </a:rPr>
              <a:t>size</a:t>
            </a:r>
            <a:r>
              <a:rPr lang="en-US" sz="1100" dirty="0">
                <a:solidFill>
                  <a:srgbClr val="CCCCCC"/>
                </a:solidFill>
                <a:latin typeface="Consolas"/>
              </a:rPr>
              <a:t>)</a:t>
            </a:r>
            <a:endParaRPr lang="en-US" dirty="0"/>
          </a:p>
          <a:p>
            <a:r>
              <a:rPr lang="en-US" sz="1100" dirty="0">
                <a:solidFill>
                  <a:srgbClr val="CCCCCC"/>
                </a:solidFill>
                <a:latin typeface="Consolas"/>
              </a:rPr>
              <a:t>            </a:t>
            </a:r>
            <a:r>
              <a:rPr lang="en-US" sz="1100" dirty="0" err="1">
                <a:solidFill>
                  <a:srgbClr val="9CDCFE"/>
                </a:solidFill>
                <a:latin typeface="Consolas"/>
              </a:rPr>
              <a:t>t</a:t>
            </a:r>
            <a:r>
              <a:rPr lang="en-US" sz="1100" dirty="0" err="1">
                <a:solidFill>
                  <a:srgbClr val="CCCCCC"/>
                </a:solidFill>
                <a:latin typeface="Consolas"/>
              </a:rPr>
              <a:t>.</a:t>
            </a:r>
            <a:r>
              <a:rPr lang="en-US" sz="1100" dirty="0" err="1">
                <a:solidFill>
                  <a:srgbClr val="DCDCAA"/>
                </a:solidFill>
                <a:latin typeface="Consolas"/>
              </a:rPr>
              <a:t>left</a:t>
            </a:r>
            <a:r>
              <a:rPr lang="en-US" sz="1100" dirty="0">
                <a:solidFill>
                  <a:srgbClr val="CCCCCC"/>
                </a:solidFill>
                <a:latin typeface="Consolas"/>
              </a:rPr>
              <a:t>(</a:t>
            </a:r>
            <a:r>
              <a:rPr lang="en-US" sz="1100" dirty="0">
                <a:solidFill>
                  <a:srgbClr val="B5CEA8"/>
                </a:solidFill>
                <a:latin typeface="Consolas"/>
              </a:rPr>
              <a:t>120</a:t>
            </a:r>
            <a:r>
              <a:rPr lang="en-US" sz="1100" dirty="0">
                <a:solidFill>
                  <a:srgbClr val="CCCCCC"/>
                </a:solidFill>
                <a:latin typeface="Consolas"/>
              </a:rPr>
              <a:t>)</a:t>
            </a:r>
            <a:endParaRPr lang="en-US" dirty="0"/>
          </a:p>
          <a:p>
            <a:r>
              <a:rPr lang="en-US" sz="1100" dirty="0">
                <a:solidFill>
                  <a:srgbClr val="CCCCCC"/>
                </a:solidFill>
                <a:latin typeface="Consolas"/>
              </a:rPr>
              <a:t>    </a:t>
            </a:r>
            <a:r>
              <a:rPr lang="en-US" sz="1100" dirty="0">
                <a:solidFill>
                  <a:srgbClr val="C586C0"/>
                </a:solidFill>
                <a:latin typeface="Consolas"/>
              </a:rPr>
              <a:t>else</a:t>
            </a:r>
            <a:r>
              <a:rPr lang="en-US" sz="1100" dirty="0">
                <a:solidFill>
                  <a:srgbClr val="CCCCCC"/>
                </a:solidFill>
                <a:latin typeface="Consolas"/>
              </a:rPr>
              <a:t>:</a:t>
            </a:r>
            <a:endParaRPr lang="en-US" dirty="0"/>
          </a:p>
          <a:p>
            <a:r>
              <a:rPr lang="en-US" sz="1100" dirty="0">
                <a:solidFill>
                  <a:srgbClr val="CCCCCC"/>
                </a:solidFill>
                <a:latin typeface="Consolas"/>
              </a:rPr>
              <a:t>        </a:t>
            </a:r>
            <a:r>
              <a:rPr lang="en-US" sz="1100" dirty="0" err="1">
                <a:solidFill>
                  <a:srgbClr val="DCDCAA"/>
                </a:solidFill>
                <a:latin typeface="Consolas"/>
              </a:rPr>
              <a:t>sierpinski</a:t>
            </a:r>
            <a:r>
              <a:rPr lang="en-US" sz="1100" dirty="0">
                <a:solidFill>
                  <a:srgbClr val="CCCCCC"/>
                </a:solidFill>
                <a:latin typeface="Consolas"/>
              </a:rPr>
              <a:t>(</a:t>
            </a:r>
            <a:r>
              <a:rPr lang="en-US" sz="1100" dirty="0">
                <a:solidFill>
                  <a:srgbClr val="9CDCFE"/>
                </a:solidFill>
                <a:latin typeface="Consolas"/>
              </a:rPr>
              <a:t>size</a:t>
            </a:r>
            <a:r>
              <a:rPr lang="en-US" sz="1100" dirty="0">
                <a:solidFill>
                  <a:srgbClr val="CCCCCC"/>
                </a:solidFill>
                <a:latin typeface="Consolas"/>
              </a:rPr>
              <a:t> </a:t>
            </a:r>
            <a:r>
              <a:rPr lang="en-US" sz="1100" dirty="0">
                <a:solidFill>
                  <a:srgbClr val="D4D4D4"/>
                </a:solidFill>
                <a:latin typeface="Consolas"/>
              </a:rPr>
              <a:t>/</a:t>
            </a:r>
            <a:r>
              <a:rPr lang="en-US" sz="1100" dirty="0">
                <a:solidFill>
                  <a:srgbClr val="CCCCCC"/>
                </a:solidFill>
                <a:latin typeface="Consolas"/>
              </a:rPr>
              <a:t> </a:t>
            </a:r>
            <a:r>
              <a:rPr lang="en-US" sz="1100" dirty="0">
                <a:solidFill>
                  <a:srgbClr val="B5CEA8"/>
                </a:solidFill>
                <a:latin typeface="Consolas"/>
              </a:rPr>
              <a:t>2</a:t>
            </a:r>
            <a:r>
              <a:rPr lang="en-US" sz="1100" dirty="0">
                <a:solidFill>
                  <a:srgbClr val="CCCCCC"/>
                </a:solidFill>
                <a:latin typeface="Consolas"/>
              </a:rPr>
              <a:t>, </a:t>
            </a:r>
            <a:r>
              <a:rPr lang="en-US" sz="1100" dirty="0">
                <a:solidFill>
                  <a:srgbClr val="9CDCFE"/>
                </a:solidFill>
                <a:latin typeface="Consolas"/>
              </a:rPr>
              <a:t>depth</a:t>
            </a:r>
            <a:r>
              <a:rPr lang="en-US" sz="1100" dirty="0">
                <a:solidFill>
                  <a:srgbClr val="CCCCCC"/>
                </a:solidFill>
                <a:latin typeface="Consolas"/>
              </a:rPr>
              <a:t> </a:t>
            </a:r>
            <a:r>
              <a:rPr lang="en-US" sz="1100" dirty="0">
                <a:solidFill>
                  <a:srgbClr val="D4D4D4"/>
                </a:solidFill>
                <a:latin typeface="Consolas"/>
              </a:rPr>
              <a:t>-</a:t>
            </a:r>
            <a:r>
              <a:rPr lang="en-US" sz="1100" dirty="0">
                <a:solidFill>
                  <a:srgbClr val="CCCCCC"/>
                </a:solidFill>
                <a:latin typeface="Consolas"/>
              </a:rPr>
              <a:t> </a:t>
            </a:r>
            <a:r>
              <a:rPr lang="en-US" sz="1100" dirty="0">
                <a:solidFill>
                  <a:srgbClr val="B5CEA8"/>
                </a:solidFill>
                <a:latin typeface="Consolas"/>
              </a:rPr>
              <a:t>1</a:t>
            </a:r>
            <a:r>
              <a:rPr lang="en-US" sz="1100" dirty="0">
                <a:solidFill>
                  <a:srgbClr val="CCCCCC"/>
                </a:solidFill>
                <a:latin typeface="Consolas"/>
              </a:rPr>
              <a:t>)</a:t>
            </a:r>
            <a:endParaRPr lang="en-US" dirty="0"/>
          </a:p>
          <a:p>
            <a:r>
              <a:rPr lang="en-US" sz="1100" dirty="0">
                <a:solidFill>
                  <a:srgbClr val="CCCCCC"/>
                </a:solidFill>
                <a:latin typeface="Consolas"/>
              </a:rPr>
              <a:t>        </a:t>
            </a:r>
            <a:r>
              <a:rPr lang="en-US" sz="1100" dirty="0" err="1">
                <a:solidFill>
                  <a:srgbClr val="9CDCFE"/>
                </a:solidFill>
                <a:latin typeface="Consolas"/>
              </a:rPr>
              <a:t>t</a:t>
            </a:r>
            <a:r>
              <a:rPr lang="en-US" sz="1100" dirty="0" err="1">
                <a:solidFill>
                  <a:srgbClr val="CCCCCC"/>
                </a:solidFill>
                <a:latin typeface="Consolas"/>
              </a:rPr>
              <a:t>.</a:t>
            </a:r>
            <a:r>
              <a:rPr lang="en-US" sz="1100" dirty="0" err="1">
                <a:solidFill>
                  <a:srgbClr val="DCDCAA"/>
                </a:solidFill>
                <a:latin typeface="Consolas"/>
              </a:rPr>
              <a:t>forward</a:t>
            </a:r>
            <a:r>
              <a:rPr lang="en-US" sz="1100" dirty="0">
                <a:solidFill>
                  <a:srgbClr val="CCCCCC"/>
                </a:solidFill>
                <a:latin typeface="Consolas"/>
              </a:rPr>
              <a:t>(</a:t>
            </a:r>
            <a:r>
              <a:rPr lang="en-US" sz="1100" dirty="0">
                <a:solidFill>
                  <a:srgbClr val="9CDCFE"/>
                </a:solidFill>
                <a:latin typeface="Consolas"/>
              </a:rPr>
              <a:t>size</a:t>
            </a:r>
            <a:r>
              <a:rPr lang="en-US" sz="1100" dirty="0">
                <a:solidFill>
                  <a:srgbClr val="CCCCCC"/>
                </a:solidFill>
                <a:latin typeface="Consolas"/>
              </a:rPr>
              <a:t> </a:t>
            </a:r>
            <a:r>
              <a:rPr lang="en-US" sz="1100" dirty="0">
                <a:solidFill>
                  <a:srgbClr val="D4D4D4"/>
                </a:solidFill>
                <a:latin typeface="Consolas"/>
              </a:rPr>
              <a:t>/</a:t>
            </a:r>
            <a:r>
              <a:rPr lang="en-US" sz="1100" dirty="0">
                <a:solidFill>
                  <a:srgbClr val="CCCCCC"/>
                </a:solidFill>
                <a:latin typeface="Consolas"/>
              </a:rPr>
              <a:t> </a:t>
            </a:r>
            <a:r>
              <a:rPr lang="en-US" sz="1100" dirty="0">
                <a:solidFill>
                  <a:srgbClr val="B5CEA8"/>
                </a:solidFill>
                <a:latin typeface="Consolas"/>
              </a:rPr>
              <a:t>2</a:t>
            </a:r>
            <a:r>
              <a:rPr lang="en-US" sz="1100" dirty="0">
                <a:solidFill>
                  <a:srgbClr val="CCCCCC"/>
                </a:solidFill>
                <a:latin typeface="Consolas"/>
              </a:rPr>
              <a:t>)</a:t>
            </a:r>
            <a:endParaRPr lang="en-US" dirty="0"/>
          </a:p>
          <a:p>
            <a:r>
              <a:rPr lang="en-US" sz="1100" dirty="0">
                <a:solidFill>
                  <a:srgbClr val="CCCCCC"/>
                </a:solidFill>
                <a:latin typeface="Consolas"/>
              </a:rPr>
              <a:t>        </a:t>
            </a:r>
            <a:r>
              <a:rPr lang="en-US" sz="1100" dirty="0" err="1">
                <a:solidFill>
                  <a:srgbClr val="DCDCAA"/>
                </a:solidFill>
                <a:latin typeface="Consolas"/>
              </a:rPr>
              <a:t>sierpinski</a:t>
            </a:r>
            <a:r>
              <a:rPr lang="en-US" sz="1100" dirty="0">
                <a:solidFill>
                  <a:srgbClr val="CCCCCC"/>
                </a:solidFill>
                <a:latin typeface="Consolas"/>
              </a:rPr>
              <a:t>(</a:t>
            </a:r>
            <a:r>
              <a:rPr lang="en-US" sz="1100" dirty="0">
                <a:solidFill>
                  <a:srgbClr val="9CDCFE"/>
                </a:solidFill>
                <a:latin typeface="Consolas"/>
              </a:rPr>
              <a:t>size</a:t>
            </a:r>
            <a:r>
              <a:rPr lang="en-US" sz="1100" dirty="0">
                <a:solidFill>
                  <a:srgbClr val="CCCCCC"/>
                </a:solidFill>
                <a:latin typeface="Consolas"/>
              </a:rPr>
              <a:t> </a:t>
            </a:r>
            <a:r>
              <a:rPr lang="en-US" sz="1100" dirty="0">
                <a:solidFill>
                  <a:srgbClr val="D4D4D4"/>
                </a:solidFill>
                <a:latin typeface="Consolas"/>
              </a:rPr>
              <a:t>/</a:t>
            </a:r>
            <a:r>
              <a:rPr lang="en-US" sz="1100" dirty="0">
                <a:solidFill>
                  <a:srgbClr val="CCCCCC"/>
                </a:solidFill>
                <a:latin typeface="Consolas"/>
              </a:rPr>
              <a:t> </a:t>
            </a:r>
            <a:r>
              <a:rPr lang="en-US" sz="1100" dirty="0">
                <a:solidFill>
                  <a:srgbClr val="B5CEA8"/>
                </a:solidFill>
                <a:latin typeface="Consolas"/>
              </a:rPr>
              <a:t>2</a:t>
            </a:r>
            <a:r>
              <a:rPr lang="en-US" sz="1100" dirty="0">
                <a:solidFill>
                  <a:srgbClr val="CCCCCC"/>
                </a:solidFill>
                <a:latin typeface="Consolas"/>
              </a:rPr>
              <a:t>, </a:t>
            </a:r>
            <a:r>
              <a:rPr lang="en-US" sz="1100" dirty="0">
                <a:solidFill>
                  <a:srgbClr val="9CDCFE"/>
                </a:solidFill>
                <a:latin typeface="Consolas"/>
              </a:rPr>
              <a:t>depth</a:t>
            </a:r>
            <a:r>
              <a:rPr lang="en-US" sz="1100" dirty="0">
                <a:solidFill>
                  <a:srgbClr val="CCCCCC"/>
                </a:solidFill>
                <a:latin typeface="Consolas"/>
              </a:rPr>
              <a:t> </a:t>
            </a:r>
            <a:r>
              <a:rPr lang="en-US" sz="1100" dirty="0">
                <a:solidFill>
                  <a:srgbClr val="D4D4D4"/>
                </a:solidFill>
                <a:latin typeface="Consolas"/>
              </a:rPr>
              <a:t>-</a:t>
            </a:r>
            <a:r>
              <a:rPr lang="en-US" sz="1100" dirty="0">
                <a:solidFill>
                  <a:srgbClr val="CCCCCC"/>
                </a:solidFill>
                <a:latin typeface="Consolas"/>
              </a:rPr>
              <a:t> </a:t>
            </a:r>
            <a:r>
              <a:rPr lang="en-US" sz="1100" dirty="0">
                <a:solidFill>
                  <a:srgbClr val="B5CEA8"/>
                </a:solidFill>
                <a:latin typeface="Consolas"/>
              </a:rPr>
              <a:t>1</a:t>
            </a:r>
            <a:r>
              <a:rPr lang="en-US" sz="1100" dirty="0">
                <a:solidFill>
                  <a:srgbClr val="CCCCCC"/>
                </a:solidFill>
                <a:latin typeface="Consolas"/>
              </a:rPr>
              <a:t>)</a:t>
            </a:r>
            <a:endParaRPr lang="en-US" dirty="0"/>
          </a:p>
          <a:p>
            <a:r>
              <a:rPr lang="en-US" sz="1100" dirty="0">
                <a:solidFill>
                  <a:srgbClr val="CCCCCC"/>
                </a:solidFill>
                <a:latin typeface="Consolas"/>
              </a:rPr>
              <a:t>        </a:t>
            </a:r>
            <a:r>
              <a:rPr lang="en-US" sz="1100" dirty="0" err="1">
                <a:solidFill>
                  <a:srgbClr val="9CDCFE"/>
                </a:solidFill>
                <a:latin typeface="Consolas"/>
              </a:rPr>
              <a:t>t</a:t>
            </a:r>
            <a:r>
              <a:rPr lang="en-US" sz="1100" dirty="0" err="1">
                <a:solidFill>
                  <a:srgbClr val="CCCCCC"/>
                </a:solidFill>
                <a:latin typeface="Consolas"/>
              </a:rPr>
              <a:t>.</a:t>
            </a:r>
            <a:r>
              <a:rPr lang="en-US" sz="1100" dirty="0" err="1">
                <a:solidFill>
                  <a:srgbClr val="9CDCFE"/>
                </a:solidFill>
                <a:latin typeface="Consolas"/>
              </a:rPr>
              <a:t>backward</a:t>
            </a:r>
            <a:r>
              <a:rPr lang="en-US" sz="1100" dirty="0">
                <a:solidFill>
                  <a:srgbClr val="CCCCCC"/>
                </a:solidFill>
                <a:latin typeface="Consolas"/>
              </a:rPr>
              <a:t>(</a:t>
            </a:r>
            <a:r>
              <a:rPr lang="en-US" sz="1100" dirty="0">
                <a:solidFill>
                  <a:srgbClr val="9CDCFE"/>
                </a:solidFill>
                <a:latin typeface="Consolas"/>
              </a:rPr>
              <a:t>size</a:t>
            </a:r>
            <a:r>
              <a:rPr lang="en-US" sz="1100" dirty="0">
                <a:solidFill>
                  <a:srgbClr val="CCCCCC"/>
                </a:solidFill>
                <a:latin typeface="Consolas"/>
              </a:rPr>
              <a:t> </a:t>
            </a:r>
            <a:r>
              <a:rPr lang="en-US" sz="1100" dirty="0">
                <a:solidFill>
                  <a:srgbClr val="D4D4D4"/>
                </a:solidFill>
                <a:latin typeface="Consolas"/>
              </a:rPr>
              <a:t>/</a:t>
            </a:r>
            <a:r>
              <a:rPr lang="en-US" sz="1100" dirty="0">
                <a:solidFill>
                  <a:srgbClr val="CCCCCC"/>
                </a:solidFill>
                <a:latin typeface="Consolas"/>
              </a:rPr>
              <a:t> </a:t>
            </a:r>
            <a:r>
              <a:rPr lang="en-US" sz="1100" dirty="0">
                <a:solidFill>
                  <a:srgbClr val="B5CEA8"/>
                </a:solidFill>
                <a:latin typeface="Consolas"/>
              </a:rPr>
              <a:t>2</a:t>
            </a:r>
            <a:r>
              <a:rPr lang="en-US" sz="1100" dirty="0">
                <a:solidFill>
                  <a:srgbClr val="CCCCCC"/>
                </a:solidFill>
                <a:latin typeface="Consolas"/>
              </a:rPr>
              <a:t>)</a:t>
            </a:r>
            <a:endParaRPr lang="en-US" dirty="0"/>
          </a:p>
          <a:p>
            <a:r>
              <a:rPr lang="en-US" sz="1100" dirty="0">
                <a:solidFill>
                  <a:srgbClr val="CCCCCC"/>
                </a:solidFill>
                <a:latin typeface="Consolas"/>
              </a:rPr>
              <a:t>        </a:t>
            </a:r>
            <a:r>
              <a:rPr lang="en-US" sz="1100" dirty="0" err="1">
                <a:solidFill>
                  <a:srgbClr val="9CDCFE"/>
                </a:solidFill>
                <a:latin typeface="Consolas"/>
              </a:rPr>
              <a:t>t</a:t>
            </a:r>
            <a:r>
              <a:rPr lang="en-US" sz="1100" dirty="0" err="1">
                <a:solidFill>
                  <a:srgbClr val="CCCCCC"/>
                </a:solidFill>
                <a:latin typeface="Consolas"/>
              </a:rPr>
              <a:t>.</a:t>
            </a:r>
            <a:r>
              <a:rPr lang="en-US" sz="1100" dirty="0" err="1">
                <a:solidFill>
                  <a:srgbClr val="DCDCAA"/>
                </a:solidFill>
                <a:latin typeface="Consolas"/>
              </a:rPr>
              <a:t>left</a:t>
            </a:r>
            <a:r>
              <a:rPr lang="en-US" sz="1100" dirty="0">
                <a:solidFill>
                  <a:srgbClr val="CCCCCC"/>
                </a:solidFill>
                <a:latin typeface="Consolas"/>
              </a:rPr>
              <a:t>(</a:t>
            </a:r>
            <a:r>
              <a:rPr lang="en-US" sz="1100" dirty="0">
                <a:solidFill>
                  <a:srgbClr val="B5CEA8"/>
                </a:solidFill>
                <a:latin typeface="Consolas"/>
              </a:rPr>
              <a:t>60</a:t>
            </a:r>
            <a:r>
              <a:rPr lang="en-US" sz="1100" dirty="0">
                <a:solidFill>
                  <a:srgbClr val="CCCCCC"/>
                </a:solidFill>
                <a:latin typeface="Consolas"/>
              </a:rPr>
              <a:t>)</a:t>
            </a:r>
            <a:endParaRPr lang="en-US" dirty="0"/>
          </a:p>
          <a:p>
            <a:r>
              <a:rPr lang="en-US" sz="1100" dirty="0">
                <a:solidFill>
                  <a:srgbClr val="CCCCCC"/>
                </a:solidFill>
                <a:latin typeface="Consolas"/>
              </a:rPr>
              <a:t>        </a:t>
            </a:r>
            <a:r>
              <a:rPr lang="en-US" sz="1100" dirty="0" err="1">
                <a:solidFill>
                  <a:srgbClr val="9CDCFE"/>
                </a:solidFill>
                <a:latin typeface="Consolas"/>
              </a:rPr>
              <a:t>t</a:t>
            </a:r>
            <a:r>
              <a:rPr lang="en-US" sz="1100" dirty="0" err="1">
                <a:solidFill>
                  <a:srgbClr val="CCCCCC"/>
                </a:solidFill>
                <a:latin typeface="Consolas"/>
              </a:rPr>
              <a:t>.</a:t>
            </a:r>
            <a:r>
              <a:rPr lang="en-US" sz="1100" dirty="0" err="1">
                <a:solidFill>
                  <a:srgbClr val="DCDCAA"/>
                </a:solidFill>
                <a:latin typeface="Consolas"/>
              </a:rPr>
              <a:t>forward</a:t>
            </a:r>
            <a:r>
              <a:rPr lang="en-US" sz="1100" dirty="0">
                <a:solidFill>
                  <a:srgbClr val="CCCCCC"/>
                </a:solidFill>
                <a:latin typeface="Consolas"/>
              </a:rPr>
              <a:t>(</a:t>
            </a:r>
            <a:r>
              <a:rPr lang="en-US" sz="1100" dirty="0">
                <a:solidFill>
                  <a:srgbClr val="9CDCFE"/>
                </a:solidFill>
                <a:latin typeface="Consolas"/>
              </a:rPr>
              <a:t>size</a:t>
            </a:r>
            <a:r>
              <a:rPr lang="en-US" sz="1100" dirty="0">
                <a:solidFill>
                  <a:srgbClr val="CCCCCC"/>
                </a:solidFill>
                <a:latin typeface="Consolas"/>
              </a:rPr>
              <a:t> </a:t>
            </a:r>
            <a:r>
              <a:rPr lang="en-US" sz="1100" dirty="0">
                <a:solidFill>
                  <a:srgbClr val="D4D4D4"/>
                </a:solidFill>
                <a:latin typeface="Consolas"/>
              </a:rPr>
              <a:t>/</a:t>
            </a:r>
            <a:r>
              <a:rPr lang="en-US" sz="1100" dirty="0">
                <a:solidFill>
                  <a:srgbClr val="CCCCCC"/>
                </a:solidFill>
                <a:latin typeface="Consolas"/>
              </a:rPr>
              <a:t> </a:t>
            </a:r>
            <a:r>
              <a:rPr lang="en-US" sz="1100" dirty="0">
                <a:solidFill>
                  <a:srgbClr val="B5CEA8"/>
                </a:solidFill>
                <a:latin typeface="Consolas"/>
              </a:rPr>
              <a:t>2</a:t>
            </a:r>
            <a:r>
              <a:rPr lang="en-US" sz="1100" dirty="0">
                <a:solidFill>
                  <a:srgbClr val="CCCCCC"/>
                </a:solidFill>
                <a:latin typeface="Consolas"/>
              </a:rPr>
              <a:t>)</a:t>
            </a:r>
            <a:endParaRPr lang="en-US" dirty="0"/>
          </a:p>
          <a:p>
            <a:r>
              <a:rPr lang="en-US" sz="1100" dirty="0">
                <a:solidFill>
                  <a:srgbClr val="CCCCCC"/>
                </a:solidFill>
                <a:latin typeface="Consolas"/>
              </a:rPr>
              <a:t>        </a:t>
            </a:r>
            <a:r>
              <a:rPr lang="en-US" sz="1100" dirty="0" err="1">
                <a:solidFill>
                  <a:srgbClr val="9CDCFE"/>
                </a:solidFill>
                <a:latin typeface="Consolas"/>
              </a:rPr>
              <a:t>t</a:t>
            </a:r>
            <a:r>
              <a:rPr lang="en-US" sz="1100" dirty="0" err="1">
                <a:solidFill>
                  <a:srgbClr val="CCCCCC"/>
                </a:solidFill>
                <a:latin typeface="Consolas"/>
              </a:rPr>
              <a:t>.</a:t>
            </a:r>
            <a:r>
              <a:rPr lang="en-US" sz="1100" dirty="0" err="1">
                <a:solidFill>
                  <a:srgbClr val="DCDCAA"/>
                </a:solidFill>
                <a:latin typeface="Consolas"/>
              </a:rPr>
              <a:t>right</a:t>
            </a:r>
            <a:r>
              <a:rPr lang="en-US" sz="1100" dirty="0">
                <a:solidFill>
                  <a:srgbClr val="CCCCCC"/>
                </a:solidFill>
                <a:latin typeface="Consolas"/>
              </a:rPr>
              <a:t>(</a:t>
            </a:r>
            <a:r>
              <a:rPr lang="en-US" sz="1100" dirty="0">
                <a:solidFill>
                  <a:srgbClr val="B5CEA8"/>
                </a:solidFill>
                <a:latin typeface="Consolas"/>
              </a:rPr>
              <a:t>60</a:t>
            </a:r>
            <a:r>
              <a:rPr lang="en-US" sz="1100" dirty="0">
                <a:solidFill>
                  <a:srgbClr val="CCCCCC"/>
                </a:solidFill>
                <a:latin typeface="Consolas"/>
              </a:rPr>
              <a:t>)</a:t>
            </a:r>
            <a:endParaRPr lang="en-US" dirty="0"/>
          </a:p>
          <a:p>
            <a:r>
              <a:rPr lang="en-US" sz="1100" dirty="0">
                <a:solidFill>
                  <a:srgbClr val="CCCCCC"/>
                </a:solidFill>
                <a:latin typeface="Consolas"/>
              </a:rPr>
              <a:t>        </a:t>
            </a:r>
            <a:r>
              <a:rPr lang="en-US" sz="1100" dirty="0" err="1">
                <a:solidFill>
                  <a:srgbClr val="DCDCAA"/>
                </a:solidFill>
                <a:latin typeface="Consolas"/>
              </a:rPr>
              <a:t>sierpinski</a:t>
            </a:r>
            <a:r>
              <a:rPr lang="en-US" sz="1100" dirty="0">
                <a:solidFill>
                  <a:srgbClr val="CCCCCC"/>
                </a:solidFill>
                <a:latin typeface="Consolas"/>
              </a:rPr>
              <a:t>(</a:t>
            </a:r>
            <a:r>
              <a:rPr lang="en-US" sz="1100" dirty="0">
                <a:solidFill>
                  <a:srgbClr val="9CDCFE"/>
                </a:solidFill>
                <a:latin typeface="Consolas"/>
              </a:rPr>
              <a:t>size</a:t>
            </a:r>
            <a:r>
              <a:rPr lang="en-US" sz="1100" dirty="0">
                <a:solidFill>
                  <a:srgbClr val="CCCCCC"/>
                </a:solidFill>
                <a:latin typeface="Consolas"/>
              </a:rPr>
              <a:t> </a:t>
            </a:r>
            <a:r>
              <a:rPr lang="en-US" sz="1100" dirty="0">
                <a:solidFill>
                  <a:srgbClr val="D4D4D4"/>
                </a:solidFill>
                <a:latin typeface="Consolas"/>
              </a:rPr>
              <a:t>/</a:t>
            </a:r>
            <a:r>
              <a:rPr lang="en-US" sz="1100" dirty="0">
                <a:solidFill>
                  <a:srgbClr val="CCCCCC"/>
                </a:solidFill>
                <a:latin typeface="Consolas"/>
              </a:rPr>
              <a:t> </a:t>
            </a:r>
            <a:r>
              <a:rPr lang="en-US" sz="1100" dirty="0">
                <a:solidFill>
                  <a:srgbClr val="B5CEA8"/>
                </a:solidFill>
                <a:latin typeface="Consolas"/>
              </a:rPr>
              <a:t>2</a:t>
            </a:r>
            <a:r>
              <a:rPr lang="en-US" sz="1100" dirty="0">
                <a:solidFill>
                  <a:srgbClr val="CCCCCC"/>
                </a:solidFill>
                <a:latin typeface="Consolas"/>
              </a:rPr>
              <a:t>, </a:t>
            </a:r>
            <a:r>
              <a:rPr lang="en-US" sz="1100" dirty="0">
                <a:solidFill>
                  <a:srgbClr val="9CDCFE"/>
                </a:solidFill>
                <a:latin typeface="Consolas"/>
              </a:rPr>
              <a:t>depth</a:t>
            </a:r>
            <a:r>
              <a:rPr lang="en-US" sz="1100" dirty="0">
                <a:solidFill>
                  <a:srgbClr val="CCCCCC"/>
                </a:solidFill>
                <a:latin typeface="Consolas"/>
              </a:rPr>
              <a:t> </a:t>
            </a:r>
            <a:r>
              <a:rPr lang="en-US" sz="1100" dirty="0">
                <a:solidFill>
                  <a:srgbClr val="D4D4D4"/>
                </a:solidFill>
                <a:latin typeface="Consolas"/>
              </a:rPr>
              <a:t>-</a:t>
            </a:r>
            <a:r>
              <a:rPr lang="en-US" sz="1100" dirty="0">
                <a:solidFill>
                  <a:srgbClr val="CCCCCC"/>
                </a:solidFill>
                <a:latin typeface="Consolas"/>
              </a:rPr>
              <a:t> </a:t>
            </a:r>
            <a:r>
              <a:rPr lang="en-US" sz="1100" dirty="0">
                <a:solidFill>
                  <a:srgbClr val="B5CEA8"/>
                </a:solidFill>
                <a:latin typeface="Consolas"/>
              </a:rPr>
              <a:t>1</a:t>
            </a:r>
            <a:r>
              <a:rPr lang="en-US" sz="1100" dirty="0">
                <a:solidFill>
                  <a:srgbClr val="CCCCCC"/>
                </a:solidFill>
                <a:latin typeface="Consolas"/>
              </a:rPr>
              <a:t>)</a:t>
            </a:r>
            <a:endParaRPr lang="en-US" dirty="0"/>
          </a:p>
          <a:p>
            <a:r>
              <a:rPr lang="en-US" sz="1100" dirty="0">
                <a:solidFill>
                  <a:srgbClr val="CCCCCC"/>
                </a:solidFill>
                <a:latin typeface="Consolas"/>
              </a:rPr>
              <a:t>        </a:t>
            </a:r>
            <a:r>
              <a:rPr lang="en-US" sz="1100" dirty="0" err="1">
                <a:solidFill>
                  <a:srgbClr val="9CDCFE"/>
                </a:solidFill>
                <a:latin typeface="Consolas"/>
              </a:rPr>
              <a:t>t</a:t>
            </a:r>
            <a:r>
              <a:rPr lang="en-US" sz="1100" dirty="0" err="1">
                <a:solidFill>
                  <a:srgbClr val="CCCCCC"/>
                </a:solidFill>
                <a:latin typeface="Consolas"/>
              </a:rPr>
              <a:t>.</a:t>
            </a:r>
            <a:r>
              <a:rPr lang="en-US" sz="1100" dirty="0" err="1">
                <a:solidFill>
                  <a:srgbClr val="DCDCAA"/>
                </a:solidFill>
                <a:latin typeface="Consolas"/>
              </a:rPr>
              <a:t>left</a:t>
            </a:r>
            <a:r>
              <a:rPr lang="en-US" sz="1100" dirty="0">
                <a:solidFill>
                  <a:srgbClr val="CCCCCC"/>
                </a:solidFill>
                <a:latin typeface="Consolas"/>
              </a:rPr>
              <a:t>(</a:t>
            </a:r>
            <a:r>
              <a:rPr lang="en-US" sz="1100" dirty="0">
                <a:solidFill>
                  <a:srgbClr val="B5CEA8"/>
                </a:solidFill>
                <a:latin typeface="Consolas"/>
              </a:rPr>
              <a:t>60</a:t>
            </a:r>
            <a:r>
              <a:rPr lang="en-US" sz="1100" dirty="0">
                <a:solidFill>
                  <a:srgbClr val="CCCCCC"/>
                </a:solidFill>
                <a:latin typeface="Consolas"/>
              </a:rPr>
              <a:t>)</a:t>
            </a:r>
            <a:endParaRPr lang="en-US"/>
          </a:p>
          <a:p>
            <a:r>
              <a:rPr lang="en-US" sz="1100" dirty="0">
                <a:solidFill>
                  <a:srgbClr val="CCCCCC"/>
                </a:solidFill>
                <a:latin typeface="Consolas"/>
              </a:rPr>
              <a:t>        </a:t>
            </a:r>
            <a:r>
              <a:rPr lang="en-US" sz="1100" dirty="0" err="1">
                <a:solidFill>
                  <a:srgbClr val="9CDCFE"/>
                </a:solidFill>
                <a:latin typeface="Consolas"/>
              </a:rPr>
              <a:t>t</a:t>
            </a:r>
            <a:r>
              <a:rPr lang="en-US" sz="1100" dirty="0" err="1">
                <a:solidFill>
                  <a:srgbClr val="CCCCCC"/>
                </a:solidFill>
                <a:latin typeface="Consolas"/>
              </a:rPr>
              <a:t>.</a:t>
            </a:r>
            <a:r>
              <a:rPr lang="en-US" sz="1100" dirty="0" err="1">
                <a:solidFill>
                  <a:srgbClr val="9CDCFE"/>
                </a:solidFill>
                <a:latin typeface="Consolas"/>
              </a:rPr>
              <a:t>backward</a:t>
            </a:r>
            <a:r>
              <a:rPr lang="en-US" sz="1100" dirty="0">
                <a:solidFill>
                  <a:srgbClr val="CCCCCC"/>
                </a:solidFill>
                <a:latin typeface="Consolas"/>
              </a:rPr>
              <a:t>(</a:t>
            </a:r>
            <a:r>
              <a:rPr lang="en-US" sz="1100" dirty="0">
                <a:solidFill>
                  <a:srgbClr val="9CDCFE"/>
                </a:solidFill>
                <a:latin typeface="Consolas"/>
              </a:rPr>
              <a:t>size</a:t>
            </a:r>
            <a:r>
              <a:rPr lang="en-US" sz="1100" dirty="0">
                <a:solidFill>
                  <a:srgbClr val="CCCCCC"/>
                </a:solidFill>
                <a:latin typeface="Consolas"/>
              </a:rPr>
              <a:t> </a:t>
            </a:r>
            <a:r>
              <a:rPr lang="en-US" sz="1100" dirty="0">
                <a:solidFill>
                  <a:srgbClr val="D4D4D4"/>
                </a:solidFill>
                <a:latin typeface="Consolas"/>
              </a:rPr>
              <a:t>/</a:t>
            </a:r>
            <a:r>
              <a:rPr lang="en-US" sz="1100" dirty="0">
                <a:solidFill>
                  <a:srgbClr val="CCCCCC"/>
                </a:solidFill>
                <a:latin typeface="Consolas"/>
              </a:rPr>
              <a:t> </a:t>
            </a:r>
            <a:r>
              <a:rPr lang="en-US" sz="1100" dirty="0">
                <a:solidFill>
                  <a:srgbClr val="B5CEA8"/>
                </a:solidFill>
                <a:latin typeface="Consolas"/>
              </a:rPr>
              <a:t>2</a:t>
            </a:r>
            <a:r>
              <a:rPr lang="en-US" sz="1100" dirty="0">
                <a:solidFill>
                  <a:srgbClr val="CCCCCC"/>
                </a:solidFill>
                <a:latin typeface="Consolas"/>
              </a:rPr>
              <a:t>)</a:t>
            </a:r>
            <a:endParaRPr lang="en-US"/>
          </a:p>
          <a:p>
            <a:r>
              <a:rPr lang="en-US" sz="1100" dirty="0">
                <a:solidFill>
                  <a:srgbClr val="CCCCCC"/>
                </a:solidFill>
                <a:latin typeface="Consolas"/>
              </a:rPr>
              <a:t>        </a:t>
            </a:r>
            <a:r>
              <a:rPr lang="en-US" sz="1100" dirty="0" err="1">
                <a:solidFill>
                  <a:srgbClr val="9CDCFE"/>
                </a:solidFill>
                <a:latin typeface="Consolas"/>
              </a:rPr>
              <a:t>t</a:t>
            </a:r>
            <a:r>
              <a:rPr lang="en-US" sz="1100" dirty="0" err="1">
                <a:solidFill>
                  <a:srgbClr val="CCCCCC"/>
                </a:solidFill>
                <a:latin typeface="Consolas"/>
              </a:rPr>
              <a:t>.</a:t>
            </a:r>
            <a:r>
              <a:rPr lang="en-US" sz="1100" dirty="0" err="1">
                <a:solidFill>
                  <a:srgbClr val="DCDCAA"/>
                </a:solidFill>
                <a:latin typeface="Consolas"/>
              </a:rPr>
              <a:t>right</a:t>
            </a:r>
            <a:r>
              <a:rPr lang="en-US" sz="1100" dirty="0">
                <a:solidFill>
                  <a:srgbClr val="CCCCCC"/>
                </a:solidFill>
                <a:latin typeface="Consolas"/>
              </a:rPr>
              <a:t>(</a:t>
            </a:r>
            <a:r>
              <a:rPr lang="en-US" sz="1100" dirty="0">
                <a:solidFill>
                  <a:srgbClr val="B5CEA8"/>
                </a:solidFill>
                <a:latin typeface="Consolas"/>
              </a:rPr>
              <a:t>60</a:t>
            </a:r>
            <a:r>
              <a:rPr lang="en-US" sz="1100" dirty="0">
                <a:solidFill>
                  <a:srgbClr val="CCCCCC"/>
                </a:solidFill>
                <a:latin typeface="Consolas"/>
              </a:rPr>
              <a:t>)</a:t>
            </a:r>
            <a:endParaRPr lang="en-US"/>
          </a:p>
          <a:p>
            <a:r>
              <a:rPr lang="en-US" sz="1100" dirty="0" err="1">
                <a:solidFill>
                  <a:srgbClr val="9CDCFE"/>
                </a:solidFill>
                <a:latin typeface="Consolas"/>
              </a:rPr>
              <a:t>t</a:t>
            </a:r>
            <a:r>
              <a:rPr lang="en-US" sz="1100" dirty="0" err="1">
                <a:solidFill>
                  <a:srgbClr val="CCCCCC"/>
                </a:solidFill>
                <a:latin typeface="Consolas"/>
              </a:rPr>
              <a:t>.</a:t>
            </a:r>
            <a:r>
              <a:rPr lang="en-US" sz="1100" dirty="0" err="1">
                <a:solidFill>
                  <a:srgbClr val="DCDCAA"/>
                </a:solidFill>
                <a:latin typeface="Consolas"/>
              </a:rPr>
              <a:t>penup</a:t>
            </a:r>
            <a:r>
              <a:rPr lang="en-US" sz="1100" dirty="0">
                <a:solidFill>
                  <a:srgbClr val="CCCCCC"/>
                </a:solidFill>
                <a:latin typeface="Consolas"/>
              </a:rPr>
              <a:t>()</a:t>
            </a:r>
            <a:endParaRPr lang="en-US"/>
          </a:p>
          <a:p>
            <a:r>
              <a:rPr lang="en-US" sz="1100" dirty="0" err="1">
                <a:solidFill>
                  <a:srgbClr val="9CDCFE"/>
                </a:solidFill>
                <a:latin typeface="Consolas"/>
              </a:rPr>
              <a:t>t</a:t>
            </a:r>
            <a:r>
              <a:rPr lang="en-US" sz="1100" dirty="0" err="1">
                <a:solidFill>
                  <a:srgbClr val="CCCCCC"/>
                </a:solidFill>
                <a:latin typeface="Consolas"/>
              </a:rPr>
              <a:t>.</a:t>
            </a:r>
            <a:r>
              <a:rPr lang="en-US" sz="1100" dirty="0" err="1">
                <a:solidFill>
                  <a:srgbClr val="DCDCAA"/>
                </a:solidFill>
                <a:latin typeface="Consolas"/>
              </a:rPr>
              <a:t>goto</a:t>
            </a:r>
            <a:r>
              <a:rPr lang="en-US" sz="1100" dirty="0">
                <a:solidFill>
                  <a:srgbClr val="CCCCCC"/>
                </a:solidFill>
                <a:latin typeface="Consolas"/>
              </a:rPr>
              <a:t>(</a:t>
            </a:r>
            <a:r>
              <a:rPr lang="en-US" sz="1100" dirty="0">
                <a:solidFill>
                  <a:srgbClr val="D4D4D4"/>
                </a:solidFill>
                <a:latin typeface="Consolas"/>
              </a:rPr>
              <a:t>-</a:t>
            </a:r>
            <a:r>
              <a:rPr lang="en-US" sz="1100" dirty="0">
                <a:solidFill>
                  <a:srgbClr val="B5CEA8"/>
                </a:solidFill>
                <a:latin typeface="Consolas"/>
              </a:rPr>
              <a:t>200</a:t>
            </a:r>
            <a:r>
              <a:rPr lang="en-US" sz="1100" dirty="0">
                <a:solidFill>
                  <a:srgbClr val="CCCCCC"/>
                </a:solidFill>
                <a:latin typeface="Consolas"/>
              </a:rPr>
              <a:t>, </a:t>
            </a:r>
            <a:r>
              <a:rPr lang="en-US" sz="1100" dirty="0">
                <a:solidFill>
                  <a:srgbClr val="D4D4D4"/>
                </a:solidFill>
                <a:latin typeface="Consolas"/>
              </a:rPr>
              <a:t>-</a:t>
            </a:r>
            <a:r>
              <a:rPr lang="en-US" sz="1100" dirty="0">
                <a:solidFill>
                  <a:srgbClr val="B5CEA8"/>
                </a:solidFill>
                <a:latin typeface="Consolas"/>
              </a:rPr>
              <a:t>100</a:t>
            </a:r>
            <a:r>
              <a:rPr lang="en-US" sz="1100" dirty="0">
                <a:solidFill>
                  <a:srgbClr val="CCCCCC"/>
                </a:solidFill>
                <a:latin typeface="Consolas"/>
              </a:rPr>
              <a:t>)</a:t>
            </a:r>
            <a:endParaRPr lang="en-US"/>
          </a:p>
          <a:p>
            <a:r>
              <a:rPr lang="en-US" sz="1100" dirty="0" err="1">
                <a:solidFill>
                  <a:srgbClr val="9CDCFE"/>
                </a:solidFill>
                <a:latin typeface="Consolas"/>
              </a:rPr>
              <a:t>t</a:t>
            </a:r>
            <a:r>
              <a:rPr lang="en-US" sz="1100" dirty="0" err="1">
                <a:solidFill>
                  <a:srgbClr val="CCCCCC"/>
                </a:solidFill>
                <a:latin typeface="Consolas"/>
              </a:rPr>
              <a:t>.</a:t>
            </a:r>
            <a:r>
              <a:rPr lang="en-US" sz="1100" dirty="0" err="1">
                <a:solidFill>
                  <a:srgbClr val="DCDCAA"/>
                </a:solidFill>
                <a:latin typeface="Consolas"/>
              </a:rPr>
              <a:t>pendown</a:t>
            </a:r>
            <a:r>
              <a:rPr lang="en-US" sz="1100" dirty="0">
                <a:solidFill>
                  <a:srgbClr val="CCCCCC"/>
                </a:solidFill>
                <a:latin typeface="Consolas"/>
              </a:rPr>
              <a:t>()</a:t>
            </a:r>
            <a:endParaRPr lang="en-US" dirty="0"/>
          </a:p>
          <a:p>
            <a:r>
              <a:rPr lang="en-US" sz="1100" dirty="0" err="1">
                <a:solidFill>
                  <a:srgbClr val="DCDCAA"/>
                </a:solidFill>
                <a:latin typeface="Consolas"/>
              </a:rPr>
              <a:t>sierpinski</a:t>
            </a:r>
            <a:r>
              <a:rPr lang="en-US" sz="1100" dirty="0">
                <a:solidFill>
                  <a:srgbClr val="CCCCCC"/>
                </a:solidFill>
                <a:latin typeface="Consolas"/>
              </a:rPr>
              <a:t>(</a:t>
            </a:r>
            <a:r>
              <a:rPr lang="en-US" sz="1100" dirty="0">
                <a:solidFill>
                  <a:srgbClr val="B5CEA8"/>
                </a:solidFill>
                <a:latin typeface="Consolas"/>
              </a:rPr>
              <a:t>400</a:t>
            </a:r>
            <a:r>
              <a:rPr lang="en-US" sz="1100" dirty="0">
                <a:solidFill>
                  <a:srgbClr val="CCCCCC"/>
                </a:solidFill>
                <a:latin typeface="Consolas"/>
              </a:rPr>
              <a:t>, </a:t>
            </a:r>
            <a:r>
              <a:rPr lang="en-US" sz="1100" dirty="0">
                <a:solidFill>
                  <a:srgbClr val="B5CEA8"/>
                </a:solidFill>
                <a:latin typeface="Consolas"/>
              </a:rPr>
              <a:t>5</a:t>
            </a:r>
            <a:r>
              <a:rPr lang="en-US" sz="1100" dirty="0">
                <a:solidFill>
                  <a:srgbClr val="CCCCCC"/>
                </a:solidFill>
                <a:latin typeface="Consolas"/>
              </a:rPr>
              <a:t>)  </a:t>
            </a:r>
            <a:r>
              <a:rPr lang="en-US" sz="1100" dirty="0">
                <a:solidFill>
                  <a:srgbClr val="6A9955"/>
                </a:solidFill>
                <a:latin typeface="Consolas"/>
              </a:rPr>
              <a:t># Increase depth for more detail</a:t>
            </a:r>
            <a:endParaRPr lang="en-US"/>
          </a:p>
          <a:p>
            <a:r>
              <a:rPr lang="en-US" sz="1100" dirty="0" err="1">
                <a:solidFill>
                  <a:srgbClr val="4EC9B0"/>
                </a:solidFill>
                <a:latin typeface="Consolas"/>
              </a:rPr>
              <a:t>turtle</a:t>
            </a:r>
            <a:r>
              <a:rPr lang="en-US" sz="1100" dirty="0" err="1">
                <a:solidFill>
                  <a:srgbClr val="CCCCCC"/>
                </a:solidFill>
                <a:latin typeface="Consolas"/>
              </a:rPr>
              <a:t>.</a:t>
            </a:r>
            <a:r>
              <a:rPr lang="en-US" sz="1100" dirty="0" err="1">
                <a:solidFill>
                  <a:srgbClr val="9CDCFE"/>
                </a:solidFill>
                <a:latin typeface="Consolas"/>
              </a:rPr>
              <a:t>done</a:t>
            </a:r>
            <a:r>
              <a:rPr lang="en-US" sz="1100" dirty="0">
                <a:solidFill>
                  <a:srgbClr val="CCCCCC"/>
                </a:solidFill>
                <a:latin typeface="Consolas"/>
              </a:rPr>
              <a:t>()</a:t>
            </a:r>
            <a:endParaRPr lang="en-US" dirty="0"/>
          </a:p>
          <a:p>
            <a:br>
              <a:rPr lang="en-US" dirty="0"/>
            </a:br>
            <a:endParaRPr lang="en-US" dirty="0"/>
          </a:p>
          <a:p>
            <a:endParaRPr lang="en-US" dirty="0"/>
          </a:p>
        </p:txBody>
      </p:sp>
    </p:spTree>
    <p:extLst>
      <p:ext uri="{BB962C8B-B14F-4D97-AF65-F5344CB8AC3E}">
        <p14:creationId xmlns:p14="http://schemas.microsoft.com/office/powerpoint/2010/main" val="7363002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713242-C524-9FA7-3B2F-A4047E860B0A}"/>
              </a:ext>
            </a:extLst>
          </p:cNvPr>
          <p:cNvSpPr>
            <a:spLocks noGrp="1"/>
          </p:cNvSpPr>
          <p:nvPr>
            <p:ph type="title"/>
          </p:nvPr>
        </p:nvSpPr>
        <p:spPr>
          <a:xfrm>
            <a:off x="1139622" y="2439191"/>
            <a:ext cx="9922764" cy="1294228"/>
          </a:xfrm>
        </p:spPr>
        <p:txBody>
          <a:bodyPr/>
          <a:lstStyle/>
          <a:p>
            <a:r>
              <a:rPr lang="en-US" dirty="0"/>
              <a:t>                       Thank you </a:t>
            </a:r>
          </a:p>
        </p:txBody>
      </p:sp>
    </p:spTree>
    <p:extLst>
      <p:ext uri="{BB962C8B-B14F-4D97-AF65-F5344CB8AC3E}">
        <p14:creationId xmlns:p14="http://schemas.microsoft.com/office/powerpoint/2010/main" val="2725135371"/>
      </p:ext>
    </p:extLst>
  </p:cSld>
  <p:clrMapOvr>
    <a:masterClrMapping/>
  </p:clrMapOvr>
</p:sld>
</file>

<file path=ppt/theme/theme1.xml><?xml version="1.0" encoding="utf-8"?>
<a:theme xmlns:a="http://schemas.openxmlformats.org/drawingml/2006/main" name="BjornVTI">
  <a:themeElements>
    <a:clrScheme name="Bjorn">
      <a:dk1>
        <a:sysClr val="windowText" lastClr="000000"/>
      </a:dk1>
      <a:lt1>
        <a:sysClr val="window" lastClr="FFFFFF"/>
      </a:lt1>
      <a:dk2>
        <a:srgbClr val="252747"/>
      </a:dk2>
      <a:lt2>
        <a:srgbClr val="ECE4E9"/>
      </a:lt2>
      <a:accent1>
        <a:srgbClr val="736EB6"/>
      </a:accent1>
      <a:accent2>
        <a:srgbClr val="AB5991"/>
      </a:accent2>
      <a:accent3>
        <a:srgbClr val="AC9F39"/>
      </a:accent3>
      <a:accent4>
        <a:srgbClr val="756029"/>
      </a:accent4>
      <a:accent5>
        <a:srgbClr val="E87850"/>
      </a:accent5>
      <a:accent6>
        <a:srgbClr val="C6922A"/>
      </a:accent6>
      <a:hlink>
        <a:srgbClr val="736EB6"/>
      </a:hlink>
      <a:folHlink>
        <a:srgbClr val="AB5991"/>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VTI" id="{D01443FD-65CF-4AEF-9B9D-4466C96F9785}" vid="{36EF4262-385E-40E6-B073-FB18FD98BF4C}"/>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23</Slides>
  <Notes>0</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BjornVTI</vt:lpstr>
      <vt:lpstr>Computer graphics section 3</vt:lpstr>
      <vt:lpstr>Turtle methods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156</cp:revision>
  <dcterms:created xsi:type="dcterms:W3CDTF">2025-02-25T05:11:04Z</dcterms:created>
  <dcterms:modified xsi:type="dcterms:W3CDTF">2025-03-02T20:49:12Z</dcterms:modified>
</cp:coreProperties>
</file>